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58E825D-EDD4-4E93-ADCC-3F564D481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9AB923A-B6E3-425C-8C4F-76DC4F631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EA1F731-80C4-41CA-8B2F-E988156D3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60EE7AF-E8ED-443D-A667-E6A889F35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0D3B7A1-FD65-47F2-9C92-389D21719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C0D4760-FB46-4A70-9C86-9D731CAF2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AFFA3E0-E21B-4A10-85BC-4FBA373FE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B6EEDB3-6407-49CC-803E-18FA11481FE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EF3D450-CFD8-4F0B-9D77-55A969B7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3B60DC1-74DF-4609-9F0A-F681F9E56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01">
            <a:extLst>
              <a:ext uri="{FF2B5EF4-FFF2-40B4-BE49-F238E27FC236}">
                <a16:creationId xmlns:a16="http://schemas.microsoft.com/office/drawing/2014/main" id="{4E14C3E8-91D7-49D1-874B-467105701D97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BACBD6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BACBD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BACBD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BACBD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BACBD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BACBD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BACBD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BACBD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BACBD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BACBD6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275" b="0">
                <a:solidFill>
                  <a:srgbClr val="BACB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ACB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Aprueba Administración">
            <a:extLst>
              <a:ext uri="{FF2B5EF4-FFF2-40B4-BE49-F238E27FC236}">
                <a16:creationId xmlns:a16="http://schemas.microsoft.com/office/drawing/2014/main" id="{66E64CF7-2F45-4C39-8316-F95390819DB8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668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Aprueba Administración</a:t>
            </a:r>
          </a:p>
        </p:txBody>
      </p:sp>
      <p:sp>
        <p:nvSpPr>
          <p:cNvPr id="3" name="Avance del proyecto APT">
            <a:extLst>
              <a:ext uri="{FF2B5EF4-FFF2-40B4-BE49-F238E27FC236}">
                <a16:creationId xmlns:a16="http://schemas.microsoft.com/office/drawing/2014/main" id="{D54061BD-1DF5-4356-B94B-2F9C9736ACE4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Avance del proyecto APT</a:t>
            </a:r>
          </a:p>
        </p:txBody>
      </p:sp>
      <p:sp>
        <p:nvSpPr>
          <p:cNvPr id="5" name="Tsung-Hao Liu Hsiao&#10;Catalina Yanara Padilla Astudillo&#10;Felipe Antonio Rojas ">
            <a:extLst>
              <a:ext uri="{FF2B5EF4-FFF2-40B4-BE49-F238E27FC236}">
                <a16:creationId xmlns:a16="http://schemas.microsoft.com/office/drawing/2014/main" id="{C9D6147C-4241-4C2C-84FB-DF2053383305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106680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Tsung-Hao Liu Hsiao</a:t>
            </a:r>
          </a:p>
          <a:p>
            <a: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Catalina Yanara Padilla Astudillo</a:t>
            </a:r>
          </a:p>
          <a:p>
            <a: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Felipe Antonio Rojas Riffo</a:t>
            </a:r>
          </a:p>
        </p:txBody>
      </p:sp>
    </p:spTree>
    <p:extLst>
      <p:ext uri="{BB962C8B-B14F-4D97-AF65-F5344CB8AC3E}">
        <p14:creationId xmlns:p14="http://schemas.microsoft.com/office/powerpoint/2010/main" val="2054695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blema, objetivo y alcance">
            <a:extLst>
              <a:ext uri="{FF2B5EF4-FFF2-40B4-BE49-F238E27FC236}">
                <a16:creationId xmlns:a16="http://schemas.microsoft.com/office/drawing/2014/main" id="{21687F19-DF01-4430-81CA-07E85D343DB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Problema, objetivo y alcance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17087AB2-7087-42D2-BF15-99B0412F4E2F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Una API administrativa con reglas y permisos verificables">
            <a:extLst>
              <a:ext uri="{FF2B5EF4-FFF2-40B4-BE49-F238E27FC236}">
                <a16:creationId xmlns:a16="http://schemas.microsoft.com/office/drawing/2014/main" id="{20536211-6968-4E07-B8D9-2829A447D0D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Una API administrativa con reglas y permisos verificables</a:t>
            </a:r>
          </a:p>
        </p:txBody>
      </p:sp>
      <p:sp>
        <p:nvSpPr>
          <p:cNvPr id="4" name="Necesidad">
            <a:extLst>
              <a:ext uri="{FF2B5EF4-FFF2-40B4-BE49-F238E27FC236}">
                <a16:creationId xmlns:a16="http://schemas.microsoft.com/office/drawing/2014/main" id="{F74A3A70-8851-4208-B0C9-0A27EADFE85C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Necesidad</a:t>
            </a:r>
          </a:p>
        </p:txBody>
      </p:sp>
      <p:sp>
        <p:nvSpPr>
          <p:cNvPr id="5" name="Administrar usuarios, soporte, contenido, planes y operación con trazabilid">
            <a:extLst>
              <a:ext uri="{FF2B5EF4-FFF2-40B4-BE49-F238E27FC236}">
                <a16:creationId xmlns:a16="http://schemas.microsoft.com/office/drawing/2014/main" id="{7EF6A4D9-AAD8-4FA9-AA55-14C7C8D08EEB}"/>
              </a:ext>
            </a:extLst>
          </p:cNvPr>
          <p:cNvSpPr>
            <a:spLocks noGrp="1"/>
          </p:cNvSpPr>
          <p:nvPr/>
        </p:nvSpPr>
        <p:spPr>
          <a:xfrm>
            <a:off x="3752850" y="2667000"/>
            <a:ext cx="78295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Administrar usuarios, soporte, contenido, planes y operación con trazabilidad.</a:t>
            </a:r>
          </a:p>
        </p:txBody>
      </p:sp>
      <p:sp>
        <p:nvSpPr>
          <p:cNvPr id="6" name="Objetivo mantenido">
            <a:extLst>
              <a:ext uri="{FF2B5EF4-FFF2-40B4-BE49-F238E27FC236}">
                <a16:creationId xmlns:a16="http://schemas.microsoft.com/office/drawing/2014/main" id="{88231B2E-F038-405C-9146-580FF7603722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Objetivo mantenido</a:t>
            </a:r>
          </a:p>
        </p:txBody>
      </p:sp>
      <p:sp>
        <p:nvSpPr>
          <p:cNvPr id="7" name="Desarrollar y validar el backend con persistencia, control de acceso y prue">
            <a:extLst>
              <a:ext uri="{FF2B5EF4-FFF2-40B4-BE49-F238E27FC236}">
                <a16:creationId xmlns:a16="http://schemas.microsoft.com/office/drawing/2014/main" id="{021E4D28-0231-415E-8B53-BBE39697A420}"/>
              </a:ext>
            </a:extLst>
          </p:cNvPr>
          <p:cNvSpPr>
            <a:spLocks noGrp="1"/>
          </p:cNvSpPr>
          <p:nvPr/>
        </p:nvSpPr>
        <p:spPr>
          <a:xfrm>
            <a:off x="3752850" y="3857625"/>
            <a:ext cx="78295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Desarrollar y validar el backend con persistencia, control de acceso y pruebas.</a:t>
            </a:r>
          </a:p>
        </p:txBody>
      </p:sp>
      <p:sp>
        <p:nvSpPr>
          <p:cNvPr id="8" name="Alcance: 27 rutas administrativas. React apoya la demostración.">
            <a:extLst>
              <a:ext uri="{FF2B5EF4-FFF2-40B4-BE49-F238E27FC236}">
                <a16:creationId xmlns:a16="http://schemas.microsoft.com/office/drawing/2014/main" id="{DE4AD319-20B9-44A8-B769-BC2F5986F768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Alcance</a:t>
            </a:r>
            <a:r>
              <a:rPr sz="195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: 27 </a:t>
            </a:r>
            <a:r>
              <a:rPr sz="195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rutas</a:t>
            </a:r>
            <a:r>
              <a:rPr sz="195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administrativas</a:t>
            </a:r>
            <a:r>
              <a:rPr sz="195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. React </a:t>
            </a:r>
            <a:r>
              <a:rPr sz="195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apoya</a:t>
            </a:r>
            <a:r>
              <a:rPr sz="195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la </a:t>
            </a:r>
            <a:r>
              <a:rPr sz="195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demostración</a:t>
            </a:r>
            <a:r>
              <a:rPr sz="195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557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quitectura implementada">
            <a:extLst>
              <a:ext uri="{FF2B5EF4-FFF2-40B4-BE49-F238E27FC236}">
                <a16:creationId xmlns:a16="http://schemas.microsoft.com/office/drawing/2014/main" id="{07F3DC76-5ABD-4632-92D2-AF6D13F294F8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8108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Arquitectura implementada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118DC235-929F-47ED-8097-3B453B8E2C38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C5E76AA-261D-4E0E-822C-622013A713D2}"/>
              </a:ext>
            </a:extLst>
          </p:cNvPr>
          <p:cNvGraphicFramePr/>
          <p:nvPr/>
        </p:nvGraphicFramePr>
        <p:xfrm>
          <a:off x="609600" y="1495425"/>
          <a:ext cx="10972800" cy="3667125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Componente</a:t>
                      </a:r>
                    </a:p>
                  </a:txBody>
                  <a:tcPr marL="133350" marR="114300" marT="114300" marB="9525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Tecnología</a:t>
                      </a:r>
                    </a:p>
                  </a:txBody>
                  <a:tcPr marL="133350" marR="114300" marT="114300" marB="9525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Responsabilidad</a:t>
                      </a:r>
                    </a:p>
                  </a:txBody>
                  <a:tcPr marL="133350" marR="114300" marT="114300" marB="9525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Interfaz de apoyo</a:t>
                      </a:r>
                    </a:p>
                  </a:txBody>
                  <a:tcPr marL="133350" marR="114300" marT="114300" marB="9525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React + Vite</a:t>
                      </a:r>
                    </a:p>
                  </a:txBody>
                  <a:tcPr marL="133350" marR="114300" marT="114300" marB="9525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Solicitudes HTTP y visualización</a:t>
                      </a:r>
                    </a:p>
                  </a:txBody>
                  <a:tcPr marL="133350" marR="114300" marT="114300" marB="9525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Entrada y reglas</a:t>
                      </a:r>
                    </a:p>
                  </a:txBody>
                  <a:tcPr marL="133350" marR="114300" marT="114300" marB="9525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Node.js + Express</a:t>
                      </a:r>
                    </a:p>
                  </a:txBody>
                  <a:tcPr marL="133350" marR="114300" marT="114300" marB="9525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JWT, roles, validación y lógica</a:t>
                      </a:r>
                    </a:p>
                  </a:txBody>
                  <a:tcPr marL="133350" marR="114300" marT="114300" marB="9525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Persistencia</a:t>
                      </a:r>
                    </a:p>
                  </a:txBody>
                  <a:tcPr marL="133350" marR="114300" marT="114300" marB="9525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Firestore</a:t>
                      </a:r>
                    </a:p>
                  </a:txBody>
                  <a:tcPr marL="133350" marR="114300" marT="114300" marB="9525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Documentos y transacciones</a:t>
                      </a:r>
                    </a:p>
                  </a:txBody>
                  <a:tcPr marL="133350" marR="114300" marT="114300" marB="9525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Adaptadores</a:t>
                      </a:r>
                    </a:p>
                  </a:txBody>
                  <a:tcPr marL="133350" marR="114300" marT="114300" marB="9525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Stripe test y Docker</a:t>
                      </a:r>
                    </a:p>
                  </a:txBody>
                  <a:tcPr marL="133350" marR="114300" marT="114300" marB="9525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Precios y operación controlada</a:t>
                      </a:r>
                    </a:p>
                  </a:txBody>
                  <a:tcPr marL="133350" marR="114300" marT="114300" marB="9525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365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ntorno de desarrollo con Docker">
            <a:extLst>
              <a:ext uri="{FF2B5EF4-FFF2-40B4-BE49-F238E27FC236}">
                <a16:creationId xmlns:a16="http://schemas.microsoft.com/office/drawing/2014/main" id="{FEDF12C7-6F4C-4EF3-8A40-94795E1995F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Entorno de desarrollo con Docker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FDA74712-EA98-4B04-89B2-2FF6A4C964E3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D518EA2-E776-431C-93D5-60E5FE6296A2}"/>
              </a:ext>
            </a:extLst>
          </p:cNvPr>
          <p:cNvGraphicFramePr/>
          <p:nvPr/>
        </p:nvGraphicFramePr>
        <p:xfrm>
          <a:off x="609600" y="1476375"/>
          <a:ext cx="10972800" cy="3476625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Servicio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Función en el entorno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Frontend · puerto 5173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Interfaz para ejecutar las funciones administrativas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Backend · puerto 4000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API, autenticación, permisos y lógica del proyecto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Firestore y visor · puerto 4001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Base de trabajo local con datos persistentes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Emulador de tests y laboratorio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Pruebas aisladas y operaciones controladas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6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rramientas utilizadas">
            <a:extLst>
              <a:ext uri="{FF2B5EF4-FFF2-40B4-BE49-F238E27FC236}">
                <a16:creationId xmlns:a16="http://schemas.microsoft.com/office/drawing/2014/main" id="{0C154142-FCD5-4571-8766-D95BAA2817F3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Herramientas utilizadas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54CEA02F-BECE-4E4D-865C-781DA1569971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DBC13AD-AF8A-4DC5-9C81-34E0800E748F}"/>
              </a:ext>
            </a:extLst>
          </p:cNvPr>
          <p:cNvGraphicFramePr/>
          <p:nvPr/>
        </p:nvGraphicFramePr>
        <p:xfrm>
          <a:off x="609600" y="1476375"/>
          <a:ext cx="10972800" cy="4476752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53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Área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Herramientas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JavaScript · Node.js · Express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Interfaz de apoyo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React · Vite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Almacenamiento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Firestore · Firebase Emulator Suite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Desarrollo y versiones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VS Code · Git · GitHub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Ejecución y pruebas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Docker Desktop · Compose · Node Test Runner · Playwright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Despliegue previo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Vercel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782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se de datos y almacenamiento">
            <a:extLst>
              <a:ext uri="{FF2B5EF4-FFF2-40B4-BE49-F238E27FC236}">
                <a16:creationId xmlns:a16="http://schemas.microsoft.com/office/drawing/2014/main" id="{23E0EDAB-4F6E-44C7-A5AC-D9975357A7BD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Base de datos y almacenamiento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B7A2DA8A-60FA-4144-965D-4337BF7187BD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92C24F-1699-4FF6-A35C-C5264FA1D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4687" y="1428750"/>
            <a:ext cx="5629701" cy="4191000"/>
          </a:xfrm>
          <a:prstGeom prst="rect">
            <a:avLst/>
          </a:prstGeom>
        </p:spPr>
      </p:pic>
      <p:sp>
        <p:nvSpPr>
          <p:cNvPr id="4" name="Colecciones principales">
            <a:extLst>
              <a:ext uri="{FF2B5EF4-FFF2-40B4-BE49-F238E27FC236}">
                <a16:creationId xmlns:a16="http://schemas.microsoft.com/office/drawing/2014/main" id="{79874FAF-844E-47CC-98DE-A5BD36769230}"/>
              </a:ext>
            </a:extLst>
          </p:cNvPr>
          <p:cNvSpPr>
            <a:spLocks noGrp="1"/>
          </p:cNvSpPr>
          <p:nvPr/>
        </p:nvSpPr>
        <p:spPr>
          <a:xfrm>
            <a:off x="7620000" y="1476375"/>
            <a:ext cx="3952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Colecciones principales</a:t>
            </a:r>
          </a:p>
        </p:txBody>
      </p:sp>
      <p:sp>
        <p:nvSpPr>
          <p:cNvPr id="5" name="users · adminUsers&#10;questions · sponsors&#10;plans · features · subscriptio">
            <a:extLst>
              <a:ext uri="{FF2B5EF4-FFF2-40B4-BE49-F238E27FC236}">
                <a16:creationId xmlns:a16="http://schemas.microsoft.com/office/drawing/2014/main" id="{21E74295-684E-44E3-BCC8-417D2081BAF5}"/>
              </a:ext>
            </a:extLst>
          </p:cNvPr>
          <p:cNvSpPr>
            <a:spLocks noGrp="1"/>
          </p:cNvSpPr>
          <p:nvPr/>
        </p:nvSpPr>
        <p:spPr>
          <a:xfrm>
            <a:off x="7620000" y="2114550"/>
            <a:ext cx="3952875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users · adminUsers</a:t>
            </a:r>
          </a:p>
          <a:p>
            <a: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questions · sponsors</a:t>
            </a:r>
          </a:p>
          <a:p>
            <a: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plans · features · subscriptions</a:t>
            </a:r>
          </a:p>
          <a:p>
            <a: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tickets · corrections</a:t>
            </a:r>
          </a:p>
          <a:p>
            <a: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appConfig · metrics</a:t>
            </a:r>
          </a:p>
        </p:txBody>
      </p:sp>
      <p:sp>
        <p:nvSpPr>
          <p:cNvPr id="6" name="Colección → documento → campos">
            <a:extLst>
              <a:ext uri="{FF2B5EF4-FFF2-40B4-BE49-F238E27FC236}">
                <a16:creationId xmlns:a16="http://schemas.microsoft.com/office/drawing/2014/main" id="{6032A332-844A-43F9-ADBB-CAC1B76E8D8A}"/>
              </a:ext>
            </a:extLst>
          </p:cNvPr>
          <p:cNvSpPr>
            <a:spLocks noGrp="1"/>
          </p:cNvSpPr>
          <p:nvPr/>
        </p:nvSpPr>
        <p:spPr>
          <a:xfrm>
            <a:off x="7620000" y="4667250"/>
            <a:ext cx="39528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Colección → documento → campos</a:t>
            </a:r>
          </a:p>
        </p:txBody>
      </p:sp>
    </p:spTree>
    <p:extLst>
      <p:ext uri="{BB962C8B-B14F-4D97-AF65-F5344CB8AC3E}">
        <p14:creationId xmlns:p14="http://schemas.microsoft.com/office/powerpoint/2010/main" val="867057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odología, equipo y sprints">
            <a:extLst>
              <a:ext uri="{FF2B5EF4-FFF2-40B4-BE49-F238E27FC236}">
                <a16:creationId xmlns:a16="http://schemas.microsoft.com/office/drawing/2014/main" id="{F559809B-CE98-4DFC-9A7F-859DDE4D4D4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Metodología, equipo y sprints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44A9F27C-7F59-4D95-8436-B1EB554EED19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0DE88C5B-B46D-442E-94DB-2C309EC2B102}"/>
              </a:ext>
            </a:extLst>
          </p:cNvPr>
          <p:cNvGraphicFramePr/>
          <p:nvPr/>
        </p:nvGraphicFramePr>
        <p:xfrm>
          <a:off x="609600" y="1476375"/>
          <a:ext cx="10972800" cy="2524124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103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Integrante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Bloque de desarrollo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Endpoints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0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Tsung-Hao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Acceso, usuarios, tickets y operación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0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Catalina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Sponsors, preguntas y recorrecciones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0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Felipe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Planes, funcionalidades y métricas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1  Acceso y catálogos       S2  Soporte y preguntas&#10;S3  Importación, ">
            <a:extLst>
              <a:ext uri="{FF2B5EF4-FFF2-40B4-BE49-F238E27FC236}">
                <a16:creationId xmlns:a16="http://schemas.microsoft.com/office/drawing/2014/main" id="{6727B81B-8E78-4F38-AC01-C9942330076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1097280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S1  Acceso y catálogos       S2  Soporte y preguntas</a:t>
            </a:r>
          </a:p>
          <a:p>
            <a: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S3  Importación, recorrecciones y precios</a:t>
            </a:r>
          </a:p>
          <a:p>
            <a: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S4  Métricas y monitoreo      S5  Reinicio e integración</a:t>
            </a:r>
          </a:p>
        </p:txBody>
      </p:sp>
    </p:spTree>
    <p:extLst>
      <p:ext uri="{BB962C8B-B14F-4D97-AF65-F5344CB8AC3E}">
        <p14:creationId xmlns:p14="http://schemas.microsoft.com/office/powerpoint/2010/main" val="405918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vances de acceso y usuarios">
            <a:extLst>
              <a:ext uri="{FF2B5EF4-FFF2-40B4-BE49-F238E27FC236}">
                <a16:creationId xmlns:a16="http://schemas.microsoft.com/office/drawing/2014/main" id="{D5C4F8DB-43B1-487C-9E6D-2DFDDFFFD6D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Avances de acceso y usuarios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6D069950-1512-4B52-8F93-7431E86A7B56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CADD67-A881-46D0-91F0-B4C99ED72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8689" y="1428750"/>
            <a:ext cx="3993071" cy="3333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D117AB0-A69A-4B68-B174-3011C85B6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5142856"/>
            <a:ext cx="6191250" cy="334662"/>
          </a:xfrm>
          <a:prstGeom prst="rect">
            <a:avLst/>
          </a:prstGeom>
        </p:spPr>
      </p:pic>
      <p:sp>
        <p:nvSpPr>
          <p:cNvPr id="5" name="E01  Iniciar sesión&#10;E12  Listar y filtrar usuarios&#10;E13  Consultar deta">
            <a:extLst>
              <a:ext uri="{FF2B5EF4-FFF2-40B4-BE49-F238E27FC236}">
                <a16:creationId xmlns:a16="http://schemas.microsoft.com/office/drawing/2014/main" id="{68568265-63E3-4D6D-BBCF-709A16864492}"/>
              </a:ext>
            </a:extLst>
          </p:cNvPr>
          <p:cNvSpPr>
            <a:spLocks noGrp="1"/>
          </p:cNvSpPr>
          <p:nvPr/>
        </p:nvSpPr>
        <p:spPr>
          <a:xfrm>
            <a:off x="7239000" y="1619250"/>
            <a:ext cx="4333875" cy="2143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E01  Iniciar sesión</a:t>
            </a:r>
          </a:p>
          <a:p>
            <a: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E12  Listar y filtrar usuarios</a:t>
            </a:r>
          </a:p>
          <a:p>
            <a: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E13  Consultar detalle</a:t>
            </a:r>
          </a:p>
          <a:p>
            <a: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E14  Modificar y auditar</a:t>
            </a:r>
          </a:p>
        </p:txBody>
      </p:sp>
      <p:sp>
        <p:nvSpPr>
          <p:cNvPr id="6" name="Demostrado en la UI&#10;Sesión válida&#10;GET de detalle&#10;PATCH de estado guard">
            <a:extLst>
              <a:ext uri="{FF2B5EF4-FFF2-40B4-BE49-F238E27FC236}">
                <a16:creationId xmlns:a16="http://schemas.microsoft.com/office/drawing/2014/main" id="{8FEB0CD4-D4F1-43CD-B79C-8CFA4D3C311F}"/>
              </a:ext>
            </a:extLst>
          </p:cNvPr>
          <p:cNvSpPr>
            <a:spLocks noGrp="1"/>
          </p:cNvSpPr>
          <p:nvPr/>
        </p:nvSpPr>
        <p:spPr>
          <a:xfrm>
            <a:off x="7239000" y="4048125"/>
            <a:ext cx="4333875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8783"/>
                </a:solidFill>
                <a:latin typeface="Arial"/>
                <a:ea typeface="Arial"/>
                <a:cs typeface="Arial"/>
              </a:rPr>
              <a:t>Demostrado en la UI</a:t>
            </a:r>
          </a:p>
          <a:p>
            <a: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8783"/>
                </a:solidFill>
                <a:latin typeface="Arial"/>
                <a:ea typeface="Arial"/>
                <a:cs typeface="Arial"/>
              </a:rPr>
              <a:t>Sesión válida</a:t>
            </a:r>
          </a:p>
          <a:p>
            <a: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8783"/>
                </a:solidFill>
                <a:latin typeface="Arial"/>
                <a:ea typeface="Arial"/>
                <a:cs typeface="Arial"/>
              </a:rPr>
              <a:t>GET de detalle</a:t>
            </a:r>
          </a:p>
          <a:p>
            <a:pPr>
              <a:defRPr sz="1950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8783"/>
                </a:solidFill>
                <a:latin typeface="Arial"/>
                <a:ea typeface="Arial"/>
                <a:cs typeface="Arial"/>
              </a:rPr>
              <a:t>PATCH de estado guardado</a:t>
            </a:r>
          </a:p>
        </p:txBody>
      </p:sp>
    </p:spTree>
    <p:extLst>
      <p:ext uri="{BB962C8B-B14F-4D97-AF65-F5344CB8AC3E}">
        <p14:creationId xmlns:p14="http://schemas.microsoft.com/office/powerpoint/2010/main" val="970639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vances de plataformas y operación">
            <a:extLst>
              <a:ext uri="{FF2B5EF4-FFF2-40B4-BE49-F238E27FC236}">
                <a16:creationId xmlns:a16="http://schemas.microsoft.com/office/drawing/2014/main" id="{EEC0392A-5151-4EE2-B97D-24ED18B2F81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Avances de plataformas y operación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87286967-6EAA-4BF9-AAB7-FAFB6365EDFF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332788-8387-484B-9CD4-FB90F2288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607129"/>
            <a:ext cx="10972800" cy="2072117"/>
          </a:xfrm>
          <a:prstGeom prst="rect">
            <a:avLst/>
          </a:prstGeom>
        </p:spPr>
      </p:pic>
      <p:sp>
        <p:nvSpPr>
          <p:cNvPr id="4" name="E08  Consultar plataformas&#10;E09  Medir servicios">
            <a:extLst>
              <a:ext uri="{FF2B5EF4-FFF2-40B4-BE49-F238E27FC236}">
                <a16:creationId xmlns:a16="http://schemas.microsoft.com/office/drawing/2014/main" id="{9BC21DF1-8F02-476A-B725-31A51B2FA27A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5334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E08  Consultar plataformas</a:t>
            </a:r>
          </a:p>
          <a:p>
            <a: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E09  Medir servicios</a:t>
            </a:r>
          </a:p>
        </p:txBody>
      </p:sp>
      <p:sp>
        <p:nvSpPr>
          <p:cNvPr id="5" name="E10  Consultar recursos&#10;E11  Solicitar y comprobar reinicio">
            <a:extLst>
              <a:ext uri="{FF2B5EF4-FFF2-40B4-BE49-F238E27FC236}">
                <a16:creationId xmlns:a16="http://schemas.microsoft.com/office/drawing/2014/main" id="{DD0DE317-4CF1-4852-863F-00EF19FA21F2}"/>
              </a:ext>
            </a:extLst>
          </p:cNvPr>
          <p:cNvSpPr>
            <a:spLocks noGrp="1"/>
          </p:cNvSpPr>
          <p:nvPr/>
        </p:nvSpPr>
        <p:spPr>
          <a:xfrm>
            <a:off x="6238875" y="4191000"/>
            <a:ext cx="5334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E10  Consultar recursos</a:t>
            </a:r>
          </a:p>
          <a:p>
            <a: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E11  Solicitar y comprobar reinicio</a:t>
            </a:r>
          </a:p>
        </p:txBody>
      </p:sp>
      <p:sp>
        <p:nvSpPr>
          <p:cNvPr id="6" name="Sonda y reinicio reales en laboratorio. Versiones y descargas: datos d">
            <a:extLst>
              <a:ext uri="{FF2B5EF4-FFF2-40B4-BE49-F238E27FC236}">
                <a16:creationId xmlns:a16="http://schemas.microsoft.com/office/drawing/2014/main" id="{335DF6F1-C133-40BB-A994-497FBFC96C72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Sonda y reinicio reales en laboratorio. Versiones y descargas: datos de prueba.</a:t>
            </a:r>
          </a:p>
        </p:txBody>
      </p:sp>
    </p:spTree>
    <p:extLst>
      <p:ext uri="{BB962C8B-B14F-4D97-AF65-F5344CB8AC3E}">
        <p14:creationId xmlns:p14="http://schemas.microsoft.com/office/powerpoint/2010/main" val="1706208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vances de sponsors">
            <a:extLst>
              <a:ext uri="{FF2B5EF4-FFF2-40B4-BE49-F238E27FC236}">
                <a16:creationId xmlns:a16="http://schemas.microsoft.com/office/drawing/2014/main" id="{A89B65EE-6501-47F7-B8F4-01EC749AD51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Avances de sponsors</a:t>
            </a:r>
          </a:p>
        </p:txBody>
      </p:sp>
      <p:sp>
        <p:nvSpPr>
          <p:cNvPr id="2" name="10">
            <a:extLst>
              <a:ext uri="{FF2B5EF4-FFF2-40B4-BE49-F238E27FC236}">
                <a16:creationId xmlns:a16="http://schemas.microsoft.com/office/drawing/2014/main" id="{1B61F641-8A74-4A78-BB18-5C38ECCA82DC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334F3B2-3281-458E-8900-45A697C4B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05461"/>
            <a:ext cx="6858000" cy="356132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4126A8C-5EAC-4962-B75E-18620C50F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5429121"/>
            <a:ext cx="6858000" cy="333632"/>
          </a:xfrm>
          <a:prstGeom prst="rect">
            <a:avLst/>
          </a:prstGeom>
        </p:spPr>
      </p:pic>
      <p:sp>
        <p:nvSpPr>
          <p:cNvPr id="5" name="E04  Listar&#10;E05  Crear y validar&#10;E06  Editar&#10;E07  Dar de baja">
            <a:extLst>
              <a:ext uri="{FF2B5EF4-FFF2-40B4-BE49-F238E27FC236}">
                <a16:creationId xmlns:a16="http://schemas.microsoft.com/office/drawing/2014/main" id="{BC664E97-8EC3-4802-B928-6C4AF5B006BF}"/>
              </a:ext>
            </a:extLst>
          </p:cNvPr>
          <p:cNvSpPr>
            <a:spLocks noGrp="1"/>
          </p:cNvSpPr>
          <p:nvPr/>
        </p:nvSpPr>
        <p:spPr>
          <a:xfrm>
            <a:off x="7858125" y="1666875"/>
            <a:ext cx="371475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E04  Listar</a:t>
            </a:r>
          </a:p>
          <a:p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E05  Crear y validar</a:t>
            </a:r>
          </a:p>
          <a:p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E06  Editar</a:t>
            </a:r>
          </a:p>
          <a:p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E07  Dar de baja</a:t>
            </a:r>
          </a:p>
        </p:txBody>
      </p:sp>
      <p:sp>
        <p:nvSpPr>
          <p:cNvPr id="6" name="Creación: 201&#10;Edición: 200&#10;Baja: 204">
            <a:extLst>
              <a:ext uri="{FF2B5EF4-FFF2-40B4-BE49-F238E27FC236}">
                <a16:creationId xmlns:a16="http://schemas.microsoft.com/office/drawing/2014/main" id="{B43B7B5D-EF10-4C6D-B6BB-EAA407D340CD}"/>
              </a:ext>
            </a:extLst>
          </p:cNvPr>
          <p:cNvSpPr>
            <a:spLocks noGrp="1"/>
          </p:cNvSpPr>
          <p:nvPr/>
        </p:nvSpPr>
        <p:spPr>
          <a:xfrm>
            <a:off x="7858125" y="4381500"/>
            <a:ext cx="37147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Creación: 201</a:t>
            </a:r>
          </a:p>
          <a:p>
            <a: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Edición: 200</a:t>
            </a:r>
          </a:p>
          <a:p>
            <a:pPr>
              <a:defRPr sz="21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Baja: 204</a:t>
            </a:r>
          </a:p>
        </p:txBody>
      </p:sp>
    </p:spTree>
    <p:extLst>
      <p:ext uri="{BB962C8B-B14F-4D97-AF65-F5344CB8AC3E}">
        <p14:creationId xmlns:p14="http://schemas.microsoft.com/office/powerpoint/2010/main" val="1055951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vances del banco de preguntas">
            <a:extLst>
              <a:ext uri="{FF2B5EF4-FFF2-40B4-BE49-F238E27FC236}">
                <a16:creationId xmlns:a16="http://schemas.microsoft.com/office/drawing/2014/main" id="{65035DF0-D9D3-4956-B4C9-4AF1BE4A41A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Avances del banco de preguntas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id="{4C0BF901-A802-490D-8C15-E67CE2AEBEB9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DA3B4C-3E33-450A-AE68-63DD5FDC6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9417" y="1428750"/>
            <a:ext cx="5434490" cy="39052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D44379E-A924-4D07-9D96-7EB7D7DDD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5564767"/>
            <a:ext cx="6334125" cy="348092"/>
          </a:xfrm>
          <a:prstGeom prst="rect">
            <a:avLst/>
          </a:prstGeom>
        </p:spPr>
      </p:pic>
      <p:sp>
        <p:nvSpPr>
          <p:cNvPr id="5" name="E19  Listar y filtrar&#10;E20  Crear borradores&#10;E21  Editar preguntas&#10;E22 ">
            <a:extLst>
              <a:ext uri="{FF2B5EF4-FFF2-40B4-BE49-F238E27FC236}">
                <a16:creationId xmlns:a16="http://schemas.microsoft.com/office/drawing/2014/main" id="{8A9002E9-48DC-4D82-96C4-99C2727437D5}"/>
              </a:ext>
            </a:extLst>
          </p:cNvPr>
          <p:cNvSpPr>
            <a:spLocks noGrp="1"/>
          </p:cNvSpPr>
          <p:nvPr/>
        </p:nvSpPr>
        <p:spPr>
          <a:xfrm>
            <a:off x="7381875" y="1666875"/>
            <a:ext cx="41910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E19  Listar y filtrar</a:t>
            </a:r>
          </a:p>
          <a:p>
            <a: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E20  Crear borradores</a:t>
            </a:r>
          </a:p>
          <a:p>
            <a: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E21  Editar preguntas</a:t>
            </a:r>
          </a:p>
          <a:p>
            <a: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E22  Importar JSON</a:t>
            </a:r>
          </a:p>
        </p:txBody>
      </p:sp>
      <p:sp>
        <p:nvSpPr>
          <p:cNvPr id="6" name="Comprobado&#10;1 importada · 0 errores&#10;Edición guardada: 200">
            <a:extLst>
              <a:ext uri="{FF2B5EF4-FFF2-40B4-BE49-F238E27FC236}">
                <a16:creationId xmlns:a16="http://schemas.microsoft.com/office/drawing/2014/main" id="{9EA900C9-43DA-4D0F-820E-9D658F016D45}"/>
              </a:ext>
            </a:extLst>
          </p:cNvPr>
          <p:cNvSpPr>
            <a:spLocks noGrp="1"/>
          </p:cNvSpPr>
          <p:nvPr/>
        </p:nvSpPr>
        <p:spPr>
          <a:xfrm>
            <a:off x="7381875" y="4429125"/>
            <a:ext cx="41910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Comprobado</a:t>
            </a:r>
          </a:p>
          <a:p>
            <a: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1 importada · 0 errores</a:t>
            </a:r>
          </a:p>
          <a:p>
            <a:pPr>
              <a:defRPr sz="202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Edición guardada: 200</a:t>
            </a:r>
          </a:p>
        </p:txBody>
      </p:sp>
    </p:spTree>
    <p:extLst>
      <p:ext uri="{BB962C8B-B14F-4D97-AF65-F5344CB8AC3E}">
        <p14:creationId xmlns:p14="http://schemas.microsoft.com/office/powerpoint/2010/main" val="1246340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vances de tickets y recorrecciones">
            <a:extLst>
              <a:ext uri="{FF2B5EF4-FFF2-40B4-BE49-F238E27FC236}">
                <a16:creationId xmlns:a16="http://schemas.microsoft.com/office/drawing/2014/main" id="{76F9E16A-2003-4B9F-93AB-A5577CDC0CA0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Avances de tickets y recorrecciones</a:t>
            </a:r>
          </a:p>
        </p:txBody>
      </p:sp>
      <p:sp>
        <p:nvSpPr>
          <p:cNvPr id="2" name="12">
            <a:extLst>
              <a:ext uri="{FF2B5EF4-FFF2-40B4-BE49-F238E27FC236}">
                <a16:creationId xmlns:a16="http://schemas.microsoft.com/office/drawing/2014/main" id="{6F9F5BE1-050C-4B20-8DA7-7EA84E8BEB39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4A2036-379C-4575-A2AB-5938E282E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98913"/>
            <a:ext cx="10972800" cy="59312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4446A33-6B75-4EAD-9518-508560A8D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2646663"/>
            <a:ext cx="10972800" cy="59312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C34075D-493F-42A6-922D-2387C4132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045677" y="3571875"/>
            <a:ext cx="2080846" cy="1905000"/>
          </a:xfrm>
          <a:prstGeom prst="rect">
            <a:avLst/>
          </a:prstGeom>
        </p:spPr>
      </p:pic>
      <p:sp>
        <p:nvSpPr>
          <p:cNvPr id="6" name="E15–E16  Tickets: consultar y responder&#10;E17–E18  Recorrecciones: lista">
            <a:extLst>
              <a:ext uri="{FF2B5EF4-FFF2-40B4-BE49-F238E27FC236}">
                <a16:creationId xmlns:a16="http://schemas.microsoft.com/office/drawing/2014/main" id="{3A4C617E-ED67-4BFC-A331-8A04E7135710}"/>
              </a:ext>
            </a:extLst>
          </p:cNvPr>
          <p:cNvSpPr>
            <a:spLocks noGrp="1"/>
          </p:cNvSpPr>
          <p:nvPr/>
        </p:nvSpPr>
        <p:spPr>
          <a:xfrm>
            <a:off x="6096000" y="3667125"/>
            <a:ext cx="54768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E15–E16  Tickets: consultar y responder</a:t>
            </a:r>
          </a:p>
          <a:p>
            <a: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E17–E18  Recorrecciones: listar y resolver</a:t>
            </a:r>
          </a:p>
        </p:txBody>
      </p:sp>
      <p:sp>
        <p:nvSpPr>
          <p:cNvPr id="7" name="Estado confirmado · 250 bronces&#10;Aviso in-app persistido">
            <a:extLst>
              <a:ext uri="{FF2B5EF4-FFF2-40B4-BE49-F238E27FC236}">
                <a16:creationId xmlns:a16="http://schemas.microsoft.com/office/drawing/2014/main" id="{3A310436-3FB3-4F16-A507-0DE85D890207}"/>
              </a:ext>
            </a:extLst>
          </p:cNvPr>
          <p:cNvSpPr>
            <a:spLocks noGrp="1"/>
          </p:cNvSpPr>
          <p:nvPr/>
        </p:nvSpPr>
        <p:spPr>
          <a:xfrm>
            <a:off x="6096000" y="4810125"/>
            <a:ext cx="54768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Estado confirmado · 250 bronces</a:t>
            </a:r>
          </a:p>
          <a:p>
            <a: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Aviso in-app persistido</a:t>
            </a:r>
          </a:p>
        </p:txBody>
      </p:sp>
      <p:sp>
        <p:nvSpPr>
          <p:cNvPr id="8" name="Pendiente: nota interna opcional de E18.">
            <a:extLst>
              <a:ext uri="{FF2B5EF4-FFF2-40B4-BE49-F238E27FC236}">
                <a16:creationId xmlns:a16="http://schemas.microsoft.com/office/drawing/2014/main" id="{3AEBA96F-E64B-41BE-949C-1C2EF7AF7F4E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D5D05"/>
                </a:solidFill>
                <a:latin typeface="Arial"/>
                <a:ea typeface="Arial"/>
                <a:cs typeface="Arial"/>
              </a:rPr>
              <a:t>Pendiente: nota interna opcional de E18.</a:t>
            </a:r>
          </a:p>
        </p:txBody>
      </p:sp>
    </p:spTree>
    <p:extLst>
      <p:ext uri="{BB962C8B-B14F-4D97-AF65-F5344CB8AC3E}">
        <p14:creationId xmlns:p14="http://schemas.microsoft.com/office/powerpoint/2010/main" val="390973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vances de planes e indicadores">
            <a:extLst>
              <a:ext uri="{FF2B5EF4-FFF2-40B4-BE49-F238E27FC236}">
                <a16:creationId xmlns:a16="http://schemas.microsoft.com/office/drawing/2014/main" id="{C40030DC-990E-454B-A59A-D418B3D2825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Avances de planes e indicadores</a:t>
            </a:r>
          </a:p>
        </p:txBody>
      </p:sp>
      <p:sp>
        <p:nvSpPr>
          <p:cNvPr id="2" name="13">
            <a:extLst>
              <a:ext uri="{FF2B5EF4-FFF2-40B4-BE49-F238E27FC236}">
                <a16:creationId xmlns:a16="http://schemas.microsoft.com/office/drawing/2014/main" id="{F3F8A6FB-FC9F-432A-9929-52E83662318D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7829A5-64B5-4B08-BC3A-0B2C9765D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476854"/>
            <a:ext cx="6667500" cy="3904291"/>
          </a:xfrm>
          <a:prstGeom prst="rect">
            <a:avLst/>
          </a:prstGeom>
        </p:spPr>
      </p:pic>
      <p:sp>
        <p:nvSpPr>
          <p:cNvPr id="4" name="E23–E25  Catálogo y creación&#10;E26  Edición de planes&#10;E27  Borrado prote">
            <a:extLst>
              <a:ext uri="{FF2B5EF4-FFF2-40B4-BE49-F238E27FC236}">
                <a16:creationId xmlns:a16="http://schemas.microsoft.com/office/drawing/2014/main" id="{EC4C63EE-3B76-433B-BA37-6426C4DB3D67}"/>
              </a:ext>
            </a:extLst>
          </p:cNvPr>
          <p:cNvSpPr>
            <a:spLocks noGrp="1"/>
          </p:cNvSpPr>
          <p:nvPr/>
        </p:nvSpPr>
        <p:spPr>
          <a:xfrm>
            <a:off x="7667625" y="1619250"/>
            <a:ext cx="390525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E23–E25  Catálogo y creación</a:t>
            </a:r>
          </a:p>
          <a:p>
            <a: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E26  Edición de planes</a:t>
            </a:r>
          </a:p>
          <a:p>
            <a: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E27  Borrado protegido</a:t>
            </a:r>
          </a:p>
          <a:p>
            <a:pPr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E02–E03  Resumen y Comercial</a:t>
            </a:r>
          </a:p>
        </p:txBody>
      </p:sp>
      <p:sp>
        <p:nvSpPr>
          <p:cNvPr id="5" name="Datos de base&#10;MAU: últimos 30 días&#10;Conversión sobre activos&#10;Frecuencia">
            <a:extLst>
              <a:ext uri="{FF2B5EF4-FFF2-40B4-BE49-F238E27FC236}">
                <a16:creationId xmlns:a16="http://schemas.microsoft.com/office/drawing/2014/main" id="{C1DC16C1-41A0-401A-A4BA-66CCACD9656A}"/>
              </a:ext>
            </a:extLst>
          </p:cNvPr>
          <p:cNvSpPr>
            <a:spLocks noGrp="1"/>
          </p:cNvSpPr>
          <p:nvPr/>
        </p:nvSpPr>
        <p:spPr>
          <a:xfrm>
            <a:off x="7667625" y="4095750"/>
            <a:ext cx="39052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8783"/>
                </a:solidFill>
                <a:latin typeface="Arial"/>
                <a:ea typeface="Arial"/>
                <a:cs typeface="Arial"/>
              </a:rPr>
              <a:t>Datos de base</a:t>
            </a:r>
          </a:p>
          <a:p>
            <a: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8783"/>
                </a:solidFill>
                <a:latin typeface="Arial"/>
                <a:ea typeface="Arial"/>
                <a:cs typeface="Arial"/>
              </a:rPr>
              <a:t>MAU: últimos 30 días</a:t>
            </a:r>
          </a:p>
          <a:p>
            <a: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8783"/>
                </a:solidFill>
                <a:latin typeface="Arial"/>
                <a:ea typeface="Arial"/>
                <a:cs typeface="Arial"/>
              </a:rPr>
              <a:t>Conversión sobre activos</a:t>
            </a:r>
          </a:p>
          <a:p>
            <a:pPr>
              <a:defRPr sz="1875" b="0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8783"/>
                </a:solidFill>
                <a:latin typeface="Arial"/>
                <a:ea typeface="Arial"/>
                <a:cs typeface="Arial"/>
              </a:rPr>
              <a:t>Frecuencia parametrizada</a:t>
            </a:r>
          </a:p>
        </p:txBody>
      </p:sp>
      <p:sp>
        <p:nvSpPr>
          <p:cNvPr id="6" name="E26: falta aceptación externa de Stripe test.">
            <a:extLst>
              <a:ext uri="{FF2B5EF4-FFF2-40B4-BE49-F238E27FC236}">
                <a16:creationId xmlns:a16="http://schemas.microsoft.com/office/drawing/2014/main" id="{E9D41333-A123-4A46-9E93-2B73C579EBCD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9D5D05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9D5D05"/>
                </a:solidFill>
                <a:latin typeface="Arial"/>
                <a:ea typeface="Arial"/>
                <a:cs typeface="Arial"/>
              </a:rPr>
              <a:t>E26: </a:t>
            </a:r>
            <a:r>
              <a:rPr sz="1875" b="1" dirty="0" err="1">
                <a:solidFill>
                  <a:srgbClr val="9D5D05"/>
                </a:solidFill>
                <a:latin typeface="Arial"/>
                <a:ea typeface="Arial"/>
                <a:cs typeface="Arial"/>
              </a:rPr>
              <a:t>falta</a:t>
            </a:r>
            <a:r>
              <a:rPr sz="1875" b="1" dirty="0">
                <a:solidFill>
                  <a:srgbClr val="9D5D05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9D5D05"/>
                </a:solidFill>
                <a:latin typeface="Arial"/>
                <a:ea typeface="Arial"/>
                <a:cs typeface="Arial"/>
              </a:rPr>
              <a:t>aceptación</a:t>
            </a:r>
            <a:r>
              <a:rPr sz="1875" b="1" dirty="0">
                <a:solidFill>
                  <a:srgbClr val="9D5D05"/>
                </a:solidFill>
                <a:latin typeface="Arial"/>
                <a:ea typeface="Arial"/>
                <a:cs typeface="Arial"/>
              </a:rPr>
              <a:t> externa de Stripe test.</a:t>
            </a:r>
          </a:p>
        </p:txBody>
      </p:sp>
    </p:spTree>
    <p:extLst>
      <p:ext uri="{BB962C8B-B14F-4D97-AF65-F5344CB8AC3E}">
        <p14:creationId xmlns:p14="http://schemas.microsoft.com/office/powerpoint/2010/main" val="384168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uebas automatizadas y ejecución">
            <a:extLst>
              <a:ext uri="{FF2B5EF4-FFF2-40B4-BE49-F238E27FC236}">
                <a16:creationId xmlns:a16="http://schemas.microsoft.com/office/drawing/2014/main" id="{30F33928-9645-4205-844D-F5515555E115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Pruebas automatizadas y ejecución</a:t>
            </a: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254A7886-06F8-4784-9377-5C06BC114510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F4BDE3-19D0-4AF7-AF97-DAC270D30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6358" y="1476375"/>
            <a:ext cx="6529234" cy="4048125"/>
          </a:xfrm>
          <a:prstGeom prst="rect">
            <a:avLst/>
          </a:prstGeom>
        </p:spPr>
      </p:pic>
      <p:sp>
        <p:nvSpPr>
          <p:cNvPr id="4" name="Regresión actual&#10;199 / 199 aprobadas&#10;Build del frontend aprobado">
            <a:extLst>
              <a:ext uri="{FF2B5EF4-FFF2-40B4-BE49-F238E27FC236}">
                <a16:creationId xmlns:a16="http://schemas.microsoft.com/office/drawing/2014/main" id="{75252C3E-2B24-4F5A-9710-5475191641F1}"/>
              </a:ext>
            </a:extLst>
          </p:cNvPr>
          <p:cNvSpPr>
            <a:spLocks noGrp="1"/>
          </p:cNvSpPr>
          <p:nvPr/>
        </p:nvSpPr>
        <p:spPr>
          <a:xfrm>
            <a:off x="7762875" y="1571625"/>
            <a:ext cx="3810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Regresión actual</a:t>
            </a:r>
          </a:p>
          <a:p>
            <a:pPr>
              <a:defRPr sz="21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199 / 199 aprobadas</a:t>
            </a:r>
          </a:p>
          <a:p>
            <a:pPr>
              <a:defRPr sz="21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Build del frontend aprobado</a:t>
            </a:r>
          </a:p>
        </p:txBody>
      </p:sp>
      <p:sp>
        <p:nvSpPr>
          <p:cNvPr id="5" name="Éxitos y errores&#10;Permisos y validaciones&#10;Persistencia y concurrencia">
            <a:extLst>
              <a:ext uri="{FF2B5EF4-FFF2-40B4-BE49-F238E27FC236}">
                <a16:creationId xmlns:a16="http://schemas.microsoft.com/office/drawing/2014/main" id="{ED393E4B-0807-450B-AC51-B1C461C83F10}"/>
              </a:ext>
            </a:extLst>
          </p:cNvPr>
          <p:cNvSpPr>
            <a:spLocks noGrp="1"/>
          </p:cNvSpPr>
          <p:nvPr/>
        </p:nvSpPr>
        <p:spPr>
          <a:xfrm>
            <a:off x="7762875" y="3381375"/>
            <a:ext cx="3810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Éxitos y errores</a:t>
            </a:r>
          </a:p>
          <a:p>
            <a: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Permisos y validaciones</a:t>
            </a:r>
          </a:p>
          <a:p>
            <a:pPr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Persistencia y concurrencia</a:t>
            </a:r>
          </a:p>
        </p:txBody>
      </p:sp>
      <p:sp>
        <p:nvSpPr>
          <p:cNvPr id="6" name="Primer intento: timeout concurrente. Reintento aprobado, sin cambios d">
            <a:extLst>
              <a:ext uri="{FF2B5EF4-FFF2-40B4-BE49-F238E27FC236}">
                <a16:creationId xmlns:a16="http://schemas.microsoft.com/office/drawing/2014/main" id="{DBB37DD2-993F-4426-9746-8B6D111BABE9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9D5D0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D5D0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D5D0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D5D0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D5D0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D5D0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D5D0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D5D0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D5D0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D5D0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9D5D05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9D5D05"/>
                </a:solidFill>
                <a:latin typeface="Arial"/>
                <a:ea typeface="Arial"/>
                <a:cs typeface="Arial"/>
              </a:rPr>
              <a:t>Primer </a:t>
            </a:r>
            <a:r>
              <a:rPr sz="1800" b="0" dirty="0" err="1">
                <a:solidFill>
                  <a:srgbClr val="9D5D05"/>
                </a:solidFill>
                <a:latin typeface="Arial"/>
                <a:ea typeface="Arial"/>
                <a:cs typeface="Arial"/>
              </a:rPr>
              <a:t>intento</a:t>
            </a:r>
            <a:r>
              <a:rPr sz="1800" b="0" dirty="0">
                <a:solidFill>
                  <a:srgbClr val="9D5D05"/>
                </a:solidFill>
                <a:latin typeface="Arial"/>
                <a:ea typeface="Arial"/>
                <a:cs typeface="Arial"/>
              </a:rPr>
              <a:t>: timeout </a:t>
            </a:r>
            <a:r>
              <a:rPr sz="1800" b="0" dirty="0" err="1">
                <a:solidFill>
                  <a:srgbClr val="9D5D05"/>
                </a:solidFill>
                <a:latin typeface="Arial"/>
                <a:ea typeface="Arial"/>
                <a:cs typeface="Arial"/>
              </a:rPr>
              <a:t>concurrente</a:t>
            </a:r>
            <a:r>
              <a:rPr sz="1800" b="0" dirty="0">
                <a:solidFill>
                  <a:srgbClr val="9D5D05"/>
                </a:solidFill>
                <a:latin typeface="Arial"/>
                <a:ea typeface="Arial"/>
                <a:cs typeface="Arial"/>
              </a:rPr>
              <a:t>. </a:t>
            </a:r>
            <a:r>
              <a:rPr sz="1800" b="0" dirty="0" err="1">
                <a:solidFill>
                  <a:srgbClr val="9D5D05"/>
                </a:solidFill>
                <a:latin typeface="Arial"/>
                <a:ea typeface="Arial"/>
                <a:cs typeface="Arial"/>
              </a:rPr>
              <a:t>Reintento</a:t>
            </a:r>
            <a:r>
              <a:rPr sz="1800" b="0" dirty="0">
                <a:solidFill>
                  <a:srgbClr val="9D5D05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0" dirty="0" err="1">
                <a:solidFill>
                  <a:srgbClr val="9D5D05"/>
                </a:solidFill>
                <a:latin typeface="Arial"/>
                <a:ea typeface="Arial"/>
                <a:cs typeface="Arial"/>
              </a:rPr>
              <a:t>aprobado</a:t>
            </a:r>
            <a:r>
              <a:rPr sz="1800" b="0" dirty="0">
                <a:solidFill>
                  <a:srgbClr val="9D5D05"/>
                </a:solidFill>
                <a:latin typeface="Arial"/>
                <a:ea typeface="Arial"/>
                <a:cs typeface="Arial"/>
              </a:rPr>
              <a:t>, sin </a:t>
            </a:r>
            <a:r>
              <a:rPr sz="1800" b="0" dirty="0" err="1">
                <a:solidFill>
                  <a:srgbClr val="9D5D05"/>
                </a:solidFill>
                <a:latin typeface="Arial"/>
                <a:ea typeface="Arial"/>
                <a:cs typeface="Arial"/>
              </a:rPr>
              <a:t>cambios</a:t>
            </a:r>
            <a:r>
              <a:rPr sz="1800" b="0" dirty="0">
                <a:solidFill>
                  <a:srgbClr val="9D5D05"/>
                </a:solidFill>
                <a:latin typeface="Arial"/>
                <a:ea typeface="Arial"/>
                <a:cs typeface="Arial"/>
              </a:rPr>
              <a:t> de </a:t>
            </a:r>
            <a:r>
              <a:rPr sz="1800" b="0" dirty="0" err="1">
                <a:solidFill>
                  <a:srgbClr val="9D5D05"/>
                </a:solidFill>
                <a:latin typeface="Arial"/>
                <a:ea typeface="Arial"/>
                <a:cs typeface="Arial"/>
              </a:rPr>
              <a:t>código</a:t>
            </a:r>
            <a:r>
              <a:rPr sz="1800" b="0" dirty="0">
                <a:solidFill>
                  <a:srgbClr val="9D5D05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3647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justes y trabajo pendiente">
            <a:extLst>
              <a:ext uri="{FF2B5EF4-FFF2-40B4-BE49-F238E27FC236}">
                <a16:creationId xmlns:a16="http://schemas.microsoft.com/office/drawing/2014/main" id="{9EADFB3F-8830-415D-B706-14975AC20E0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Ajustes y trabajo pendiente</a:t>
            </a: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EB33B9F1-A172-4442-84BD-A9611966D554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0D06826-137F-4340-A2A7-59EB52C454E4}"/>
              </a:ext>
            </a:extLst>
          </p:cNvPr>
          <p:cNvGraphicFramePr/>
          <p:nvPr/>
        </p:nvGraphicFramePr>
        <p:xfrm>
          <a:off x="609600" y="1476375"/>
          <a:ext cx="10972800" cy="3619500"/>
        </p:xfrm>
        <a:graphic>
          <a:graphicData uri="http://schemas.openxmlformats.org/drawingml/2006/table">
            <a:tbl>
              <a:tblPr/>
              <a:tblGrid>
                <a:gridCol w="542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Ajustes realizados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Pendientes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Importación del formato original como borrador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Nota interna opcional de recorrecciones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Entorno de trabajo y pruebas separados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Aceptación contra Stripe real de pruebas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Bloques A/B/C integrados localmente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Revisar el timeout concurrente observado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Capturas y registros de ejecución organizados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Periodicidad remota, revisión y publicación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1035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nexo de funciones de Tsung-Hao">
            <a:extLst>
              <a:ext uri="{FF2B5EF4-FFF2-40B4-BE49-F238E27FC236}">
                <a16:creationId xmlns:a16="http://schemas.microsoft.com/office/drawing/2014/main" id="{29C560F1-F30C-4127-B5CA-2238811B3AA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Anexo de funciones de Tsung-Hao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29B44FA1-0566-4749-9132-FBFA8218F474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44EDF4B-C0E9-4DCC-9AB4-6C884A37F09B}"/>
              </a:ext>
            </a:extLst>
          </p:cNvPr>
          <p:cNvGraphicFramePr/>
          <p:nvPr/>
        </p:nvGraphicFramePr>
        <p:xfrm>
          <a:off x="609600" y="1381125"/>
          <a:ext cx="10972800" cy="4571996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Ruta administrativa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Estado del avance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E01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/admin/auth/login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E08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/admin/platforms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E09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/admin/services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Probado en laboratorio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E10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/admin/containers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Probado en laboratorio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E11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/admin/containers/{name}/restart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Probado en laboratorio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E12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/admin/users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E13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/admin/users/{id}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E14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PATCH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/admin/users/{id}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E15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/admin/tickets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E16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PATCH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/admin/tickets/{id}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550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nexo de funciones de Catalina">
            <a:extLst>
              <a:ext uri="{FF2B5EF4-FFF2-40B4-BE49-F238E27FC236}">
                <a16:creationId xmlns:a16="http://schemas.microsoft.com/office/drawing/2014/main" id="{0E9BF29D-320F-4B0D-8EFA-B0B9A7E6EE8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Anexo de funciones de Catalina</a:t>
            </a:r>
          </a:p>
        </p:txBody>
      </p:sp>
      <p:sp>
        <p:nvSpPr>
          <p:cNvPr id="2" name="17">
            <a:extLst>
              <a:ext uri="{FF2B5EF4-FFF2-40B4-BE49-F238E27FC236}">
                <a16:creationId xmlns:a16="http://schemas.microsoft.com/office/drawing/2014/main" id="{14B5ED83-7FB7-4007-8DDC-E5C614F18A14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B129FA1-09EC-428B-8F1C-108BAEBD5030}"/>
              </a:ext>
            </a:extLst>
          </p:cNvPr>
          <p:cNvGraphicFramePr/>
          <p:nvPr/>
        </p:nvGraphicFramePr>
        <p:xfrm>
          <a:off x="609600" y="1381125"/>
          <a:ext cx="10972800" cy="4571996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Ruta administrativa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Estado del avance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E04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/admin/sponsors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E05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/admin/sponsors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E06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PATCH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/admin/sponsors/{id}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E07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DELETE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/admin/sponsors/{id}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E17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/admin/corrections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E18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PATCH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/admin/corrections/{id}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Flujo probado; nota pendiente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E19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/admin/questions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E20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/admin/questions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E21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PUT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/admin/questions/{id}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E22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/admin/questions/import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271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nexo de funciones de Felipe">
            <a:extLst>
              <a:ext uri="{FF2B5EF4-FFF2-40B4-BE49-F238E27FC236}">
                <a16:creationId xmlns:a16="http://schemas.microsoft.com/office/drawing/2014/main" id="{64DA5C34-C008-4D58-907D-A7DFABDF7B3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Anexo de funciones de Felipe</a:t>
            </a:r>
          </a:p>
        </p:txBody>
      </p:sp>
      <p:sp>
        <p:nvSpPr>
          <p:cNvPr id="2" name="18">
            <a:extLst>
              <a:ext uri="{FF2B5EF4-FFF2-40B4-BE49-F238E27FC236}">
                <a16:creationId xmlns:a16="http://schemas.microsoft.com/office/drawing/2014/main" id="{C97C8744-9B51-47E8-9921-521B33514A11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DEA8A6F-572A-4C79-899E-D4384CCFF83C}"/>
              </a:ext>
            </a:extLst>
          </p:cNvPr>
          <p:cNvGraphicFramePr/>
          <p:nvPr/>
        </p:nvGraphicFramePr>
        <p:xfrm>
          <a:off x="609600" y="1381125"/>
          <a:ext cx="10972800" cy="4000504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Ruta administrativa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Estado del avance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>
                      <a:solidFill>
                        <a:srgbClr val="D3DEDF"/>
                      </a:solidFill>
                      <a:prstDash val="soli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E02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/admin/metrics/overview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E03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/admin/metrics/commercial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E23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/admin/features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E24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/admin/plans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E25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/admin/plans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E26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PUT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/admin/plans/{id}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Local y stub; Stripe pendiente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E27</a:t>
                      </a:r>
                    </a:p>
                  </a:txBody>
                  <a:tcPr marL="114300" marR="95250" marT="85725" marB="76200">
                    <a:lnL w="5715">
                      <a:solidFill>
                        <a:srgbClr val="D3DEDF"/>
                      </a:solidFill>
                      <a:prstDash val="soli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DELETE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/admin/plans/{id}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Implementado y probado local</a:t>
                      </a:r>
                    </a:p>
                  </a:txBody>
                  <a:tcPr marL="114300" marR="95250" marT="85725" marB="76200">
                    <a:lnL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3DEDF"/>
                      </a:solidFill>
                      <a:prstDash val="solid"/>
                    </a:lnR>
                    <a:lnT w="5715" cap="flat" cmpd="sng" algn="ctr">
                      <a:solidFill>
                        <a:srgbClr val="D3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3DE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544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nexo de reinicio y persistencia">
            <a:extLst>
              <a:ext uri="{FF2B5EF4-FFF2-40B4-BE49-F238E27FC236}">
                <a16:creationId xmlns:a16="http://schemas.microsoft.com/office/drawing/2014/main" id="{4A79E5E1-D11A-4830-90C9-CF927383EAE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Anexo de reinicio y persistencia</a:t>
            </a:r>
          </a:p>
        </p:txBody>
      </p:sp>
      <p:sp>
        <p:nvSpPr>
          <p:cNvPr id="2" name="19">
            <a:extLst>
              <a:ext uri="{FF2B5EF4-FFF2-40B4-BE49-F238E27FC236}">
                <a16:creationId xmlns:a16="http://schemas.microsoft.com/office/drawing/2014/main" id="{55B35E45-3762-4F4A-A6DC-DCA50B35E1D5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547D6E-16F0-43EF-AF62-193C161C5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62365"/>
            <a:ext cx="5238750" cy="36380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0B1B033-D8FA-4156-B4C4-932D05136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34125" y="1562365"/>
            <a:ext cx="5238750" cy="3638021"/>
          </a:xfrm>
          <a:prstGeom prst="rect">
            <a:avLst/>
          </a:prstGeom>
        </p:spPr>
      </p:pic>
      <p:sp>
        <p:nvSpPr>
          <p:cNvPr id="5" name="HTTP 202 acepta la solicitud. StartedAt distinto y healthy comprueban ">
            <a:extLst>
              <a:ext uri="{FF2B5EF4-FFF2-40B4-BE49-F238E27FC236}">
                <a16:creationId xmlns:a16="http://schemas.microsoft.com/office/drawing/2014/main" id="{2FB20B29-D3BA-429D-B5C4-6F8F242EADF4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HTTP 202 acepta la solicitud. StartedAt distinto y healthy comprueban el resultado.</a:t>
            </a:r>
          </a:p>
        </p:txBody>
      </p:sp>
    </p:spTree>
    <p:extLst>
      <p:ext uri="{BB962C8B-B14F-4D97-AF65-F5344CB8AC3E}">
        <p14:creationId xmlns:p14="http://schemas.microsoft.com/office/powerpoint/2010/main" val="381761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nexo de pregunta guardada en Firestore">
            <a:extLst>
              <a:ext uri="{FF2B5EF4-FFF2-40B4-BE49-F238E27FC236}">
                <a16:creationId xmlns:a16="http://schemas.microsoft.com/office/drawing/2014/main" id="{4B07860E-E3FF-455D-B596-FA7DE0D0645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Anexo de pregunta guardada en Firestore</a:t>
            </a:r>
          </a:p>
        </p:txBody>
      </p:sp>
      <p:sp>
        <p:nvSpPr>
          <p:cNvPr id="2" name="20">
            <a:extLst>
              <a:ext uri="{FF2B5EF4-FFF2-40B4-BE49-F238E27FC236}">
                <a16:creationId xmlns:a16="http://schemas.microsoft.com/office/drawing/2014/main" id="{8D330D3B-9CA3-4F1C-B10B-F6AD7980677B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17BD3F-5852-439D-8FE7-C5F31B872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895740"/>
            <a:ext cx="5238750" cy="36380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8877574-EF8E-42E0-95AF-7113EB352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34125" y="1764771"/>
            <a:ext cx="5238750" cy="389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99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nexo de plan guardado en Firestore">
            <a:extLst>
              <a:ext uri="{FF2B5EF4-FFF2-40B4-BE49-F238E27FC236}">
                <a16:creationId xmlns:a16="http://schemas.microsoft.com/office/drawing/2014/main" id="{51BC951D-E43C-466E-98DA-319A69F74853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Anexo de plan guardado en Firestore</a:t>
            </a:r>
          </a:p>
        </p:txBody>
      </p:sp>
      <p:sp>
        <p:nvSpPr>
          <p:cNvPr id="2" name="21">
            <a:extLst>
              <a:ext uri="{FF2B5EF4-FFF2-40B4-BE49-F238E27FC236}">
                <a16:creationId xmlns:a16="http://schemas.microsoft.com/office/drawing/2014/main" id="{5E9711B9-E67C-4752-8222-3AE074258572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D3E0E5-C6B5-4375-A0B1-116ACB751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895740"/>
            <a:ext cx="5238750" cy="36380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EACAB15-28F9-4D89-B84B-235730FC5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34125" y="1764771"/>
            <a:ext cx="5238750" cy="389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88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entes y archivos de respaldo">
            <a:extLst>
              <a:ext uri="{FF2B5EF4-FFF2-40B4-BE49-F238E27FC236}">
                <a16:creationId xmlns:a16="http://schemas.microsoft.com/office/drawing/2014/main" id="{7EA0EBD7-2946-4EEE-A445-88A5A4A7F99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Fuentes y archivos de respaldo</a:t>
            </a:r>
          </a:p>
        </p:txBody>
      </p:sp>
      <p:sp>
        <p:nvSpPr>
          <p:cNvPr id="2" name="22">
            <a:extLst>
              <a:ext uri="{FF2B5EF4-FFF2-40B4-BE49-F238E27FC236}">
                <a16:creationId xmlns:a16="http://schemas.microsoft.com/office/drawing/2014/main" id="{D750B9C8-F309-4391-BD1A-4C627EBF5F04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75" b="0">
                <a:solidFill>
                  <a:srgbClr val="5269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Contrato: Aprueba_API_Backend.docx, sección 4&#10;Planificación: docs/01_R">
            <a:extLst>
              <a:ext uri="{FF2B5EF4-FFF2-40B4-BE49-F238E27FC236}">
                <a16:creationId xmlns:a16="http://schemas.microsoft.com/office/drawing/2014/main" id="{5662213D-A26F-4A11-8A0E-E8574F2BC908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Contrato: Aprueba_API_Backend.docx, sección 4</a:t>
            </a:r>
          </a:p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Planificación: docs/01_REPARTO_EQUIPO.md y docs/02_SPRINTS_Y_BACKLOG.md</a:t>
            </a:r>
          </a:p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Capturas y comprobaciones: Anexos/avance_funcional_ampliado.json</a:t>
            </a:r>
          </a:p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Pruebas actuales: Anexos/Regresion_Actualizada</a:t>
            </a:r>
          </a:p>
          <a:p>
            <a:pPr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Orientación: Anexos/LEEME_EVIDENCIAS.md</a:t>
            </a:r>
          </a:p>
        </p:txBody>
      </p:sp>
      <p:sp>
        <p:nvSpPr>
          <p:cNvPr id="4" name="Código local: db6c916. Registro integrado: aef22bf. Corte: 20/10/2026.">
            <a:extLst>
              <a:ext uri="{FF2B5EF4-FFF2-40B4-BE49-F238E27FC236}">
                <a16:creationId xmlns:a16="http://schemas.microsoft.com/office/drawing/2014/main" id="{F60E4185-7DBB-491F-970B-29FFAE3554A8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1">
                <a:solidFill>
                  <a:srgbClr val="0087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783"/>
                </a:solidFill>
                <a:latin typeface="Arial"/>
                <a:ea typeface="Arial"/>
                <a:cs typeface="Arial"/>
              </a:rPr>
              <a:t>Código local: db6c916. Registro integrado: aef22bf. Corte: 20/10/2026.</a:t>
            </a:r>
          </a:p>
        </p:txBody>
      </p:sp>
    </p:spTree>
    <p:extLst>
      <p:ext uri="{BB962C8B-B14F-4D97-AF65-F5344CB8AC3E}">
        <p14:creationId xmlns:p14="http://schemas.microsoft.com/office/powerpoint/2010/main" val="20674200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1083</Words>
  <Application>Microsoft Office PowerPoint</Application>
  <DocSecurity>0</DocSecurity>
  <PresentationFormat>Panorámica</PresentationFormat>
  <Paragraphs>300</Paragraphs>
  <Slides>22</Slides>
  <Notes>22</Notes>
  <HiddenSlides>7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Aptos</vt:lpstr>
      <vt:lpstr>Arial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Tsung-Hao Liu</cp:lastModifiedBy>
  <cp:revision>1</cp:revision>
  <dcterms:created xsi:type="dcterms:W3CDTF">2026-10-20T18:35:54Z</dcterms:created>
  <dcterms:modified xsi:type="dcterms:W3CDTF">2026-10-21T01:56:16Z</dcterms:modified>
</cp:coreProperties>
</file>