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8" r:id="rId1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Catalina · 0:00–0:30</a:t>
            </a:r>
          </a:p>
          <a:p>
            <a:r>
              <a:t>Presentar el proyecto, al equipo y el propósito de Fase 1: validar una definición realizable.</a:t>
            </a:r>
          </a:p>
          <a:p>
            <a:endParaRPr/>
          </a:p>
          <a:p>
            <a:r>
              <a:t>[Sources]</a:t>
            </a:r>
          </a:p>
          <a:p>
            <a:r>
              <a:t>- 03_Informe_Sumativo_Definicion_Proyecto_APT.docx</a:t>
            </a:r>
          </a:p>
          <a:p>
            <a:r>
              <a:t>- 1.5_GuiaEstudiante_Fase 1_Definicion Proyecto APT.docx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Catalina · 0:30–1:30</a:t>
            </a:r>
          </a:p>
          <a:p>
            <a:r>
              <a:t>Explicar por qué una consola central es relevante para una plataforma digital: reduce fragmentación, errores y pérdida de trazabilidad. Beneficia a gerencia, finanzas, operaciones y soporte.</a:t>
            </a:r>
          </a:p>
          <a:p>
            <a:endParaRPr/>
          </a:p>
          <a:p>
            <a:r>
              <a:t>[Sources]</a:t>
            </a:r>
          </a:p>
          <a:p>
            <a:r>
              <a:t>- 02_1.5_GuiaEstudiante_Fase1_Aprueba_Administracion.docx</a:t>
            </a:r>
          </a:p>
          <a:p>
            <a:r>
              <a:t>- PLANILLA DE EVALUACIÓN FASE 1.xlsx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Catalina · 1:30–2:30</a:t>
            </a:r>
          </a:p>
          <a:p>
            <a:r>
              <a:t>Delimitar el MVP a Aprueba Administración y recorrer los ocho dominios. Aclarar que Machine Learning y otros productos quedan fuera del alcance actual.</a:t>
            </a:r>
          </a:p>
          <a:p>
            <a:endParaRPr/>
          </a:p>
          <a:p>
            <a:r>
              <a:t>[Sources]</a:t>
            </a:r>
          </a:p>
          <a:p>
            <a:r>
              <a:t>- 03_Informe_Sumativo_Definicion_Proyecto_APT.docx</a:t>
            </a:r>
          </a:p>
          <a:p>
            <a:r>
              <a:t>- 03_Requisitos_Historias_y_Trazabilidad.xlsx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Catalina · 2:30–4:00</a:t>
            </a:r>
          </a:p>
          <a:p>
            <a:r>
              <a:t>Relacionar intereses y responsabilidades personales. La distribución es inicial y puede ajustarse por sprint, pero los aportes deben quedar trazables.</a:t>
            </a:r>
          </a:p>
          <a:p>
            <a:endParaRPr/>
          </a:p>
          <a:p>
            <a:r>
              <a:t>[Sources]</a:t>
            </a:r>
          </a:p>
          <a:p>
            <a:r>
              <a:t>- 03_Informe_Sumativo_Definicion_Proyecto_APT.docx</a:t>
            </a:r>
          </a:p>
          <a:p>
            <a:r>
              <a:t>- 04_Guion_y_Distribucion_Presentacion_Fase1.docx</a:t>
            </a:r>
          </a:p>
          <a:p>
            <a:r>
              <a:t>- PLANILLA DE EVALUACIÓN FASE 1.xlsx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Catalina · 4:00–5:00</a:t>
            </a:r>
          </a:p>
          <a:p>
            <a:r>
              <a:t>Explicar cómo pruebas, gestión, datos y desarrollo de software se evidencian mediante artefactos verificables.</a:t>
            </a:r>
          </a:p>
          <a:p>
            <a:endParaRPr/>
          </a:p>
          <a:p>
            <a:r>
              <a:t>[Sources]</a:t>
            </a:r>
          </a:p>
          <a:p>
            <a:r>
              <a:t>- 1.4_APT122_FormativaFase1.docx</a:t>
            </a:r>
          </a:p>
          <a:p>
            <a:r>
              <a:t>- Descripción del perfil de egreso de Ingeniería en Informática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Tsung-Hao · 5:00–6:00</a:t>
            </a:r>
          </a:p>
          <a:p>
            <a:r>
              <a:t>Leer el objetivo general y explicar los cuatro frentes específicos: definir, modelar, planificar/implementar y validar.</a:t>
            </a:r>
          </a:p>
          <a:p>
            <a:endParaRPr/>
          </a:p>
          <a:p>
            <a:r>
              <a:t>[Sources]</a:t>
            </a:r>
          </a:p>
          <a:p>
            <a:r>
              <a:t>- 02_1.5_GuiaEstudiante_Fase1_Aprueba_Administracion.docx</a:t>
            </a:r>
          </a:p>
          <a:p>
            <a:r>
              <a:t>- PLANILLA DE EVALUACIÓN FASE 1.xlsx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Felipe · 6:00–7:15</a:t>
            </a:r>
          </a:p>
          <a:p>
            <a:r>
              <a:t>Presentar la arquitectura propuesta. Diferenciar lo reconocible en la base de código de aquello que aún requiere integración y pruebas.</a:t>
            </a:r>
          </a:p>
          <a:p>
            <a:endParaRPr/>
          </a:p>
          <a:p>
            <a:r>
              <a:t>[Sources]</a:t>
            </a:r>
          </a:p>
          <a:p>
            <a:r>
              <a:t>- 01_Dossier_Ingenieria_Software_Fase1.docx</a:t>
            </a:r>
          </a:p>
          <a:p>
            <a:r>
              <a:t>- 02_Informe_Auditoria_Codigo_y_Documentacion.docx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Tsung-Hao · 7:15–8:30</a:t>
            </a:r>
          </a:p>
          <a:p>
            <a:r>
              <a:t>Argumentar la factibilidad con las cuatro dimensiones de la rúbrica: tiempo, recursos, facilitadores y dificultades con respuesta.</a:t>
            </a:r>
          </a:p>
          <a:p>
            <a:endParaRPr/>
          </a:p>
          <a:p>
            <a:r>
              <a:t>[Sources]</a:t>
            </a:r>
          </a:p>
          <a:p>
            <a:r>
              <a:t>- 02_1.5_GuiaEstudiante_Fase1_Aprueba_Administracion.docx</a:t>
            </a:r>
          </a:p>
          <a:p>
            <a:r>
              <a:t>- PLANILLA DE EVALUACIÓN FASE 1.xlsx</a:t>
            </a:r>
          </a:p>
          <a:p>
            <a:r>
              <a:t>- 02_Informe_Auditoria_Codigo_y_Documentacion.docx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Tsung-Hao · 8:30–10:00</a:t>
            </a:r>
          </a:p>
          <a:p>
            <a:r>
              <a:t>Explicar que esta es la planificación del proyecto, no el calendario de entregas de la asignatura. Scrum gestiona el trabajo; la Gantt muestra duración, solapamientos, dependencias e hitos. Calidad, riesgos y control de cambios son transversales.</a:t>
            </a:r>
          </a:p>
          <a:p>
            <a:endParaRPr/>
          </a:p>
          <a:p>
            <a:r>
              <a:t>[Sources]</a:t>
            </a:r>
          </a:p>
          <a:p>
            <a:r>
              <a:t>- 03_Carta_Gantt_Profesional_Aprueba_Administracion_CON_FECHAS.xlsx</a:t>
            </a:r>
          </a:p>
          <a:p>
            <a:r>
              <a:t>- 01_Dossier_Gestion_Agil_Fase1.docx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Felipe · 11:00–12:00</a:t>
            </a:r>
          </a:p>
          <a:p>
            <a:r>
              <a:t>Explicar qué evidencias se proponen y por qué demuestran avance o resultado. Aclarar que deben ser validadas por el docente antes de tratarlas como acordadas.</a:t>
            </a:r>
          </a:p>
          <a:p>
            <a:endParaRPr/>
          </a:p>
          <a:p>
            <a:r>
              <a:t>[Sources]</a:t>
            </a:r>
          </a:p>
          <a:p>
            <a:r>
              <a:t>- 02_1.5_GuiaEstudiante_Fase1_Aprueba_Administracion.docx</a:t>
            </a:r>
          </a:p>
          <a:p>
            <a:r>
              <a:t>- PLANILLA DE EVALUACIÓN FASE 1.xlsx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Responsable: Equipo · 13:00–15:00</a:t>
            </a:r>
          </a:p>
          <a:p>
            <a:r>
              <a:t>Cerrar con la decisión solicitada: validar alcance y evidencias, registrar ajustes y habilitar el inicio del Sprint 1. Reservar el tiempo restante para preguntas.</a:t>
            </a:r>
          </a:p>
          <a:p>
            <a:endParaRPr/>
          </a:p>
          <a:p>
            <a:r>
              <a:t>[Sources]</a:t>
            </a:r>
          </a:p>
          <a:p>
            <a:r>
              <a:t>- 1.4_APT122_FormativaFase1.docx</a:t>
            </a:r>
          </a:p>
          <a:p>
            <a:r>
              <a:t>- PLANILLA DE EVALUACIÓN FASE 1.xlsx</a:t>
            </a:r>
          </a:p>
          <a:p>
            <a:r>
              <a:t>- 04_Guion_y_Distribucion_Presentacion_Fase1.docx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3FE69466-5037-4A5F-8B05-75D1FB1A1D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031E469-C75C-4B8F-890E-C92FB58EBF3A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5B041"/>
                </a:solidFill>
              </a:defRPr>
            </a:pPr>
            <a:r>
              <a:rPr sz="975" b="1">
                <a:solidFill>
                  <a:srgbClr val="F5B041"/>
                </a:solidFill>
              </a:rPr>
              <a:t>DEFINICIÓN DE PROYECTO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6BD4352-BF45-43B8-A4A6-C87B8EFF0CAC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E8EEF5"/>
                </a:solidFill>
              </a:defRPr>
            </a:pPr>
            <a:r>
              <a:rPr sz="975" b="1">
                <a:solidFill>
                  <a:srgbClr val="E8EEF5"/>
                </a:solidFill>
              </a:rPr>
              <a:t>01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3A617F2-08C0-4098-B44B-1139BE06CD0F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914400" cy="762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223D3D5-127E-4016-AB67-A0214ECBBC15}"/>
              </a:ext>
            </a:extLst>
          </p:cNvPr>
          <p:cNvSpPr>
            <a:spLocks noGrp="1"/>
          </p:cNvSpPr>
          <p:nvPr/>
        </p:nvSpPr>
        <p:spPr>
          <a:xfrm>
            <a:off x="628650" y="1847850"/>
            <a:ext cx="6667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Aprueba</a:t>
            </a:r>
          </a:p>
          <a:p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Administración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880F36C-2FC1-4C96-8461-65128EE4F66C}"/>
              </a:ext>
            </a:extLst>
          </p:cNvPr>
          <p:cNvSpPr>
            <a:spLocks noGrp="1"/>
          </p:cNvSpPr>
          <p:nvPr/>
        </p:nvSpPr>
        <p:spPr>
          <a:xfrm>
            <a:off x="657225" y="3600450"/>
            <a:ext cx="6572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725" b="0">
                <a:solidFill>
                  <a:srgbClr val="E8EEF5"/>
                </a:solidFill>
              </a:defRPr>
            </a:pPr>
            <a:r>
              <a:rPr sz="1725" b="0">
                <a:solidFill>
                  <a:srgbClr val="E8EEF5"/>
                </a:solidFill>
              </a:rPr>
              <a:t>Fase 1 · Alcance, factibilidad y planificación ágil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84938FD-F873-4EF9-8837-E7FFE9C3E82B}"/>
              </a:ext>
            </a:extLst>
          </p:cNvPr>
          <p:cNvSpPr>
            <a:spLocks noGrp="1"/>
          </p:cNvSpPr>
          <p:nvPr/>
        </p:nvSpPr>
        <p:spPr>
          <a:xfrm>
            <a:off x="657225" y="4514850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Tsung-Hao Liu  ·  Catalina Yanara Padilla Astudillo  ·  Felipe Antonio Rojas Riffo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622C41F-0E37-48B9-AFAC-83F3C34D52DF}"/>
              </a:ext>
            </a:extLst>
          </p:cNvPr>
          <p:cNvSpPr>
            <a:spLocks noGrp="1"/>
          </p:cNvSpPr>
          <p:nvPr/>
        </p:nvSpPr>
        <p:spPr>
          <a:xfrm>
            <a:off x="657225" y="50482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5B041"/>
                </a:solidFill>
              </a:defRPr>
            </a:pPr>
            <a:r>
              <a:rPr sz="1275" b="1">
                <a:solidFill>
                  <a:srgbClr val="F5B041"/>
                </a:solidFill>
              </a:rPr>
              <a:t>2026</a:t>
            </a:r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572500" y="2113643"/>
            <a:ext cx="2381250" cy="1582964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A7E3D014-6CB7-4D8B-A886-8D1ED3F973FD}"/>
              </a:ext>
            </a:extLst>
          </p:cNvPr>
          <p:cNvSpPr>
            <a:spLocks noGrp="1"/>
          </p:cNvSpPr>
          <p:nvPr/>
        </p:nvSpPr>
        <p:spPr>
          <a:xfrm>
            <a:off x="8791575" y="4305300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00" b="1">
                <a:solidFill>
                  <a:srgbClr val="F5B041"/>
                </a:solidFill>
              </a:defRPr>
            </a:pPr>
            <a:r>
              <a:rPr sz="900" b="1">
                <a:solidFill>
                  <a:srgbClr val="F5B041"/>
                </a:solidFill>
              </a:rPr>
              <a:t>Decisión solicitada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59B9ACA-0A36-437C-AAF9-08F56719756E}"/>
              </a:ext>
            </a:extLst>
          </p:cNvPr>
          <p:cNvSpPr>
            <a:spLocks noGrp="1"/>
          </p:cNvSpPr>
          <p:nvPr/>
        </p:nvSpPr>
        <p:spPr>
          <a:xfrm>
            <a:off x="8286750" y="4610100"/>
            <a:ext cx="2952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Aprobar la definición</a:t>
            </a:r>
          </a:p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y habilitar la ejecución</a:t>
            </a:r>
          </a:p>
        </p:txBody>
      </p:sp>
    </p:spTree>
    <p:extLst>
      <p:ext uri="{BB962C8B-B14F-4D97-AF65-F5344CB8AC3E}">
        <p14:creationId xmlns:p14="http://schemas.microsoft.com/office/powerpoint/2010/main" val="10821413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9DBAAC22-EED6-4F1C-8EE4-406AA89AA4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A3CC0D0-CA8C-4450-AFFB-1AE78A9DFA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F88BDD9-FB6E-4A02-B2E1-8B7B1B22DBBB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PROBLEMA Y OPORTUNIDAD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3C6A3C0-2834-4A1A-91A6-623BDC4484BF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05A9ED6-9259-488B-A03C-2D05DFD95597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Administrar una plataforma freemium exige control operacional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8FB65AD-656D-4A75-9793-775F0AB7A2F5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Es un problema de ingeniería: centralizar operaciones, permisos y datos reduce errores y mejora la trazabilidad.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8B51C95A-FBDD-45C9-A04A-E15F82484F83}"/>
              </a:ext>
            </a:extLst>
          </p:cNvPr>
          <p:cNvSpPr>
            <a:spLocks noGrp="1"/>
          </p:cNvSpPr>
          <p:nvPr/>
        </p:nvSpPr>
        <p:spPr>
          <a:xfrm>
            <a:off x="628650" y="2038350"/>
            <a:ext cx="6762750" cy="3695700"/>
          </a:xfrm>
          <a:prstGeom prst="roundRect">
            <a:avLst>
              <a:gd name="adj" fmla="val 3093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09CC5BF-50DF-40CB-A25B-F8B67C30E7F9}"/>
              </a:ext>
            </a:extLst>
          </p:cNvPr>
          <p:cNvSpPr>
            <a:spLocks noGrp="1"/>
          </p:cNvSpPr>
          <p:nvPr/>
        </p:nvSpPr>
        <p:spPr>
          <a:xfrm>
            <a:off x="990600" y="2324100"/>
            <a:ext cx="5429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F5B041"/>
                </a:solidFill>
              </a:defRPr>
            </a:pPr>
            <a:r>
              <a:rPr sz="1875" b="1">
                <a:solidFill>
                  <a:srgbClr val="F5B041"/>
                </a:solidFill>
              </a:rPr>
              <a:t>Sin una consola integrada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9CE28DB-4712-4303-B955-A6B5466BFF70}"/>
              </a:ext>
            </a:extLst>
          </p:cNvPr>
          <p:cNvSpPr>
            <a:spLocks noGrp="1"/>
          </p:cNvSpPr>
          <p:nvPr/>
        </p:nvSpPr>
        <p:spPr>
          <a:xfrm>
            <a:off x="990600" y="30670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B3B8574-AFAE-45C3-96BC-DAE60E79B1EA}"/>
              </a:ext>
            </a:extLst>
          </p:cNvPr>
          <p:cNvSpPr>
            <a:spLocks noGrp="1"/>
          </p:cNvSpPr>
          <p:nvPr/>
        </p:nvSpPr>
        <p:spPr>
          <a:xfrm>
            <a:off x="1200150" y="2971800"/>
            <a:ext cx="5600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Las decisiones comerciales y operativas quedan fragmentadas.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EE062A93-DC5A-4259-AD25-456E0784B2E8}"/>
              </a:ext>
            </a:extLst>
          </p:cNvPr>
          <p:cNvSpPr>
            <a:spLocks noGrp="1"/>
          </p:cNvSpPr>
          <p:nvPr/>
        </p:nvSpPr>
        <p:spPr>
          <a:xfrm>
            <a:off x="990600" y="36957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D6C0217-1B82-48F9-9FCF-539E9A013B19}"/>
              </a:ext>
            </a:extLst>
          </p:cNvPr>
          <p:cNvSpPr>
            <a:spLocks noGrp="1"/>
          </p:cNvSpPr>
          <p:nvPr/>
        </p:nvSpPr>
        <p:spPr>
          <a:xfrm>
            <a:off x="1200150" y="3600450"/>
            <a:ext cx="5600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El soporte y la gestión de usuarios pierden trazabilidad.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4BBFFFB-6BBF-423D-8B7E-5D9BEEB329BB}"/>
              </a:ext>
            </a:extLst>
          </p:cNvPr>
          <p:cNvSpPr>
            <a:spLocks noGrp="1"/>
          </p:cNvSpPr>
          <p:nvPr/>
        </p:nvSpPr>
        <p:spPr>
          <a:xfrm>
            <a:off x="990600" y="43243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2C64D53-39CB-4815-8CFD-07D134C1AD8D}"/>
              </a:ext>
            </a:extLst>
          </p:cNvPr>
          <p:cNvSpPr>
            <a:spLocks noGrp="1"/>
          </p:cNvSpPr>
          <p:nvPr/>
        </p:nvSpPr>
        <p:spPr>
          <a:xfrm>
            <a:off x="1200150" y="4229100"/>
            <a:ext cx="5600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Los cambios de contenido y planes aumentan el riesgo de error.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A6208B99-BFD2-440E-A0FE-199FCCC93DDE}"/>
              </a:ext>
            </a:extLst>
          </p:cNvPr>
          <p:cNvSpPr>
            <a:spLocks noGrp="1"/>
          </p:cNvSpPr>
          <p:nvPr/>
        </p:nvSpPr>
        <p:spPr>
          <a:xfrm>
            <a:off x="990600" y="49530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667BC72-79D3-4F71-82DE-23A74EA8F694}"/>
              </a:ext>
            </a:extLst>
          </p:cNvPr>
          <p:cNvSpPr>
            <a:spLocks noGrp="1"/>
          </p:cNvSpPr>
          <p:nvPr/>
        </p:nvSpPr>
        <p:spPr>
          <a:xfrm>
            <a:off x="1200150" y="4857750"/>
            <a:ext cx="5600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La administración requiere permisos, auditoría y controles seguros.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8DDAEB5-8F95-4F2D-9619-8E47BC946899}"/>
              </a:ext>
            </a:extLst>
          </p:cNvPr>
          <p:cNvSpPr>
            <a:spLocks noGrp="1"/>
          </p:cNvSpPr>
          <p:nvPr/>
        </p:nvSpPr>
        <p:spPr>
          <a:xfrm>
            <a:off x="7848600" y="2286000"/>
            <a:ext cx="314325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7AE9980-4D34-4AE2-A6E8-34AA5CD70E12}"/>
              </a:ext>
            </a:extLst>
          </p:cNvPr>
          <p:cNvSpPr>
            <a:spLocks noGrp="1"/>
          </p:cNvSpPr>
          <p:nvPr/>
        </p:nvSpPr>
        <p:spPr>
          <a:xfrm>
            <a:off x="7848600" y="2286000"/>
            <a:ext cx="76200" cy="10668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464D169-A655-45BC-A170-E01F98228DB9}"/>
              </a:ext>
            </a:extLst>
          </p:cNvPr>
          <p:cNvSpPr>
            <a:spLocks noGrp="1"/>
          </p:cNvSpPr>
          <p:nvPr/>
        </p:nvSpPr>
        <p:spPr>
          <a:xfrm>
            <a:off x="8086725" y="2419350"/>
            <a:ext cx="2781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400" b="1">
                <a:solidFill>
                  <a:srgbClr val="1A365D"/>
                </a:solidFill>
              </a:defRPr>
            </a:pPr>
            <a:r>
              <a:rPr sz="2400" b="1">
                <a:solidFill>
                  <a:srgbClr val="1A365D"/>
                </a:solidFill>
              </a:rPr>
              <a:t>8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2E7B2F9-EED3-430D-973F-8B1176AC6196}"/>
              </a:ext>
            </a:extLst>
          </p:cNvPr>
          <p:cNvSpPr>
            <a:spLocks noGrp="1"/>
          </p:cNvSpPr>
          <p:nvPr/>
        </p:nvSpPr>
        <p:spPr>
          <a:xfrm>
            <a:off x="8086725" y="28765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vistas administrativas definidas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4060F8D6-0BF0-4904-AC9F-A926AAE7149E}"/>
              </a:ext>
            </a:extLst>
          </p:cNvPr>
          <p:cNvSpPr>
            <a:spLocks noGrp="1"/>
          </p:cNvSpPr>
          <p:nvPr/>
        </p:nvSpPr>
        <p:spPr>
          <a:xfrm>
            <a:off x="7848600" y="3676650"/>
            <a:ext cx="314325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C8960EE4-A364-4811-8746-BADE3C102845}"/>
              </a:ext>
            </a:extLst>
          </p:cNvPr>
          <p:cNvSpPr>
            <a:spLocks noGrp="1"/>
          </p:cNvSpPr>
          <p:nvPr/>
        </p:nvSpPr>
        <p:spPr>
          <a:xfrm>
            <a:off x="7848600" y="3676650"/>
            <a:ext cx="76200" cy="1066800"/>
          </a:xfrm>
          <a:prstGeom prst="rect">
            <a:avLst/>
          </a:prstGeom>
          <a:solidFill>
            <a:srgbClr val="10B981"/>
          </a:solidFill>
          <a:ln w="0">
            <a:noFill/>
            <a:prstDash val="solid"/>
          </a:ln>
        </p:spPr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3C8580EE-43ED-4C4E-88DF-E6A654D28AB3}"/>
              </a:ext>
            </a:extLst>
          </p:cNvPr>
          <p:cNvSpPr>
            <a:spLocks noGrp="1"/>
          </p:cNvSpPr>
          <p:nvPr/>
        </p:nvSpPr>
        <p:spPr>
          <a:xfrm>
            <a:off x="8086725" y="3810000"/>
            <a:ext cx="2781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400" b="1">
                <a:solidFill>
                  <a:srgbClr val="1A365D"/>
                </a:solidFill>
              </a:defRPr>
            </a:pPr>
            <a:r>
              <a:rPr sz="2400" b="1">
                <a:solidFill>
                  <a:srgbClr val="1A365D"/>
                </a:solidFill>
              </a:rPr>
              <a:t>4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6E353E0A-A7AD-46EF-8390-CFF14B229543}"/>
              </a:ext>
            </a:extLst>
          </p:cNvPr>
          <p:cNvSpPr>
            <a:spLocks noGrp="1"/>
          </p:cNvSpPr>
          <p:nvPr/>
        </p:nvSpPr>
        <p:spPr>
          <a:xfrm>
            <a:off x="8086725" y="426720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áreas usuarias beneficiadas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C2656A43-7D79-4D5D-9323-B19EB02AF0C8}"/>
              </a:ext>
            </a:extLst>
          </p:cNvPr>
          <p:cNvSpPr>
            <a:spLocks noGrp="1"/>
          </p:cNvSpPr>
          <p:nvPr/>
        </p:nvSpPr>
        <p:spPr>
          <a:xfrm>
            <a:off x="7848600" y="50673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1A365D"/>
                </a:solidFill>
              </a:defRPr>
            </a:pPr>
            <a:r>
              <a:rPr sz="1050" b="1">
                <a:solidFill>
                  <a:srgbClr val="1A365D"/>
                </a:solidFill>
              </a:rPr>
              <a:t>Oportunidad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19389312-7AAE-4093-89BE-3F51C35F2CF2}"/>
              </a:ext>
            </a:extLst>
          </p:cNvPr>
          <p:cNvSpPr>
            <a:spLocks noGrp="1"/>
          </p:cNvSpPr>
          <p:nvPr/>
        </p:nvSpPr>
        <p:spPr>
          <a:xfrm>
            <a:off x="7848600" y="5353050"/>
            <a:ext cx="314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1E293B"/>
                </a:solidFill>
              </a:defRPr>
            </a:pPr>
            <a:r>
              <a:rPr sz="1425" b="1">
                <a:solidFill>
                  <a:srgbClr val="1E293B"/>
                </a:solidFill>
              </a:rPr>
              <a:t>Aporte: decisiones verificables y menor riesgo operativo.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4F5CA8D6-0C11-4A84-8E3D-D346BC299353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E8B60B1-E31F-4DBB-86AA-3DA585337ECD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1181990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ángulo 40">
            <a:extLst>
              <a:ext uri="{FF2B5EF4-FFF2-40B4-BE49-F238E27FC236}">
                <a16:creationId xmlns:a16="http://schemas.microsoft.com/office/drawing/2014/main" id="{6FA4A935-D449-4FDB-A026-540A500487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5A02D03-A378-4DFA-A323-1C29F3ECCC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648FB90-1685-4BB2-96E5-CE4EA713965D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SOLUCIÓN PROPUESTA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8826C80-BD7C-4F71-B68C-9CE111E34A3A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4BF3E41-A589-420B-BAA0-D1892BDB59FE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Un MVP administrativo organizado en ocho dominios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E011947-BEDB-400A-8F8F-69AB73AE1C90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El alcance se mantiene exclusivamente en Aprueba Administración.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721AB3AE-4123-4B50-9ECE-E9A00A1C757D}"/>
              </a:ext>
            </a:extLst>
          </p:cNvPr>
          <p:cNvSpPr>
            <a:spLocks noGrp="1"/>
          </p:cNvSpPr>
          <p:nvPr/>
        </p:nvSpPr>
        <p:spPr>
          <a:xfrm>
            <a:off x="628650" y="207645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5B85B26-EDE1-4800-AD46-CA5616420189}"/>
              </a:ext>
            </a:extLst>
          </p:cNvPr>
          <p:cNvSpPr>
            <a:spLocks noGrp="1"/>
          </p:cNvSpPr>
          <p:nvPr/>
        </p:nvSpPr>
        <p:spPr>
          <a:xfrm>
            <a:off x="800100" y="22288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2C9AD03-7286-4D03-8671-0FCE903EAD2A}"/>
              </a:ext>
            </a:extLst>
          </p:cNvPr>
          <p:cNvSpPr>
            <a:spLocks noGrp="1"/>
          </p:cNvSpPr>
          <p:nvPr/>
        </p:nvSpPr>
        <p:spPr>
          <a:xfrm>
            <a:off x="800100" y="25336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Resumen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3DCC8D0-0068-426F-9982-4B9B051AA722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Indicadores y estado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08DF432-B4A0-43CE-BE4A-41B5B42B39BF}"/>
              </a:ext>
            </a:extLst>
          </p:cNvPr>
          <p:cNvSpPr>
            <a:spLocks noGrp="1"/>
          </p:cNvSpPr>
          <p:nvPr/>
        </p:nvSpPr>
        <p:spPr>
          <a:xfrm>
            <a:off x="3352800" y="207645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7128AAF-8B67-4B46-B4AF-31B627DDB60E}"/>
              </a:ext>
            </a:extLst>
          </p:cNvPr>
          <p:cNvSpPr>
            <a:spLocks noGrp="1"/>
          </p:cNvSpPr>
          <p:nvPr/>
        </p:nvSpPr>
        <p:spPr>
          <a:xfrm>
            <a:off x="3524250" y="22288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02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B6F750D-CB27-4786-B41F-9992F68F8E4E}"/>
              </a:ext>
            </a:extLst>
          </p:cNvPr>
          <p:cNvSpPr>
            <a:spLocks noGrp="1"/>
          </p:cNvSpPr>
          <p:nvPr/>
        </p:nvSpPr>
        <p:spPr>
          <a:xfrm>
            <a:off x="3524250" y="25336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Comercial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47C6405-B401-45D8-9743-318D0A0901E4}"/>
              </a:ext>
            </a:extLst>
          </p:cNvPr>
          <p:cNvSpPr>
            <a:spLocks noGrp="1"/>
          </p:cNvSpPr>
          <p:nvPr/>
        </p:nvSpPr>
        <p:spPr>
          <a:xfrm>
            <a:off x="3524250" y="29718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Conversión e ingresos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69AFE203-A219-406C-BF08-0CE5DB7A5102}"/>
              </a:ext>
            </a:extLst>
          </p:cNvPr>
          <p:cNvSpPr>
            <a:spLocks noGrp="1"/>
          </p:cNvSpPr>
          <p:nvPr/>
        </p:nvSpPr>
        <p:spPr>
          <a:xfrm>
            <a:off x="6076950" y="207645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16CB166-735C-44C4-96F1-20A199CEA763}"/>
              </a:ext>
            </a:extLst>
          </p:cNvPr>
          <p:cNvSpPr>
            <a:spLocks noGrp="1"/>
          </p:cNvSpPr>
          <p:nvPr/>
        </p:nvSpPr>
        <p:spPr>
          <a:xfrm>
            <a:off x="6248400" y="22288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03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5FBD002-5C5B-42BF-814A-CA1759872F14}"/>
              </a:ext>
            </a:extLst>
          </p:cNvPr>
          <p:cNvSpPr>
            <a:spLocks noGrp="1"/>
          </p:cNvSpPr>
          <p:nvPr/>
        </p:nvSpPr>
        <p:spPr>
          <a:xfrm>
            <a:off x="6248400" y="25336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Sponsors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A6AF31E-719F-4DFC-8BAF-3197EE940D8D}"/>
              </a:ext>
            </a:extLst>
          </p:cNvPr>
          <p:cNvSpPr>
            <a:spLocks noGrp="1"/>
          </p:cNvSpPr>
          <p:nvPr/>
        </p:nvSpPr>
        <p:spPr>
          <a:xfrm>
            <a:off x="6248400" y="29718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Alianzas y campañas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2673B461-4E03-4F60-9D8E-372B8080E9BB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3C455640-B082-4A43-9C23-D8C2266483C9}"/>
              </a:ext>
            </a:extLst>
          </p:cNvPr>
          <p:cNvSpPr>
            <a:spLocks noGrp="1"/>
          </p:cNvSpPr>
          <p:nvPr/>
        </p:nvSpPr>
        <p:spPr>
          <a:xfrm>
            <a:off x="8972550" y="22288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04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22B494D7-ED67-467F-87EB-481C458779A9}"/>
              </a:ext>
            </a:extLst>
          </p:cNvPr>
          <p:cNvSpPr>
            <a:spLocks noGrp="1"/>
          </p:cNvSpPr>
          <p:nvPr/>
        </p:nvSpPr>
        <p:spPr>
          <a:xfrm>
            <a:off x="8972550" y="25336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Operativa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192DCC9-1C33-4EAC-9372-9D8057A9B991}"/>
              </a:ext>
            </a:extLst>
          </p:cNvPr>
          <p:cNvSpPr>
            <a:spLocks noGrp="1"/>
          </p:cNvSpPr>
          <p:nvPr/>
        </p:nvSpPr>
        <p:spPr>
          <a:xfrm>
            <a:off x="8972550" y="29718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Estado del servicio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F97FD7E2-1678-4B15-9037-907ABE7AF365}"/>
              </a:ext>
            </a:extLst>
          </p:cNvPr>
          <p:cNvSpPr>
            <a:spLocks noGrp="1"/>
          </p:cNvSpPr>
          <p:nvPr/>
        </p:nvSpPr>
        <p:spPr>
          <a:xfrm>
            <a:off x="628650" y="373380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347B021-5800-48E5-B090-6BBFF16FCCC8}"/>
              </a:ext>
            </a:extLst>
          </p:cNvPr>
          <p:cNvSpPr>
            <a:spLocks noGrp="1"/>
          </p:cNvSpPr>
          <p:nvPr/>
        </p:nvSpPr>
        <p:spPr>
          <a:xfrm>
            <a:off x="800100" y="3886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05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4491036B-BF00-4AF5-9EFC-0702C274C560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Usuarios y soporte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9ECD2F89-0EDA-495C-B44D-DEB2F8ED896B}"/>
              </a:ext>
            </a:extLst>
          </p:cNvPr>
          <p:cNvSpPr>
            <a:spLocks noGrp="1"/>
          </p:cNvSpPr>
          <p:nvPr/>
        </p:nvSpPr>
        <p:spPr>
          <a:xfrm>
            <a:off x="800100" y="46291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Cuentas e incidencias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EDEED007-D483-4FEE-8A8D-4273EBB03416}"/>
              </a:ext>
            </a:extLst>
          </p:cNvPr>
          <p:cNvSpPr>
            <a:spLocks noGrp="1"/>
          </p:cNvSpPr>
          <p:nvPr/>
        </p:nvSpPr>
        <p:spPr>
          <a:xfrm>
            <a:off x="3352800" y="373380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BB43EB7-FA18-47E8-89DE-1E186B9128CB}"/>
              </a:ext>
            </a:extLst>
          </p:cNvPr>
          <p:cNvSpPr>
            <a:spLocks noGrp="1"/>
          </p:cNvSpPr>
          <p:nvPr/>
        </p:nvSpPr>
        <p:spPr>
          <a:xfrm>
            <a:off x="3524250" y="3886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06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7ED6741-71C9-479F-9AD6-A6D00DED8AE4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Tutores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4DFA804-2605-4090-A782-F71533BD6BE2}"/>
              </a:ext>
            </a:extLst>
          </p:cNvPr>
          <p:cNvSpPr>
            <a:spLocks noGrp="1"/>
          </p:cNvSpPr>
          <p:nvPr/>
        </p:nvSpPr>
        <p:spPr>
          <a:xfrm>
            <a:off x="3524250" y="46291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Gestión de colaboradores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D189DEEC-03EF-43F0-8BF7-0E8C59AE27C3}"/>
              </a:ext>
            </a:extLst>
          </p:cNvPr>
          <p:cNvSpPr>
            <a:spLocks noGrp="1"/>
          </p:cNvSpPr>
          <p:nvPr/>
        </p:nvSpPr>
        <p:spPr>
          <a:xfrm>
            <a:off x="6076950" y="373380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3EB7F2B8-8322-40E0-BD82-047B0686004E}"/>
              </a:ext>
            </a:extLst>
          </p:cNvPr>
          <p:cNvSpPr>
            <a:spLocks noGrp="1"/>
          </p:cNvSpPr>
          <p:nvPr/>
        </p:nvSpPr>
        <p:spPr>
          <a:xfrm>
            <a:off x="6248400" y="3886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07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DDA7C070-C3ED-4856-B07B-201DD1F45F81}"/>
              </a:ext>
            </a:extLst>
          </p:cNvPr>
          <p:cNvSpPr>
            <a:spLocks noGrp="1"/>
          </p:cNvSpPr>
          <p:nvPr/>
        </p:nvSpPr>
        <p:spPr>
          <a:xfrm>
            <a:off x="6248400" y="419100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Contenido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50905C88-ADC7-4E0A-912F-830B6569FA9B}"/>
              </a:ext>
            </a:extLst>
          </p:cNvPr>
          <p:cNvSpPr>
            <a:spLocks noGrp="1"/>
          </p:cNvSpPr>
          <p:nvPr/>
        </p:nvSpPr>
        <p:spPr>
          <a:xfrm>
            <a:off x="6248400" y="46291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Ensayos y material</a:t>
            </a: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8FFB7306-F9BA-4C51-8ABF-F803B85313E0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2400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5C2F78F8-610B-49BA-836A-D480D9BC51D1}"/>
              </a:ext>
            </a:extLst>
          </p:cNvPr>
          <p:cNvSpPr>
            <a:spLocks noGrp="1"/>
          </p:cNvSpPr>
          <p:nvPr/>
        </p:nvSpPr>
        <p:spPr>
          <a:xfrm>
            <a:off x="8972550" y="38862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08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E059E18B-CEBC-491D-B274-7555FBD5304B}"/>
              </a:ext>
            </a:extLst>
          </p:cNvPr>
          <p:cNvSpPr>
            <a:spLocks noGrp="1"/>
          </p:cNvSpPr>
          <p:nvPr/>
        </p:nvSpPr>
        <p:spPr>
          <a:xfrm>
            <a:off x="8972550" y="419100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Planes y productos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31F247C2-6D85-40B2-8408-0A2E08F991C0}"/>
              </a:ext>
            </a:extLst>
          </p:cNvPr>
          <p:cNvSpPr>
            <a:spLocks noGrp="1"/>
          </p:cNvSpPr>
          <p:nvPr/>
        </p:nvSpPr>
        <p:spPr>
          <a:xfrm>
            <a:off x="8972550" y="46291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Oferta freemium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F40C3F46-0018-4BDE-8F95-93655DE069CF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A438E008-0ED1-430E-A4DE-EB6DF6132104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1098355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ángulo 38">
            <a:extLst>
              <a:ext uri="{FF2B5EF4-FFF2-40B4-BE49-F238E27FC236}">
                <a16:creationId xmlns:a16="http://schemas.microsoft.com/office/drawing/2014/main" id="{A84AE0BF-8BDE-4D38-BEA8-FE3B93B6FE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0CEE51B-6578-4769-9FBA-8861E8243F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735E24A-4C1F-4FBA-9E65-5014CFB9C27D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EQUIPO Y APORTES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982FB47-02B6-422F-9142-2FECFC583DCA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9A6F98B-33F7-43B1-920D-A13BC4B1CFCF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Tres integrantes, roles e intereses profesionales complementarios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1848CF2-5ABE-484C-BB30-330FFA05A377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Cada integrante conecta sus intereses con responsabilidades verificables.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49996EA-1692-43EE-979C-6DCF277CF250}"/>
              </a:ext>
            </a:extLst>
          </p:cNvPr>
          <p:cNvSpPr>
            <a:spLocks noGrp="1"/>
          </p:cNvSpPr>
          <p:nvPr/>
        </p:nvSpPr>
        <p:spPr>
          <a:xfrm>
            <a:off x="628650" y="2190750"/>
            <a:ext cx="3295650" cy="3333750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D6DCD99-932C-4FFD-A866-F02917D986EB}"/>
              </a:ext>
            </a:extLst>
          </p:cNvPr>
          <p:cNvSpPr>
            <a:spLocks noGrp="1"/>
          </p:cNvSpPr>
          <p:nvPr/>
        </p:nvSpPr>
        <p:spPr>
          <a:xfrm>
            <a:off x="628650" y="2190750"/>
            <a:ext cx="3295650" cy="95250"/>
          </a:xfrm>
          <a:prstGeom prst="rect">
            <a:avLst/>
          </a:prstGeom>
          <a:solidFill>
            <a:srgbClr val="DC2626"/>
          </a:solidFill>
          <a:ln w="0">
            <a:noFill/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2E56C67-FF04-4631-A979-B0347D4B6B2D}"/>
              </a:ext>
            </a:extLst>
          </p:cNvPr>
          <p:cNvSpPr>
            <a:spLocks noGrp="1"/>
          </p:cNvSpPr>
          <p:nvPr/>
        </p:nvSpPr>
        <p:spPr>
          <a:xfrm>
            <a:off x="857250" y="2505075"/>
            <a:ext cx="2762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75" b="1">
                <a:solidFill>
                  <a:srgbClr val="1A365D"/>
                </a:solidFill>
              </a:defRPr>
            </a:pPr>
            <a:r>
              <a:rPr sz="1575" b="1">
                <a:solidFill>
                  <a:srgbClr val="1A365D"/>
                </a:solidFill>
              </a:rPr>
              <a:t>TSUNG-HAO LIU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CAD224B-7CD8-4254-8A6E-56298B6752EB}"/>
              </a:ext>
            </a:extLst>
          </p:cNvPr>
          <p:cNvSpPr>
            <a:spLocks noGrp="1"/>
          </p:cNvSpPr>
          <p:nvPr/>
        </p:nvSpPr>
        <p:spPr>
          <a:xfrm>
            <a:off x="857250" y="28956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Backend · cloud · seguridad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87AD476-4947-4859-997D-C1EEED2C2531}"/>
              </a:ext>
            </a:extLst>
          </p:cNvPr>
          <p:cNvSpPr>
            <a:spLocks noGrp="1"/>
          </p:cNvSpPr>
          <p:nvPr/>
        </p:nvSpPr>
        <p:spPr>
          <a:xfrm>
            <a:off x="857250" y="35814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73626CA-09BB-4079-AC64-B69872BF7379}"/>
              </a:ext>
            </a:extLst>
          </p:cNvPr>
          <p:cNvSpPr>
            <a:spLocks noGrp="1"/>
          </p:cNvSpPr>
          <p:nvPr/>
        </p:nvSpPr>
        <p:spPr>
          <a:xfrm>
            <a:off x="1066800" y="34861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API y autenticación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95D86036-22CC-498A-AB5F-9F27FDAC6C8B}"/>
              </a:ext>
            </a:extLst>
          </p:cNvPr>
          <p:cNvSpPr>
            <a:spLocks noGrp="1"/>
          </p:cNvSpPr>
          <p:nvPr/>
        </p:nvSpPr>
        <p:spPr>
          <a:xfrm>
            <a:off x="857250" y="4133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F935733-90B5-4B85-A036-3C9428A40FBE}"/>
              </a:ext>
            </a:extLst>
          </p:cNvPr>
          <p:cNvSpPr>
            <a:spLocks noGrp="1"/>
          </p:cNvSpPr>
          <p:nvPr/>
        </p:nvSpPr>
        <p:spPr>
          <a:xfrm>
            <a:off x="1066800" y="403860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Integración y despliegue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CCAFCEEB-B62B-4218-9CFD-5313DA198FA4}"/>
              </a:ext>
            </a:extLst>
          </p:cNvPr>
          <p:cNvSpPr>
            <a:spLocks noGrp="1"/>
          </p:cNvSpPr>
          <p:nvPr/>
        </p:nvSpPr>
        <p:spPr>
          <a:xfrm>
            <a:off x="857250" y="4686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2CB4A71-7C8A-4A37-9DB2-28A70EDC2916}"/>
              </a:ext>
            </a:extLst>
          </p:cNvPr>
          <p:cNvSpPr>
            <a:spLocks noGrp="1"/>
          </p:cNvSpPr>
          <p:nvPr/>
        </p:nvSpPr>
        <p:spPr>
          <a:xfrm>
            <a:off x="1066800" y="45910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Machine learning futuro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3008A983-3151-4C0B-A3A4-0B119E3001C9}"/>
              </a:ext>
            </a:extLst>
          </p:cNvPr>
          <p:cNvSpPr>
            <a:spLocks noGrp="1"/>
          </p:cNvSpPr>
          <p:nvPr/>
        </p:nvSpPr>
        <p:spPr>
          <a:xfrm>
            <a:off x="4267200" y="2190750"/>
            <a:ext cx="3295650" cy="3333750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355C8E0-42D5-4013-ABCC-3A8FAEFDD5E0}"/>
              </a:ext>
            </a:extLst>
          </p:cNvPr>
          <p:cNvSpPr>
            <a:spLocks noGrp="1"/>
          </p:cNvSpPr>
          <p:nvPr/>
        </p:nvSpPr>
        <p:spPr>
          <a:xfrm>
            <a:off x="4267200" y="2190750"/>
            <a:ext cx="3295650" cy="952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E3A9833-E1FF-4F33-B7D4-5001E4FFA073}"/>
              </a:ext>
            </a:extLst>
          </p:cNvPr>
          <p:cNvSpPr>
            <a:spLocks noGrp="1"/>
          </p:cNvSpPr>
          <p:nvPr/>
        </p:nvSpPr>
        <p:spPr>
          <a:xfrm>
            <a:off x="4495800" y="2505075"/>
            <a:ext cx="2762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75" b="1">
                <a:solidFill>
                  <a:srgbClr val="1A365D"/>
                </a:solidFill>
              </a:defRPr>
            </a:pPr>
            <a:r>
              <a:rPr sz="1575" b="1">
                <a:solidFill>
                  <a:srgbClr val="1A365D"/>
                </a:solidFill>
              </a:rPr>
              <a:t>CATALINA PADILLA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EA87AC0-54EC-4FB2-B300-45B54B067D1E}"/>
              </a:ext>
            </a:extLst>
          </p:cNvPr>
          <p:cNvSpPr>
            <a:spLocks noGrp="1"/>
          </p:cNvSpPr>
          <p:nvPr/>
        </p:nvSpPr>
        <p:spPr>
          <a:xfrm>
            <a:off x="4495800" y="28956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Datos · analítica · producto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3F3137A2-A169-43FA-BA83-BAB839ADDDE7}"/>
              </a:ext>
            </a:extLst>
          </p:cNvPr>
          <p:cNvSpPr>
            <a:spLocks noGrp="1"/>
          </p:cNvSpPr>
          <p:nvPr/>
        </p:nvSpPr>
        <p:spPr>
          <a:xfrm>
            <a:off x="4495800" y="35814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D55EBB0-D1E0-4F06-9910-E1D85C7856DC}"/>
              </a:ext>
            </a:extLst>
          </p:cNvPr>
          <p:cNvSpPr>
            <a:spLocks noGrp="1"/>
          </p:cNvSpPr>
          <p:nvPr/>
        </p:nvSpPr>
        <p:spPr>
          <a:xfrm>
            <a:off x="4705350" y="34861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Modelo Firestore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BD52816B-68A5-4B9A-9FAA-277E46460E1F}"/>
              </a:ext>
            </a:extLst>
          </p:cNvPr>
          <p:cNvSpPr>
            <a:spLocks noGrp="1"/>
          </p:cNvSpPr>
          <p:nvPr/>
        </p:nvSpPr>
        <p:spPr>
          <a:xfrm>
            <a:off x="4495800" y="4133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24959B76-CB52-465D-B23D-88EF54036B56}"/>
              </a:ext>
            </a:extLst>
          </p:cNvPr>
          <p:cNvSpPr>
            <a:spLocks noGrp="1"/>
          </p:cNvSpPr>
          <p:nvPr/>
        </p:nvSpPr>
        <p:spPr>
          <a:xfrm>
            <a:off x="4705350" y="403860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Indicadores de negocio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92BB115D-E751-4BDA-B713-49BD3935491E}"/>
              </a:ext>
            </a:extLst>
          </p:cNvPr>
          <p:cNvSpPr>
            <a:spLocks noGrp="1"/>
          </p:cNvSpPr>
          <p:nvPr/>
        </p:nvSpPr>
        <p:spPr>
          <a:xfrm>
            <a:off x="4495800" y="4686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F0E9D414-1778-481C-9133-35A5E70CD5E7}"/>
              </a:ext>
            </a:extLst>
          </p:cNvPr>
          <p:cNvSpPr>
            <a:spLocks noGrp="1"/>
          </p:cNvSpPr>
          <p:nvPr/>
        </p:nvSpPr>
        <p:spPr>
          <a:xfrm>
            <a:off x="4705350" y="45910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Machine learning futuro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D51722B7-B2D8-4254-84FE-A3E55656857C}"/>
              </a:ext>
            </a:extLst>
          </p:cNvPr>
          <p:cNvSpPr>
            <a:spLocks noGrp="1"/>
          </p:cNvSpPr>
          <p:nvPr/>
        </p:nvSpPr>
        <p:spPr>
          <a:xfrm>
            <a:off x="7905750" y="2190750"/>
            <a:ext cx="3295650" cy="3333750"/>
          </a:xfrm>
          <a:prstGeom prst="roundRect">
            <a:avLst>
              <a:gd name="adj" fmla="val 3468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917C00E-95DD-441C-AD47-372D14A2871B}"/>
              </a:ext>
            </a:extLst>
          </p:cNvPr>
          <p:cNvSpPr>
            <a:spLocks noGrp="1"/>
          </p:cNvSpPr>
          <p:nvPr/>
        </p:nvSpPr>
        <p:spPr>
          <a:xfrm>
            <a:off x="7905750" y="2190750"/>
            <a:ext cx="3295650" cy="95250"/>
          </a:xfrm>
          <a:prstGeom prst="rect">
            <a:avLst/>
          </a:prstGeom>
          <a:solidFill>
            <a:srgbClr val="10B981"/>
          </a:solidFill>
          <a:ln w="0">
            <a:noFill/>
            <a:prstDash val="solid"/>
          </a:ln>
        </p:spPr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BED125AB-2F2E-4F40-8A51-B8827F14568A}"/>
              </a:ext>
            </a:extLst>
          </p:cNvPr>
          <p:cNvSpPr>
            <a:spLocks noGrp="1"/>
          </p:cNvSpPr>
          <p:nvPr/>
        </p:nvSpPr>
        <p:spPr>
          <a:xfrm>
            <a:off x="8134350" y="2505075"/>
            <a:ext cx="2762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75" b="1">
                <a:solidFill>
                  <a:srgbClr val="1A365D"/>
                </a:solidFill>
              </a:defRPr>
            </a:pPr>
            <a:r>
              <a:rPr sz="1575" b="1">
                <a:solidFill>
                  <a:srgbClr val="1A365D"/>
                </a:solidFill>
              </a:rPr>
              <a:t>FELIPE ROJAS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8EF5BB60-49B1-4656-A53D-7CC0E07DA06F}"/>
              </a:ext>
            </a:extLst>
          </p:cNvPr>
          <p:cNvSpPr>
            <a:spLocks noGrp="1"/>
          </p:cNvSpPr>
          <p:nvPr/>
        </p:nvSpPr>
        <p:spPr>
          <a:xfrm>
            <a:off x="8134350" y="289560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Arquitectura · QA · DevOps</a:t>
            </a: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28062754-62E6-4874-8363-E3F6DDA19A26}"/>
              </a:ext>
            </a:extLst>
          </p:cNvPr>
          <p:cNvSpPr>
            <a:spLocks noGrp="1"/>
          </p:cNvSpPr>
          <p:nvPr/>
        </p:nvSpPr>
        <p:spPr>
          <a:xfrm>
            <a:off x="8134350" y="35814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56376C5A-1F38-4537-B976-1EC4BBD7F531}"/>
              </a:ext>
            </a:extLst>
          </p:cNvPr>
          <p:cNvSpPr>
            <a:spLocks noGrp="1"/>
          </p:cNvSpPr>
          <p:nvPr/>
        </p:nvSpPr>
        <p:spPr>
          <a:xfrm>
            <a:off x="8343900" y="34861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Pruebas y seguridad</a:t>
            </a:r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D6E81EE4-BB4D-4C23-AA97-E2D5EC96C921}"/>
              </a:ext>
            </a:extLst>
          </p:cNvPr>
          <p:cNvSpPr>
            <a:spLocks noGrp="1"/>
          </p:cNvSpPr>
          <p:nvPr/>
        </p:nvSpPr>
        <p:spPr>
          <a:xfrm>
            <a:off x="8134350" y="4133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83704AA9-157C-4B67-BECC-B347F55C7D39}"/>
              </a:ext>
            </a:extLst>
          </p:cNvPr>
          <p:cNvSpPr>
            <a:spLocks noGrp="1"/>
          </p:cNvSpPr>
          <p:nvPr/>
        </p:nvSpPr>
        <p:spPr>
          <a:xfrm>
            <a:off x="8343900" y="403860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Docker y CI/CD</a:t>
            </a: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CCCA8858-6974-4116-AB1E-5D2CDBF013E3}"/>
              </a:ext>
            </a:extLst>
          </p:cNvPr>
          <p:cNvSpPr>
            <a:spLocks noGrp="1"/>
          </p:cNvSpPr>
          <p:nvPr/>
        </p:nvSpPr>
        <p:spPr>
          <a:xfrm>
            <a:off x="8134350" y="4686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95145C2F-5F04-463A-85B4-B2A946BBFFBE}"/>
              </a:ext>
            </a:extLst>
          </p:cNvPr>
          <p:cNvSpPr>
            <a:spLocks noGrp="1"/>
          </p:cNvSpPr>
          <p:nvPr/>
        </p:nvSpPr>
        <p:spPr>
          <a:xfrm>
            <a:off x="8343900" y="4591050"/>
            <a:ext cx="2514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Automatización futura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09E3B544-110E-49CB-9895-7C5340C61356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DCCF9CB0-CBCE-43D1-AEBD-FA85BF2278EE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Distribución inicial sujeta a ajuste durante la planificación de cada sprint.</a:t>
            </a:r>
          </a:p>
        </p:txBody>
      </p:sp>
    </p:spTree>
    <p:extLst>
      <p:ext uri="{BB962C8B-B14F-4D97-AF65-F5344CB8AC3E}">
        <p14:creationId xmlns:p14="http://schemas.microsoft.com/office/powerpoint/2010/main" val="1156807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DE72DC-49BE-48E3-847B-95A3872147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132BB12-BEB5-4AF5-8F84-3ECC6D136F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AB8A4C6-14E6-4DE1-8D76-CE25CE488D9D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PERFIL DE EGRESO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9DDFF1E-7925-4990-A40B-49AB2CDC0F2D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9BAFE28-7DBC-4201-8EB6-EA77EB169814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La solución permite evidenciar competencias de ingeniería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F7FCA85-2C53-4942-8AD9-88BA902021E8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Cada competencia se vincula con un artefacto verificable.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3A26FD9-62F2-4596-A2FC-295805B69855}"/>
              </a:ext>
            </a:extLst>
          </p:cNvPr>
          <p:cNvSpPr>
            <a:spLocks noGrp="1"/>
          </p:cNvSpPr>
          <p:nvPr/>
        </p:nvSpPr>
        <p:spPr>
          <a:xfrm>
            <a:off x="685800" y="2038350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0923064-8D22-4D66-87AB-5AAD0EF5A534}"/>
              </a:ext>
            </a:extLst>
          </p:cNvPr>
          <p:cNvSpPr>
            <a:spLocks noGrp="1"/>
          </p:cNvSpPr>
          <p:nvPr/>
        </p:nvSpPr>
        <p:spPr>
          <a:xfrm>
            <a:off x="1200150" y="2076450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307313E-8A15-4F0F-A368-E6519F4F7D3F}"/>
              </a:ext>
            </a:extLst>
          </p:cNvPr>
          <p:cNvSpPr>
            <a:spLocks noGrp="1"/>
          </p:cNvSpPr>
          <p:nvPr/>
        </p:nvSpPr>
        <p:spPr>
          <a:xfrm>
            <a:off x="1466850" y="203835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Diseño de soluciones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C82AA0E-F5CE-44D1-9474-DAFFDA87B661}"/>
              </a:ext>
            </a:extLst>
          </p:cNvPr>
          <p:cNvSpPr>
            <a:spLocks noGrp="1"/>
          </p:cNvSpPr>
          <p:nvPr/>
        </p:nvSpPr>
        <p:spPr>
          <a:xfrm>
            <a:off x="4552950" y="2038350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Requisitos, arquitectura y modelo de datos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186A2B8-F902-45E4-9202-084DFA5DAAF4}"/>
              </a:ext>
            </a:extLst>
          </p:cNvPr>
          <p:cNvSpPr>
            <a:spLocks noGrp="1"/>
          </p:cNvSpPr>
          <p:nvPr/>
        </p:nvSpPr>
        <p:spPr>
          <a:xfrm>
            <a:off x="685800" y="2828925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75D39CE-9BE2-49F0-ACEE-2B6106EBDA2B}"/>
              </a:ext>
            </a:extLst>
          </p:cNvPr>
          <p:cNvSpPr>
            <a:spLocks noGrp="1"/>
          </p:cNvSpPr>
          <p:nvPr/>
        </p:nvSpPr>
        <p:spPr>
          <a:xfrm>
            <a:off x="1200150" y="2867025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8FFC58F-ABA6-4DE6-BC14-F958CAEF20EC}"/>
              </a:ext>
            </a:extLst>
          </p:cNvPr>
          <p:cNvSpPr>
            <a:spLocks noGrp="1"/>
          </p:cNvSpPr>
          <p:nvPr/>
        </p:nvSpPr>
        <p:spPr>
          <a:xfrm>
            <a:off x="1466850" y="2828925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Desarrollo de software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E733FF7-582E-418C-84F0-2B3066C1B970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React, Express y contratos de API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D601C79-ABFB-416C-AAE2-77559817C9E2}"/>
              </a:ext>
            </a:extLst>
          </p:cNvPr>
          <p:cNvSpPr>
            <a:spLocks noGrp="1"/>
          </p:cNvSpPr>
          <p:nvPr/>
        </p:nvSpPr>
        <p:spPr>
          <a:xfrm>
            <a:off x="685800" y="3619500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03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E9209FB-3489-48F1-811F-2AB93E5BE0BC}"/>
              </a:ext>
            </a:extLst>
          </p:cNvPr>
          <p:cNvSpPr>
            <a:spLocks noGrp="1"/>
          </p:cNvSpPr>
          <p:nvPr/>
        </p:nvSpPr>
        <p:spPr>
          <a:xfrm>
            <a:off x="1200150" y="3657600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B9CFF5DD-B6CE-438D-9558-13ACE5B50E22}"/>
              </a:ext>
            </a:extLst>
          </p:cNvPr>
          <p:cNvSpPr>
            <a:spLocks noGrp="1"/>
          </p:cNvSpPr>
          <p:nvPr/>
        </p:nvSpPr>
        <p:spPr>
          <a:xfrm>
            <a:off x="1466850" y="36195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Gestión de proyectos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FC294AE-6417-4DF1-B473-2ECC4D3A76CA}"/>
              </a:ext>
            </a:extLst>
          </p:cNvPr>
          <p:cNvSpPr>
            <a:spLocks noGrp="1"/>
          </p:cNvSpPr>
          <p:nvPr/>
        </p:nvSpPr>
        <p:spPr>
          <a:xfrm>
            <a:off x="4552950" y="3619500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Backlogs, RACI, Gantt y riesgos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7604AFF-43AD-4C89-8B0E-D28FBECB3B6B}"/>
              </a:ext>
            </a:extLst>
          </p:cNvPr>
          <p:cNvSpPr>
            <a:spLocks noGrp="1"/>
          </p:cNvSpPr>
          <p:nvPr/>
        </p:nvSpPr>
        <p:spPr>
          <a:xfrm>
            <a:off x="685800" y="4410075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04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A3D9576-55FD-4067-A8FE-F276B0A3BA0A}"/>
              </a:ext>
            </a:extLst>
          </p:cNvPr>
          <p:cNvSpPr>
            <a:spLocks noGrp="1"/>
          </p:cNvSpPr>
          <p:nvPr/>
        </p:nvSpPr>
        <p:spPr>
          <a:xfrm>
            <a:off x="1200150" y="4448175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E4D8E0C-0F47-4CCA-86E7-90FB6A9DEF3A}"/>
              </a:ext>
            </a:extLst>
          </p:cNvPr>
          <p:cNvSpPr>
            <a:spLocks noGrp="1"/>
          </p:cNvSpPr>
          <p:nvPr/>
        </p:nvSpPr>
        <p:spPr>
          <a:xfrm>
            <a:off x="1466850" y="4410075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Calidad y seguridad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E1A3427A-9AE0-4F00-84B1-FFB1144A8482}"/>
              </a:ext>
            </a:extLst>
          </p:cNvPr>
          <p:cNvSpPr>
            <a:spLocks noGrp="1"/>
          </p:cNvSpPr>
          <p:nvPr/>
        </p:nvSpPr>
        <p:spPr>
          <a:xfrm>
            <a:off x="4552950" y="4410075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Casos de prueba, controles y trazabilidad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52E35DE-5003-4955-9875-5A453ADDEDCC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428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05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0181694A-6F05-46E9-9F83-CDE0BDBF32DE}"/>
              </a:ext>
            </a:extLst>
          </p:cNvPr>
          <p:cNvSpPr>
            <a:spLocks noGrp="1"/>
          </p:cNvSpPr>
          <p:nvPr/>
        </p:nvSpPr>
        <p:spPr>
          <a:xfrm>
            <a:off x="1200150" y="5238750"/>
            <a:ext cx="38100" cy="51435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C71CD3B3-017F-47B6-B7DC-9E5BC08AB092}"/>
              </a:ext>
            </a:extLst>
          </p:cNvPr>
          <p:cNvSpPr>
            <a:spLocks noGrp="1"/>
          </p:cNvSpPr>
          <p:nvPr/>
        </p:nvSpPr>
        <p:spPr>
          <a:xfrm>
            <a:off x="1466850" y="520065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1A365D"/>
                </a:solidFill>
              </a:defRPr>
            </a:pPr>
            <a:r>
              <a:rPr sz="1500" b="1">
                <a:solidFill>
                  <a:srgbClr val="1A365D"/>
                </a:solidFill>
              </a:rPr>
              <a:t>Comunicación profesional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5F94D814-3118-43E2-A74D-498129A8247A}"/>
              </a:ext>
            </a:extLst>
          </p:cNvPr>
          <p:cNvSpPr>
            <a:spLocks noGrp="1"/>
          </p:cNvSpPr>
          <p:nvPr/>
        </p:nvSpPr>
        <p:spPr>
          <a:xfrm>
            <a:off x="4552950" y="5200650"/>
            <a:ext cx="643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Informe, abstract y presentación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6BE7FD4B-6CD6-4CE0-A9DF-F5742436AF98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DA05A1F2-F528-44D3-BA4F-F634F4E19C2D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949535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2164B7FE-E98E-4988-8628-0DFFBE14CB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A74108-5A8D-4786-BFF6-8A7A252727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892672A-7BC3-4A65-8CF6-4C3FB9C65853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OBJETIVOS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810F631-B1E6-4376-8602-673903A38F1C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729E138-9F33-4296-A64E-4E3B0CA827A5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Objetivo general: desarrollar y validar la consola administrativa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CF58E72-9100-4EDE-8CFD-A2B76F8D34A2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Los objetivos conectan la problemática con un resultado verificable en 18 semanas.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78A554A-D91A-4E99-AE71-7E81E4B497D6}"/>
              </a:ext>
            </a:extLst>
          </p:cNvPr>
          <p:cNvSpPr>
            <a:spLocks noGrp="1"/>
          </p:cNvSpPr>
          <p:nvPr/>
        </p:nvSpPr>
        <p:spPr>
          <a:xfrm>
            <a:off x="628650" y="2076450"/>
            <a:ext cx="10668000" cy="1000125"/>
          </a:xfrm>
          <a:prstGeom prst="roundRect">
            <a:avLst>
              <a:gd name="adj" fmla="val 11429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05DCF66-72ED-4932-B967-B65534A4CB5B}"/>
              </a:ext>
            </a:extLst>
          </p:cNvPr>
          <p:cNvSpPr>
            <a:spLocks noGrp="1"/>
          </p:cNvSpPr>
          <p:nvPr/>
        </p:nvSpPr>
        <p:spPr>
          <a:xfrm>
            <a:off x="1000125" y="2266950"/>
            <a:ext cx="9906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Desarrollar y validar una consola web que centralice la gestión administrativa de Aprueba con seguridad, trazabilidad y calidad.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E2AF972-749D-49B6-9AB6-952CE8C186EB}"/>
              </a:ext>
            </a:extLst>
          </p:cNvPr>
          <p:cNvSpPr>
            <a:spLocks noGrp="1"/>
          </p:cNvSpPr>
          <p:nvPr/>
        </p:nvSpPr>
        <p:spPr>
          <a:xfrm>
            <a:off x="628650" y="3676650"/>
            <a:ext cx="2400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5B041"/>
                </a:solidFill>
              </a:defRPr>
            </a:pPr>
            <a:r>
              <a:rPr sz="1125" b="1">
                <a:solidFill>
                  <a:srgbClr val="F5B041"/>
                </a:solidFill>
              </a:rPr>
              <a:t>DEFINIR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27190F1-ABAD-4F24-A72D-83912B0EED56}"/>
              </a:ext>
            </a:extLst>
          </p:cNvPr>
          <p:cNvSpPr>
            <a:spLocks noGrp="1"/>
          </p:cNvSpPr>
          <p:nvPr/>
        </p:nvSpPr>
        <p:spPr>
          <a:xfrm>
            <a:off x="742950" y="4095750"/>
            <a:ext cx="2171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293B"/>
                </a:solidFill>
              </a:defRPr>
            </a:pPr>
            <a:r>
              <a:rPr sz="1350" b="1">
                <a:solidFill>
                  <a:srgbClr val="1E293B"/>
                </a:solidFill>
              </a:rPr>
              <a:t>alcance, actores, requisitos y criterios de aceptación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8774BAC-046A-4A21-A01F-E12679617E30}"/>
              </a:ext>
            </a:extLst>
          </p:cNvPr>
          <p:cNvSpPr>
            <a:spLocks noGrp="1"/>
          </p:cNvSpPr>
          <p:nvPr/>
        </p:nvSpPr>
        <p:spPr>
          <a:xfrm>
            <a:off x="3352800" y="3676650"/>
            <a:ext cx="2400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5B041"/>
                </a:solidFill>
              </a:defRPr>
            </a:pPr>
            <a:r>
              <a:rPr sz="1125" b="1">
                <a:solidFill>
                  <a:srgbClr val="F5B041"/>
                </a:solidFill>
              </a:rPr>
              <a:t>MODELAR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4A6D0C4-44D6-478D-96DB-7F8BF8375406}"/>
              </a:ext>
            </a:extLst>
          </p:cNvPr>
          <p:cNvSpPr>
            <a:spLocks noGrp="1"/>
          </p:cNvSpPr>
          <p:nvPr/>
        </p:nvSpPr>
        <p:spPr>
          <a:xfrm>
            <a:off x="3467100" y="4095750"/>
            <a:ext cx="2171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293B"/>
                </a:solidFill>
              </a:defRPr>
            </a:pPr>
            <a:r>
              <a:rPr sz="1350" b="1">
                <a:solidFill>
                  <a:srgbClr val="1E293B"/>
                </a:solidFill>
              </a:rPr>
              <a:t>arquitectura, datos, APIs y flujos principales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9C7D751-7945-440D-BEC5-4253AD7D740D}"/>
              </a:ext>
            </a:extLst>
          </p:cNvPr>
          <p:cNvSpPr>
            <a:spLocks noGrp="1"/>
          </p:cNvSpPr>
          <p:nvPr/>
        </p:nvSpPr>
        <p:spPr>
          <a:xfrm>
            <a:off x="6076950" y="3676650"/>
            <a:ext cx="2400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5B041"/>
                </a:solidFill>
              </a:defRPr>
            </a:pPr>
            <a:r>
              <a:rPr sz="1125" b="1">
                <a:solidFill>
                  <a:srgbClr val="F5B041"/>
                </a:solidFill>
              </a:rPr>
              <a:t>PLANIFICAR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A0F6ABD-6C51-4702-A942-998E31FB097B}"/>
              </a:ext>
            </a:extLst>
          </p:cNvPr>
          <p:cNvSpPr>
            <a:spLocks noGrp="1"/>
          </p:cNvSpPr>
          <p:nvPr/>
        </p:nvSpPr>
        <p:spPr>
          <a:xfrm>
            <a:off x="6191250" y="4095750"/>
            <a:ext cx="2171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293B"/>
                </a:solidFill>
              </a:defRPr>
            </a:pPr>
            <a:r>
              <a:rPr sz="1350" b="1">
                <a:solidFill>
                  <a:srgbClr val="1E293B"/>
                </a:solidFill>
              </a:rPr>
              <a:t>18 semanas con Scrum, hitos, riesgos y responsables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7FA8A0F-5FCE-4070-8F4A-46D43B59143F}"/>
              </a:ext>
            </a:extLst>
          </p:cNvPr>
          <p:cNvSpPr>
            <a:spLocks noGrp="1"/>
          </p:cNvSpPr>
          <p:nvPr/>
        </p:nvSpPr>
        <p:spPr>
          <a:xfrm>
            <a:off x="8801100" y="3676650"/>
            <a:ext cx="2400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F5B041"/>
                </a:solidFill>
              </a:defRPr>
            </a:pPr>
            <a:r>
              <a:rPr sz="1125" b="1">
                <a:solidFill>
                  <a:srgbClr val="F5B041"/>
                </a:solidFill>
              </a:rPr>
              <a:t>VERIFICAR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854FB5A-D752-48F8-9D88-05D6E1D824B3}"/>
              </a:ext>
            </a:extLst>
          </p:cNvPr>
          <p:cNvSpPr>
            <a:spLocks noGrp="1"/>
          </p:cNvSpPr>
          <p:nvPr/>
        </p:nvSpPr>
        <p:spPr>
          <a:xfrm>
            <a:off x="8915400" y="4095750"/>
            <a:ext cx="2171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1E293B"/>
                </a:solidFill>
              </a:defRPr>
            </a:pPr>
            <a:r>
              <a:rPr sz="1350" b="1">
                <a:solidFill>
                  <a:srgbClr val="1E293B"/>
                </a:solidFill>
              </a:rPr>
              <a:t>calidad, seguridad, accesibilidad y preparación del repositorio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B45779E7-FBCD-4B87-82DC-30A8E00CD02B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BF73FB0-AA83-4A4E-9545-A799D19672AC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83321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E74AD044-8ECB-484E-B391-6DF69B599B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84D2A90-17EF-440F-B8CE-2B7B802895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54E968D-2773-4411-B531-46FCA9CD8A5D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ARQUITECTURA PROPUESTA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1A13638-0327-4A71-B146-978E1A8E92C9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D786CB8-7377-4F77-A19A-56A08B166062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Arquitectura propuesta: tres capas y controles transversales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31C8A05-5E0A-43F4-A1F2-84FA5DFEE5FE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La base de código permite reconocer componentes; la integración funcional aún debe validarse.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8730991-C0D6-4776-B49D-5684EEE0246D}"/>
              </a:ext>
            </a:extLst>
          </p:cNvPr>
          <p:cNvSpPr>
            <a:spLocks noGrp="1"/>
          </p:cNvSpPr>
          <p:nvPr/>
        </p:nvSpPr>
        <p:spPr>
          <a:xfrm>
            <a:off x="1638300" y="2152650"/>
            <a:ext cx="78105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EC269BF-4AAA-42EE-A6A3-55FEC7F2CFBF}"/>
              </a:ext>
            </a:extLst>
          </p:cNvPr>
          <p:cNvSpPr>
            <a:spLocks noGrp="1"/>
          </p:cNvSpPr>
          <p:nvPr/>
        </p:nvSpPr>
        <p:spPr>
          <a:xfrm>
            <a:off x="1638300" y="2152650"/>
            <a:ext cx="123825" cy="8382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3055624-D830-4030-81DC-62482483B2E8}"/>
              </a:ext>
            </a:extLst>
          </p:cNvPr>
          <p:cNvSpPr>
            <a:spLocks noGrp="1"/>
          </p:cNvSpPr>
          <p:nvPr/>
        </p:nvSpPr>
        <p:spPr>
          <a:xfrm>
            <a:off x="2057400" y="22955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INTERFAZ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005C48C-2FE5-4D9D-B258-408B00536F41}"/>
              </a:ext>
            </a:extLst>
          </p:cNvPr>
          <p:cNvSpPr>
            <a:spLocks noGrp="1"/>
          </p:cNvSpPr>
          <p:nvPr/>
        </p:nvSpPr>
        <p:spPr>
          <a:xfrm>
            <a:off x="3829050" y="2276475"/>
            <a:ext cx="5191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1A365D"/>
                </a:solidFill>
              </a:defRPr>
            </a:pPr>
            <a:r>
              <a:rPr sz="1650" b="1">
                <a:solidFill>
                  <a:srgbClr val="1A365D"/>
                </a:solidFill>
              </a:rPr>
              <a:t>React 18 · Vite · React Router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154D5CE-E894-44FF-A549-F4A9ABF3AA13}"/>
              </a:ext>
            </a:extLst>
          </p:cNvPr>
          <p:cNvSpPr>
            <a:spLocks noGrp="1"/>
          </p:cNvSpPr>
          <p:nvPr/>
        </p:nvSpPr>
        <p:spPr>
          <a:xfrm>
            <a:off x="9696450" y="3009900"/>
            <a:ext cx="666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F5B041"/>
                </a:solidFill>
              </a:defRPr>
            </a:pPr>
            <a:r>
              <a:rPr sz="1875" b="1">
                <a:solidFill>
                  <a:srgbClr val="F5B041"/>
                </a:solidFill>
              </a:rPr>
              <a:t>↓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F99A39C3-57B6-41C8-B008-BC59ECE38D9F}"/>
              </a:ext>
            </a:extLst>
          </p:cNvPr>
          <p:cNvSpPr>
            <a:spLocks noGrp="1"/>
          </p:cNvSpPr>
          <p:nvPr/>
        </p:nvSpPr>
        <p:spPr>
          <a:xfrm>
            <a:off x="1638300" y="3371850"/>
            <a:ext cx="78105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B45DFDC-28D8-4058-BAB7-F0F4FA4A79F3}"/>
              </a:ext>
            </a:extLst>
          </p:cNvPr>
          <p:cNvSpPr>
            <a:spLocks noGrp="1"/>
          </p:cNvSpPr>
          <p:nvPr/>
        </p:nvSpPr>
        <p:spPr>
          <a:xfrm>
            <a:off x="1638300" y="3371850"/>
            <a:ext cx="123825" cy="8382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0C364A1-3A81-4999-AF99-B766BB6514FA}"/>
              </a:ext>
            </a:extLst>
          </p:cNvPr>
          <p:cNvSpPr>
            <a:spLocks noGrp="1"/>
          </p:cNvSpPr>
          <p:nvPr/>
        </p:nvSpPr>
        <p:spPr>
          <a:xfrm>
            <a:off x="2057400" y="35147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5B041"/>
                </a:solidFill>
              </a:defRPr>
            </a:pPr>
            <a:r>
              <a:rPr sz="1200" b="1">
                <a:solidFill>
                  <a:srgbClr val="F5B041"/>
                </a:solidFill>
              </a:rPr>
              <a:t>SERVICIOS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8AC8942-C4EE-43DF-8E5A-3281E64ACA30}"/>
              </a:ext>
            </a:extLst>
          </p:cNvPr>
          <p:cNvSpPr>
            <a:spLocks noGrp="1"/>
          </p:cNvSpPr>
          <p:nvPr/>
        </p:nvSpPr>
        <p:spPr>
          <a:xfrm>
            <a:off x="3829050" y="3495675"/>
            <a:ext cx="5191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1A365D"/>
                </a:solidFill>
              </a:defRPr>
            </a:pPr>
            <a:r>
              <a:rPr sz="1650" b="1">
                <a:solidFill>
                  <a:srgbClr val="1A365D"/>
                </a:solidFill>
              </a:rPr>
              <a:t>Node.js · Express · JWT · middleware RBAC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06D265E-CAD3-42B9-8C3D-AE545FE70150}"/>
              </a:ext>
            </a:extLst>
          </p:cNvPr>
          <p:cNvSpPr>
            <a:spLocks noGrp="1"/>
          </p:cNvSpPr>
          <p:nvPr/>
        </p:nvSpPr>
        <p:spPr>
          <a:xfrm>
            <a:off x="9696450" y="4229100"/>
            <a:ext cx="666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F5B041"/>
                </a:solidFill>
              </a:defRPr>
            </a:pPr>
            <a:r>
              <a:rPr sz="1875" b="1">
                <a:solidFill>
                  <a:srgbClr val="F5B041"/>
                </a:solidFill>
              </a:rPr>
              <a:t>↓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67122BF6-2CD4-403F-9F49-8472673A0C56}"/>
              </a:ext>
            </a:extLst>
          </p:cNvPr>
          <p:cNvSpPr>
            <a:spLocks noGrp="1"/>
          </p:cNvSpPr>
          <p:nvPr/>
        </p:nvSpPr>
        <p:spPr>
          <a:xfrm>
            <a:off x="1638300" y="4591050"/>
            <a:ext cx="78105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8EEF5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FAD6F35-646C-44A2-BF8A-CB6BA1833DA3}"/>
              </a:ext>
            </a:extLst>
          </p:cNvPr>
          <p:cNvSpPr>
            <a:spLocks noGrp="1"/>
          </p:cNvSpPr>
          <p:nvPr/>
        </p:nvSpPr>
        <p:spPr>
          <a:xfrm>
            <a:off x="1638300" y="4591050"/>
            <a:ext cx="123825" cy="838200"/>
          </a:xfrm>
          <a:prstGeom prst="rect">
            <a:avLst/>
          </a:prstGeom>
          <a:solidFill>
            <a:srgbClr val="10B981"/>
          </a:solidFill>
          <a:ln w="0">
            <a:noFill/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87D53BD-7F95-4EC9-817D-659D3754168F}"/>
              </a:ext>
            </a:extLst>
          </p:cNvPr>
          <p:cNvSpPr>
            <a:spLocks noGrp="1"/>
          </p:cNvSpPr>
          <p:nvPr/>
        </p:nvSpPr>
        <p:spPr>
          <a:xfrm>
            <a:off x="2057400" y="47339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0B981"/>
                </a:solidFill>
              </a:defRPr>
            </a:pPr>
            <a:r>
              <a:rPr sz="1200" b="1">
                <a:solidFill>
                  <a:srgbClr val="10B981"/>
                </a:solidFill>
              </a:rPr>
              <a:t>DATOS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075EEBF-67EA-412D-8C85-D6D90C6EF947}"/>
              </a:ext>
            </a:extLst>
          </p:cNvPr>
          <p:cNvSpPr>
            <a:spLocks noGrp="1"/>
          </p:cNvSpPr>
          <p:nvPr/>
        </p:nvSpPr>
        <p:spPr>
          <a:xfrm>
            <a:off x="3829050" y="4714875"/>
            <a:ext cx="5191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1A365D"/>
                </a:solidFill>
              </a:defRPr>
            </a:pPr>
            <a:r>
              <a:rPr sz="1650" b="1">
                <a:solidFill>
                  <a:srgbClr val="1A365D"/>
                </a:solidFill>
              </a:rPr>
              <a:t>Firebase Admin · Firestore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80018B5-CFC3-4935-96B2-C8BF306F55CB}"/>
              </a:ext>
            </a:extLst>
          </p:cNvPr>
          <p:cNvSpPr>
            <a:spLocks noGrp="1"/>
          </p:cNvSpPr>
          <p:nvPr/>
        </p:nvSpPr>
        <p:spPr>
          <a:xfrm>
            <a:off x="9696450" y="2343150"/>
            <a:ext cx="1571625" cy="2895600"/>
          </a:xfrm>
          <a:prstGeom prst="roundRect">
            <a:avLst>
              <a:gd name="adj" fmla="val 7273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44E9CA4C-7EA6-4F3D-A9EF-5F1C4A12A2F7}"/>
              </a:ext>
            </a:extLst>
          </p:cNvPr>
          <p:cNvSpPr>
            <a:spLocks noGrp="1"/>
          </p:cNvSpPr>
          <p:nvPr/>
        </p:nvSpPr>
        <p:spPr>
          <a:xfrm>
            <a:off x="9867900" y="25717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F5B041"/>
                </a:solidFill>
              </a:defRPr>
            </a:pPr>
            <a:r>
              <a:rPr sz="975" b="1">
                <a:solidFill>
                  <a:srgbClr val="F5B041"/>
                </a:solidFill>
              </a:rPr>
              <a:t>TRANSVERSAL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32E3DED-1EEC-4279-9B9E-1921944D0474}"/>
              </a:ext>
            </a:extLst>
          </p:cNvPr>
          <p:cNvSpPr>
            <a:spLocks noGrp="1"/>
          </p:cNvSpPr>
          <p:nvPr/>
        </p:nvSpPr>
        <p:spPr>
          <a:xfrm>
            <a:off x="9867900" y="3009900"/>
            <a:ext cx="1238250" cy="1905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Roles</a:t>
            </a:r>
          </a:p>
          <a:p>
            <a:endParaRPr sz="1350" b="1">
              <a:solidFill>
                <a:srgbClr val="FFFFFF"/>
              </a:solidFill>
            </a:endParaRPr>
          </a:p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Validación</a:t>
            </a:r>
          </a:p>
          <a:p>
            <a:endParaRPr sz="1350" b="1">
              <a:solidFill>
                <a:srgbClr val="FFFFFF"/>
              </a:solidFill>
            </a:endParaRPr>
          </a:p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Auditoría</a:t>
            </a:r>
          </a:p>
          <a:p>
            <a:endParaRPr sz="1350" b="1">
              <a:solidFill>
                <a:srgbClr val="FFFFFF"/>
              </a:solidFill>
            </a:endParaRPr>
          </a:p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Secretos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6025FAE0-EC87-4C83-A7E5-C60530643711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BF5C2B9-6AD9-4BF6-A535-8F2B5F3DE803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1070722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C01E629B-128E-4F65-8CC2-7CD75F06B1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3BF9A88-6028-4BA1-AE34-6486F48A2E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E0B512D-2F41-4614-922F-2176A2A5E094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FACTIBILIDAD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D6605E6-EB03-4088-A90D-D0CCCBE7468B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AD6A316-3534-4449-8999-B76462C57494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El proyecto es factible si se controla alcance y dependencias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4A4E1CE-B3B4-4AD4-A28A-DFD02C59AE5E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Se consideran tiempo, recursos, factores externos y respuestas concretas.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62B43A5-B171-4C89-9B7A-231553B38E1C}"/>
              </a:ext>
            </a:extLst>
          </p:cNvPr>
          <p:cNvSpPr>
            <a:spLocks noGrp="1"/>
          </p:cNvSpPr>
          <p:nvPr/>
        </p:nvSpPr>
        <p:spPr>
          <a:xfrm>
            <a:off x="628650" y="2076450"/>
            <a:ext cx="5000625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E563F29-9AD3-4C2B-AA63-0FD5E6F7F187}"/>
              </a:ext>
            </a:extLst>
          </p:cNvPr>
          <p:cNvSpPr>
            <a:spLocks noGrp="1"/>
          </p:cNvSpPr>
          <p:nvPr/>
        </p:nvSpPr>
        <p:spPr>
          <a:xfrm>
            <a:off x="933450" y="2343150"/>
            <a:ext cx="2000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10B981"/>
                </a:solidFill>
              </a:defRPr>
            </a:pPr>
            <a:r>
              <a:rPr sz="1275" b="1">
                <a:solidFill>
                  <a:srgbClr val="10B981"/>
                </a:solidFill>
              </a:rPr>
              <a:t>FACILITADORES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341D053-C08E-4D88-9C6F-B4CE01A7B23B}"/>
              </a:ext>
            </a:extLst>
          </p:cNvPr>
          <p:cNvSpPr>
            <a:spLocks noGrp="1"/>
          </p:cNvSpPr>
          <p:nvPr/>
        </p:nvSpPr>
        <p:spPr>
          <a:xfrm>
            <a:off x="933450" y="2990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B0C1E2B-0961-4466-AF63-0EB41EBB7B89}"/>
              </a:ext>
            </a:extLst>
          </p:cNvPr>
          <p:cNvSpPr>
            <a:spLocks noGrp="1"/>
          </p:cNvSpPr>
          <p:nvPr/>
        </p:nvSpPr>
        <p:spPr>
          <a:xfrm>
            <a:off x="1143000" y="289560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Base React, Express y Firestore disponible.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3A62B766-60A3-4B84-9C4E-D41396D3844B}"/>
              </a:ext>
            </a:extLst>
          </p:cNvPr>
          <p:cNvSpPr>
            <a:spLocks noGrp="1"/>
          </p:cNvSpPr>
          <p:nvPr/>
        </p:nvSpPr>
        <p:spPr>
          <a:xfrm>
            <a:off x="933450" y="3543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E99BE23-38AE-417E-A4D2-B3493A231FD9}"/>
              </a:ext>
            </a:extLst>
          </p:cNvPr>
          <p:cNvSpPr>
            <a:spLocks noGrp="1"/>
          </p:cNvSpPr>
          <p:nvPr/>
        </p:nvSpPr>
        <p:spPr>
          <a:xfrm>
            <a:off x="1143000" y="344805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Contrato API y documentación técnica existentes.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4FEDED8-F5E1-41CC-B79E-BF04EDB6A115}"/>
              </a:ext>
            </a:extLst>
          </p:cNvPr>
          <p:cNvSpPr>
            <a:spLocks noGrp="1"/>
          </p:cNvSpPr>
          <p:nvPr/>
        </p:nvSpPr>
        <p:spPr>
          <a:xfrm>
            <a:off x="933450" y="40957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B9FDC68-6115-4D59-A5C5-C34D6CDB5C1C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18 semanas con trabajo incremental.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AFE2636F-EA18-436C-B373-A6BE1CF84863}"/>
              </a:ext>
            </a:extLst>
          </p:cNvPr>
          <p:cNvSpPr>
            <a:spLocks noGrp="1"/>
          </p:cNvSpPr>
          <p:nvPr/>
        </p:nvSpPr>
        <p:spPr>
          <a:xfrm>
            <a:off x="933450" y="46482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E971E07-2196-4F0E-A63B-46B7E66C53A7}"/>
              </a:ext>
            </a:extLst>
          </p:cNvPr>
          <p:cNvSpPr>
            <a:spLocks noGrp="1"/>
          </p:cNvSpPr>
          <p:nvPr/>
        </p:nvSpPr>
        <p:spPr>
          <a:xfrm>
            <a:off x="1143000" y="455295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Tres integrantes con roles complementarios.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E8104C50-1C96-4A16-AAB4-13C2A7CDFBF4}"/>
              </a:ext>
            </a:extLst>
          </p:cNvPr>
          <p:cNvSpPr>
            <a:spLocks noGrp="1"/>
          </p:cNvSpPr>
          <p:nvPr/>
        </p:nvSpPr>
        <p:spPr>
          <a:xfrm>
            <a:off x="933450" y="52006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154ED0A-99A5-4179-A3B4-752FEC575234}"/>
              </a:ext>
            </a:extLst>
          </p:cNvPr>
          <p:cNvSpPr>
            <a:spLocks noGrp="1"/>
          </p:cNvSpPr>
          <p:nvPr/>
        </p:nvSpPr>
        <p:spPr>
          <a:xfrm>
            <a:off x="1143000" y="5105400"/>
            <a:ext cx="3981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1E293B"/>
                </a:solidFill>
              </a:defRPr>
            </a:pPr>
            <a:r>
              <a:rPr sz="1350" b="0">
                <a:solidFill>
                  <a:srgbClr val="1E293B"/>
                </a:solidFill>
              </a:rPr>
              <a:t>Herramientas de desarrollo ya disponibles.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A1906D87-717D-4503-A871-9C6A3EC6D907}"/>
              </a:ext>
            </a:extLst>
          </p:cNvPr>
          <p:cNvSpPr>
            <a:spLocks noGrp="1"/>
          </p:cNvSpPr>
          <p:nvPr/>
        </p:nvSpPr>
        <p:spPr>
          <a:xfrm>
            <a:off x="5972175" y="2076450"/>
            <a:ext cx="5324475" cy="3733800"/>
          </a:xfrm>
          <a:prstGeom prst="roundRect">
            <a:avLst>
              <a:gd name="adj" fmla="val 3061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1927E07-1218-4BAD-91CB-58231F5E0016}"/>
              </a:ext>
            </a:extLst>
          </p:cNvPr>
          <p:cNvSpPr>
            <a:spLocks noGrp="1"/>
          </p:cNvSpPr>
          <p:nvPr/>
        </p:nvSpPr>
        <p:spPr>
          <a:xfrm>
            <a:off x="6305550" y="2343150"/>
            <a:ext cx="4286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5B041"/>
                </a:solidFill>
              </a:defRPr>
            </a:pPr>
            <a:r>
              <a:rPr sz="1275" b="1">
                <a:solidFill>
                  <a:srgbClr val="F5B041"/>
                </a:solidFill>
              </a:rPr>
              <a:t>DIFICULTADES Y RESPUESTA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45D6F2F2-A0EA-4C82-BA93-90844649967D}"/>
              </a:ext>
            </a:extLst>
          </p:cNvPr>
          <p:cNvSpPr>
            <a:spLocks noGrp="1"/>
          </p:cNvSpPr>
          <p:nvPr/>
        </p:nvSpPr>
        <p:spPr>
          <a:xfrm>
            <a:off x="6305550" y="29908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2DE8203E-39D9-4076-AD51-973AA26F45A6}"/>
              </a:ext>
            </a:extLst>
          </p:cNvPr>
          <p:cNvSpPr>
            <a:spLocks noGrp="1"/>
          </p:cNvSpPr>
          <p:nvPr/>
        </p:nvSpPr>
        <p:spPr>
          <a:xfrm>
            <a:off x="6515100" y="28956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MFA demostrativo → TOTP/IdP y pruebas negativas.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550388C3-7322-4FD4-82BE-1920D526F984}"/>
              </a:ext>
            </a:extLst>
          </p:cNvPr>
          <p:cNvSpPr>
            <a:spLocks noGrp="1"/>
          </p:cNvSpPr>
          <p:nvPr/>
        </p:nvSpPr>
        <p:spPr>
          <a:xfrm>
            <a:off x="6305550" y="3543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11CBA255-4BDE-40BF-BF6C-90C556375191}"/>
              </a:ext>
            </a:extLst>
          </p:cNvPr>
          <p:cNvSpPr>
            <a:spLocks noGrp="1"/>
          </p:cNvSpPr>
          <p:nvPr/>
        </p:nvSpPr>
        <p:spPr>
          <a:xfrm>
            <a:off x="6515100" y="3448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Flujos simulados → integración y criterios de aceptación.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63F86A5D-8CC9-40C8-8C31-6847BC8E78A6}"/>
              </a:ext>
            </a:extLst>
          </p:cNvPr>
          <p:cNvSpPr>
            <a:spLocks noGrp="1"/>
          </p:cNvSpPr>
          <p:nvPr/>
        </p:nvSpPr>
        <p:spPr>
          <a:xfrm>
            <a:off x="6305550" y="40957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323F49CE-4E4E-436C-A4EA-52508DCAB06C}"/>
              </a:ext>
            </a:extLst>
          </p:cNvPr>
          <p:cNvSpPr>
            <a:spLocks noGrp="1"/>
          </p:cNvSpPr>
          <p:nvPr/>
        </p:nvSpPr>
        <p:spPr>
          <a:xfrm>
            <a:off x="6515100" y="40005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Sin pruebas/CI → pipeline y pruebas por sprint.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1258294C-3DA7-4AAA-905F-6C809BE3EDBC}"/>
              </a:ext>
            </a:extLst>
          </p:cNvPr>
          <p:cNvSpPr>
            <a:spLocks noGrp="1"/>
          </p:cNvSpPr>
          <p:nvPr/>
        </p:nvSpPr>
        <p:spPr>
          <a:xfrm>
            <a:off x="6305550" y="46482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C8DCD53-7C90-48EF-8CA2-21CCAF1165AB}"/>
              </a:ext>
            </a:extLst>
          </p:cNvPr>
          <p:cNvSpPr>
            <a:spLocks noGrp="1"/>
          </p:cNvSpPr>
          <p:nvPr/>
        </p:nvSpPr>
        <p:spPr>
          <a:xfrm>
            <a:off x="6515100" y="45529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Sin contenedores → Docker y ejecución reproducible.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EFA8E94D-B7D9-4959-B3CC-2E981856FC4A}"/>
              </a:ext>
            </a:extLst>
          </p:cNvPr>
          <p:cNvSpPr>
            <a:spLocks noGrp="1"/>
          </p:cNvSpPr>
          <p:nvPr/>
        </p:nvSpPr>
        <p:spPr>
          <a:xfrm>
            <a:off x="6305550" y="52006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3DD53C23-17F9-4EFE-8062-4EFAD96C13F7}"/>
              </a:ext>
            </a:extLst>
          </p:cNvPr>
          <p:cNvSpPr>
            <a:spLocks noGrp="1"/>
          </p:cNvSpPr>
          <p:nvPr/>
        </p:nvSpPr>
        <p:spPr>
          <a:xfrm>
            <a:off x="6515100" y="51054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Credenciales → secretos gestionados y rotación.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118161FE-DE4A-42F2-BAE4-1CE938729C52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8623A854-67D1-47F6-B4FF-CD893211F1DF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487577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ángulo 37">
            <a:extLst>
              <a:ext uri="{FF2B5EF4-FFF2-40B4-BE49-F238E27FC236}">
                <a16:creationId xmlns:a16="http://schemas.microsoft.com/office/drawing/2014/main" id="{2DF34486-EAA1-4608-9116-A1BEB2B06C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6D2B2DD-C5DE-4C89-9184-CC19BB12A7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B5C83D8-799F-48C6-AB7D-CDC280DB0E0A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PLAN DEL PROYECTO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E8666EC-B656-400E-A22E-A5EA2172129E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66B955C-DC44-418B-B23B-AD2F0768A718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Dieciocho semanas, siete bloques y control transversal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91CDA69-A67B-4CF0-8712-D4584DFB7735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Scrum organiza el trabajo; calidad, riesgos, cambios y documentación se controlan durante todo el proyecto.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20E1B42-6F06-4144-B96E-C7DEB89BF1D0}"/>
              </a:ext>
            </a:extLst>
          </p:cNvPr>
          <p:cNvSpPr>
            <a:spLocks noGrp="1"/>
          </p:cNvSpPr>
          <p:nvPr/>
        </p:nvSpPr>
        <p:spPr>
          <a:xfrm>
            <a:off x="628650" y="2324100"/>
            <a:ext cx="2324100" cy="1104900"/>
          </a:xfrm>
          <a:prstGeom prst="roundRect">
            <a:avLst>
              <a:gd name="adj" fmla="val 6897"/>
            </a:avLst>
          </a:prstGeom>
          <a:solidFill>
            <a:srgbClr val="F5B041"/>
          </a:solidFill>
          <a:ln w="9525">
            <a:solidFill>
              <a:srgbClr val="F5B041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816E3F0-CC51-4F3B-B3EC-3698D78C1DED}"/>
              </a:ext>
            </a:extLst>
          </p:cNvPr>
          <p:cNvSpPr>
            <a:spLocks noGrp="1"/>
          </p:cNvSpPr>
          <p:nvPr/>
        </p:nvSpPr>
        <p:spPr>
          <a:xfrm>
            <a:off x="781050" y="247650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INICIO Y DISEÑO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09B16C5-8D44-4057-87F0-69964B3F5314}"/>
              </a:ext>
            </a:extLst>
          </p:cNvPr>
          <p:cNvSpPr>
            <a:spLocks noGrp="1"/>
          </p:cNvSpPr>
          <p:nvPr/>
        </p:nvSpPr>
        <p:spPr>
          <a:xfrm>
            <a:off x="781050" y="2781300"/>
            <a:ext cx="2019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Semanas 1–4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44EA082-0CBC-4F69-AEE3-D92731BD8589}"/>
              </a:ext>
            </a:extLst>
          </p:cNvPr>
          <p:cNvSpPr>
            <a:spLocks noGrp="1"/>
          </p:cNvSpPr>
          <p:nvPr/>
        </p:nvSpPr>
        <p:spPr>
          <a:xfrm>
            <a:off x="742950" y="3048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Definición y línea base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D00B60C-E07B-4170-AEE8-4527FA0923D6}"/>
              </a:ext>
            </a:extLst>
          </p:cNvPr>
          <p:cNvSpPr>
            <a:spLocks noGrp="1"/>
          </p:cNvSpPr>
          <p:nvPr/>
        </p:nvSpPr>
        <p:spPr>
          <a:xfrm>
            <a:off x="3028950" y="2324100"/>
            <a:ext cx="6391275" cy="1104900"/>
          </a:xfrm>
          <a:prstGeom prst="roundRect">
            <a:avLst>
              <a:gd name="adj" fmla="val 6897"/>
            </a:avLst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6CC4903-6DFF-49AA-808F-CE3655AEDAA8}"/>
              </a:ext>
            </a:extLst>
          </p:cNvPr>
          <p:cNvSpPr>
            <a:spLocks noGrp="1"/>
          </p:cNvSpPr>
          <p:nvPr/>
        </p:nvSpPr>
        <p:spPr>
          <a:xfrm>
            <a:off x="3181350" y="2476500"/>
            <a:ext cx="60864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DESARROLLO INCREMENTAL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C8072B4-7D6E-476B-8315-D952E71E6647}"/>
              </a:ext>
            </a:extLst>
          </p:cNvPr>
          <p:cNvSpPr>
            <a:spLocks noGrp="1"/>
          </p:cNvSpPr>
          <p:nvPr/>
        </p:nvSpPr>
        <p:spPr>
          <a:xfrm>
            <a:off x="3181350" y="2781300"/>
            <a:ext cx="60864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Semanas 5–15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CE64457-23E4-4BA8-9E67-2AC1E8EF49A8}"/>
              </a:ext>
            </a:extLst>
          </p:cNvPr>
          <p:cNvSpPr>
            <a:spLocks noGrp="1"/>
          </p:cNvSpPr>
          <p:nvPr/>
        </p:nvSpPr>
        <p:spPr>
          <a:xfrm>
            <a:off x="3143250" y="3048000"/>
            <a:ext cx="61626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Sprints 1–5 y validación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B087082F-2D22-4732-8492-053847595A6A}"/>
              </a:ext>
            </a:extLst>
          </p:cNvPr>
          <p:cNvSpPr>
            <a:spLocks noGrp="1"/>
          </p:cNvSpPr>
          <p:nvPr/>
        </p:nvSpPr>
        <p:spPr>
          <a:xfrm>
            <a:off x="9496425" y="2324100"/>
            <a:ext cx="1743075" cy="1104900"/>
          </a:xfrm>
          <a:prstGeom prst="roundRect">
            <a:avLst>
              <a:gd name="adj" fmla="val 6897"/>
            </a:avLst>
          </a:prstGeom>
          <a:solidFill>
            <a:srgbClr val="10B981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FB40F2D-74E8-4DF5-BD73-C7FDC9260FE3}"/>
              </a:ext>
            </a:extLst>
          </p:cNvPr>
          <p:cNvSpPr>
            <a:spLocks noGrp="1"/>
          </p:cNvSpPr>
          <p:nvPr/>
        </p:nvSpPr>
        <p:spPr>
          <a:xfrm>
            <a:off x="9648825" y="2476500"/>
            <a:ext cx="14382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RELEASE Y CIERRE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E508E428-F7CE-4078-BA43-88BFBFB86ACB}"/>
              </a:ext>
            </a:extLst>
          </p:cNvPr>
          <p:cNvSpPr>
            <a:spLocks noGrp="1"/>
          </p:cNvSpPr>
          <p:nvPr/>
        </p:nvSpPr>
        <p:spPr>
          <a:xfrm>
            <a:off x="9648825" y="2781300"/>
            <a:ext cx="14382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Semanas 16–18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2A8860C-9135-401A-BF88-DBD7D5576679}"/>
              </a:ext>
            </a:extLst>
          </p:cNvPr>
          <p:cNvSpPr>
            <a:spLocks noGrp="1"/>
          </p:cNvSpPr>
          <p:nvPr/>
        </p:nvSpPr>
        <p:spPr>
          <a:xfrm>
            <a:off x="9610725" y="3048000"/>
            <a:ext cx="15144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Despliegue, transición y defensa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09AFC59E-6D96-44AA-AB8B-11AD9BF33449}"/>
              </a:ext>
            </a:extLst>
          </p:cNvPr>
          <p:cNvSpPr>
            <a:spLocks noGrp="1"/>
          </p:cNvSpPr>
          <p:nvPr/>
        </p:nvSpPr>
        <p:spPr>
          <a:xfrm>
            <a:off x="628650" y="39052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1A365D"/>
                </a:solidFill>
              </a:defRPr>
            </a:pPr>
            <a:r>
              <a:rPr sz="1350" b="1">
                <a:solidFill>
                  <a:srgbClr val="1A365D"/>
                </a:solidFill>
              </a:rPr>
              <a:t>Bloques de ejecución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173F396C-E75D-48E2-A4F4-3CF6C3BE75E9}"/>
              </a:ext>
            </a:extLst>
          </p:cNvPr>
          <p:cNvSpPr>
            <a:spLocks noGrp="1"/>
          </p:cNvSpPr>
          <p:nvPr/>
        </p:nvSpPr>
        <p:spPr>
          <a:xfrm>
            <a:off x="628650" y="4476750"/>
            <a:ext cx="476250" cy="476250"/>
          </a:xfrm>
          <a:prstGeom prst="ellipse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DEC9E7F4-CB2F-4063-A8F7-E10C253E1E33}"/>
              </a:ext>
            </a:extLst>
          </p:cNvPr>
          <p:cNvSpPr>
            <a:spLocks noGrp="1"/>
          </p:cNvSpPr>
          <p:nvPr/>
        </p:nvSpPr>
        <p:spPr>
          <a:xfrm>
            <a:off x="62865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B018951-1ADE-4B5A-AEB4-AF78F1089BBB}"/>
              </a:ext>
            </a:extLst>
          </p:cNvPr>
          <p:cNvSpPr>
            <a:spLocks noGrp="1"/>
          </p:cNvSpPr>
          <p:nvPr/>
        </p:nvSpPr>
        <p:spPr>
          <a:xfrm>
            <a:off x="121920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1 · Cimientos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0DDB3353-A638-4647-97A4-DC91B5350BA0}"/>
              </a:ext>
            </a:extLst>
          </p:cNvPr>
          <p:cNvSpPr>
            <a:spLocks noGrp="1"/>
          </p:cNvSpPr>
          <p:nvPr/>
        </p:nvSpPr>
        <p:spPr>
          <a:xfrm>
            <a:off x="2705100" y="4476750"/>
            <a:ext cx="476250" cy="476250"/>
          </a:xfrm>
          <a:prstGeom prst="ellipse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2664AEE-9D16-4B3D-BEF8-BCBCF700AEAC}"/>
              </a:ext>
            </a:extLst>
          </p:cNvPr>
          <p:cNvSpPr>
            <a:spLocks noGrp="1"/>
          </p:cNvSpPr>
          <p:nvPr/>
        </p:nvSpPr>
        <p:spPr>
          <a:xfrm>
            <a:off x="270510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F0D9C7DA-12AA-463E-929B-EC7B2F40D3C7}"/>
              </a:ext>
            </a:extLst>
          </p:cNvPr>
          <p:cNvSpPr>
            <a:spLocks noGrp="1"/>
          </p:cNvSpPr>
          <p:nvPr/>
        </p:nvSpPr>
        <p:spPr>
          <a:xfrm>
            <a:off x="329565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2 · Negocio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7679A09D-A42E-4585-A454-5EFE474934F5}"/>
              </a:ext>
            </a:extLst>
          </p:cNvPr>
          <p:cNvSpPr>
            <a:spLocks noGrp="1"/>
          </p:cNvSpPr>
          <p:nvPr/>
        </p:nvSpPr>
        <p:spPr>
          <a:xfrm>
            <a:off x="4781550" y="4476750"/>
            <a:ext cx="476250" cy="476250"/>
          </a:xfrm>
          <a:prstGeom prst="ellipse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DF96A11-C279-4D25-A043-83758C4D70B2}"/>
              </a:ext>
            </a:extLst>
          </p:cNvPr>
          <p:cNvSpPr>
            <a:spLocks noGrp="1"/>
          </p:cNvSpPr>
          <p:nvPr/>
        </p:nvSpPr>
        <p:spPr>
          <a:xfrm>
            <a:off x="478155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ED1A58C-21A3-4974-9421-3AAF68D91D13}"/>
              </a:ext>
            </a:extLst>
          </p:cNvPr>
          <p:cNvSpPr>
            <a:spLocks noGrp="1"/>
          </p:cNvSpPr>
          <p:nvPr/>
        </p:nvSpPr>
        <p:spPr>
          <a:xfrm>
            <a:off x="537210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3 · Operación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91AB7973-88D1-4486-9953-B58701AB3231}"/>
              </a:ext>
            </a:extLst>
          </p:cNvPr>
          <p:cNvSpPr>
            <a:spLocks noGrp="1"/>
          </p:cNvSpPr>
          <p:nvPr/>
        </p:nvSpPr>
        <p:spPr>
          <a:xfrm>
            <a:off x="6858000" y="4476750"/>
            <a:ext cx="476250" cy="476250"/>
          </a:xfrm>
          <a:prstGeom prst="ellipse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BF3FBAF-08D5-421F-8687-8A98ABBA4BAE}"/>
              </a:ext>
            </a:extLst>
          </p:cNvPr>
          <p:cNvSpPr>
            <a:spLocks noGrp="1"/>
          </p:cNvSpPr>
          <p:nvPr/>
        </p:nvSpPr>
        <p:spPr>
          <a:xfrm>
            <a:off x="685800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873A1B44-E1F9-4543-AACD-4A50DE20E5F3}"/>
              </a:ext>
            </a:extLst>
          </p:cNvPr>
          <p:cNvSpPr>
            <a:spLocks noGrp="1"/>
          </p:cNvSpPr>
          <p:nvPr/>
        </p:nvSpPr>
        <p:spPr>
          <a:xfrm>
            <a:off x="744855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4 · Datos</a:t>
            </a: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EC2B148C-F673-40DB-8EE7-E16EC663A3A9}"/>
              </a:ext>
            </a:extLst>
          </p:cNvPr>
          <p:cNvSpPr>
            <a:spLocks noGrp="1"/>
          </p:cNvSpPr>
          <p:nvPr/>
        </p:nvSpPr>
        <p:spPr>
          <a:xfrm>
            <a:off x="8934450" y="4476750"/>
            <a:ext cx="476250" cy="476250"/>
          </a:xfrm>
          <a:prstGeom prst="ellipse">
            <a:avLst/>
          </a:prstGeom>
          <a:solidFill>
            <a:srgbClr val="10B981"/>
          </a:solidFill>
          <a:ln w="0">
            <a:noFill/>
            <a:prstDash val="solid"/>
          </a:ln>
        </p:spPr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C8C2153D-E0B3-4940-9484-D992526BB77B}"/>
              </a:ext>
            </a:extLst>
          </p:cNvPr>
          <p:cNvSpPr>
            <a:spLocks noGrp="1"/>
          </p:cNvSpPr>
          <p:nvPr/>
        </p:nvSpPr>
        <p:spPr>
          <a:xfrm>
            <a:off x="8934450" y="4533900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D99F5D6B-B750-4B1F-8504-B74C3CE19D9C}"/>
              </a:ext>
            </a:extLst>
          </p:cNvPr>
          <p:cNvSpPr>
            <a:spLocks noGrp="1"/>
          </p:cNvSpPr>
          <p:nvPr/>
        </p:nvSpPr>
        <p:spPr>
          <a:xfrm>
            <a:off x="9525000" y="447675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E293B"/>
                </a:solidFill>
              </a:defRPr>
            </a:pPr>
            <a:r>
              <a:rPr sz="1200" b="1">
                <a:solidFill>
                  <a:srgbClr val="1E293B"/>
                </a:solidFill>
              </a:rPr>
              <a:t>Sprint 5 · Integración/QA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6EC03292-4CA3-4AF3-BCF3-32B624229492}"/>
              </a:ext>
            </a:extLst>
          </p:cNvPr>
          <p:cNvSpPr>
            <a:spLocks noGrp="1"/>
          </p:cNvSpPr>
          <p:nvPr/>
        </p:nvSpPr>
        <p:spPr>
          <a:xfrm>
            <a:off x="628650" y="5495925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Hitos: línea base · cimientos · MVP integrado · pruebas · release final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325A2135-68D5-42B2-B695-EAB947C6440F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DE1F2E20-BBCA-4242-8C87-99481EA18EE9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CAPSTONE 2026 · Ingeniería en Informática · Plaza Oeste</a:t>
            </a:r>
          </a:p>
        </p:txBody>
      </p:sp>
    </p:spTree>
    <p:extLst>
      <p:ext uri="{BB962C8B-B14F-4D97-AF65-F5344CB8AC3E}">
        <p14:creationId xmlns:p14="http://schemas.microsoft.com/office/powerpoint/2010/main" val="589974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ángulo 31">
            <a:extLst>
              <a:ext uri="{FF2B5EF4-FFF2-40B4-BE49-F238E27FC236}">
                <a16:creationId xmlns:a16="http://schemas.microsoft.com/office/drawing/2014/main" id="{D286AAB0-0BA9-44F9-9E4D-150ADAE170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8B74D0A-A67D-4C27-AD97-6A950461BF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1A365D"/>
          </a:solidFill>
          <a:ln w="0">
            <a:noFill/>
            <a:prstDash val="solid"/>
          </a:ln>
        </p:spPr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178C9FF-AB5D-4DE7-A30F-31899E996A76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A365D"/>
                </a:solidFill>
              </a:defRPr>
            </a:pPr>
            <a:r>
              <a:rPr sz="975" b="1">
                <a:solidFill>
                  <a:srgbClr val="1A365D"/>
                </a:solidFill>
              </a:rPr>
              <a:t>EVIDENCIAS DE FASE 1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D5E04FF-C056-4AEF-AE57-03385754DAF2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11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8ED420D-D68F-4DC7-AE53-6AE0E716F488}"/>
              </a:ext>
            </a:extLst>
          </p:cNvPr>
          <p:cNvSpPr>
            <a:spLocks noGrp="1"/>
          </p:cNvSpPr>
          <p:nvPr/>
        </p:nvSpPr>
        <p:spPr>
          <a:xfrm>
            <a:off x="628650" y="685800"/>
            <a:ext cx="10668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1A365D"/>
                </a:solidFill>
              </a:defRPr>
            </a:pPr>
            <a:r>
              <a:rPr sz="2850" b="1">
                <a:solidFill>
                  <a:srgbClr val="1A365D"/>
                </a:solidFill>
              </a:rPr>
              <a:t>Las evidencias convierten actividades en resultados verificables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5968A4D-66FD-4528-BE36-8D490692BE83}"/>
              </a:ext>
            </a:extLst>
          </p:cNvPr>
          <p:cNvSpPr>
            <a:spLocks noGrp="1"/>
          </p:cNvSpPr>
          <p:nvPr/>
        </p:nvSpPr>
        <p:spPr>
          <a:xfrm>
            <a:off x="647700" y="1381125"/>
            <a:ext cx="1009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Cada evidencia se justifica por el logro que permite demostrar.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4429167-DBD6-4B1D-BCD1-9AE55E2BCE65}"/>
              </a:ext>
            </a:extLst>
          </p:cNvPr>
          <p:cNvSpPr>
            <a:spLocks noGrp="1"/>
          </p:cNvSpPr>
          <p:nvPr/>
        </p:nvSpPr>
        <p:spPr>
          <a:xfrm>
            <a:off x="628650" y="2114550"/>
            <a:ext cx="6572250" cy="36195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FAD5362-E59A-4418-B35B-9E40098506E3}"/>
              </a:ext>
            </a:extLst>
          </p:cNvPr>
          <p:cNvSpPr>
            <a:spLocks noGrp="1"/>
          </p:cNvSpPr>
          <p:nvPr/>
        </p:nvSpPr>
        <p:spPr>
          <a:xfrm>
            <a:off x="971550" y="238125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10B981"/>
                </a:solidFill>
              </a:defRPr>
            </a:pPr>
            <a:r>
              <a:rPr sz="1350" b="1">
                <a:solidFill>
                  <a:srgbClr val="10B981"/>
                </a:solidFill>
              </a:rPr>
              <a:t>AVANCE · PROPUESTO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87881A5-874A-4337-BB76-5ACCFF854592}"/>
              </a:ext>
            </a:extLst>
          </p:cNvPr>
          <p:cNvSpPr>
            <a:spLocks noGrp="1"/>
          </p:cNvSpPr>
          <p:nvPr/>
        </p:nvSpPr>
        <p:spPr>
          <a:xfrm>
            <a:off x="971550" y="30099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0B04E23-B5B7-4396-8632-78363F168B29}"/>
              </a:ext>
            </a:extLst>
          </p:cNvPr>
          <p:cNvSpPr>
            <a:spLocks noGrp="1"/>
          </p:cNvSpPr>
          <p:nvPr/>
        </p:nvSpPr>
        <p:spPr>
          <a:xfrm>
            <a:off x="1181100" y="2914650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Backlog, requisitos y arquitectura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190298F-DBDB-4790-9C22-66EABA05E04D}"/>
              </a:ext>
            </a:extLst>
          </p:cNvPr>
          <p:cNvSpPr>
            <a:spLocks noGrp="1"/>
          </p:cNvSpPr>
          <p:nvPr/>
        </p:nvSpPr>
        <p:spPr>
          <a:xfrm>
            <a:off x="971550" y="3457575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AF9133D-E369-45D1-8F00-68C9168B3E29}"/>
              </a:ext>
            </a:extLst>
          </p:cNvPr>
          <p:cNvSpPr>
            <a:spLocks noGrp="1"/>
          </p:cNvSpPr>
          <p:nvPr/>
        </p:nvSpPr>
        <p:spPr>
          <a:xfrm>
            <a:off x="1181100" y="3362325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Prototipo y compilación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64B54CF-B7D4-4249-8212-F3335692617F}"/>
              </a:ext>
            </a:extLst>
          </p:cNvPr>
          <p:cNvSpPr>
            <a:spLocks noGrp="1"/>
          </p:cNvSpPr>
          <p:nvPr/>
        </p:nvSpPr>
        <p:spPr>
          <a:xfrm>
            <a:off x="971550" y="390525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99EC549-BC90-41F4-9162-218EFCE8D5E7}"/>
              </a:ext>
            </a:extLst>
          </p:cNvPr>
          <p:cNvSpPr>
            <a:spLocks noGrp="1"/>
          </p:cNvSpPr>
          <p:nvPr/>
        </p:nvSpPr>
        <p:spPr>
          <a:xfrm>
            <a:off x="1181100" y="3810000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Plan y casos de prueba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D199E1F8-8EA1-4D49-888C-EB6E6C928F30}"/>
              </a:ext>
            </a:extLst>
          </p:cNvPr>
          <p:cNvSpPr>
            <a:spLocks noGrp="1"/>
          </p:cNvSpPr>
          <p:nvPr/>
        </p:nvSpPr>
        <p:spPr>
          <a:xfrm>
            <a:off x="971550" y="4352925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608F1D8-E1D9-4F4C-B4B9-7C323B565B87}"/>
              </a:ext>
            </a:extLst>
          </p:cNvPr>
          <p:cNvSpPr>
            <a:spLocks noGrp="1"/>
          </p:cNvSpPr>
          <p:nvPr/>
        </p:nvSpPr>
        <p:spPr>
          <a:xfrm>
            <a:off x="1181100" y="4257675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Gantt, RACI, RAID y decisiones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1CC4F2B6-F19C-4487-80F8-FD38580CF49B}"/>
              </a:ext>
            </a:extLst>
          </p:cNvPr>
          <p:cNvSpPr>
            <a:spLocks noGrp="1"/>
          </p:cNvSpPr>
          <p:nvPr/>
        </p:nvSpPr>
        <p:spPr>
          <a:xfrm>
            <a:off x="971550" y="48006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D77959D-8752-4B03-89E3-600370298DD6}"/>
              </a:ext>
            </a:extLst>
          </p:cNvPr>
          <p:cNvSpPr>
            <a:spLocks noGrp="1"/>
          </p:cNvSpPr>
          <p:nvPr/>
        </p:nvSpPr>
        <p:spPr>
          <a:xfrm>
            <a:off x="1181100" y="4705350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Justifica definición, diseño y control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FB61FBEB-8145-4CBC-B164-C11BD1797FCB}"/>
              </a:ext>
            </a:extLst>
          </p:cNvPr>
          <p:cNvSpPr>
            <a:spLocks noGrp="1"/>
          </p:cNvSpPr>
          <p:nvPr/>
        </p:nvSpPr>
        <p:spPr>
          <a:xfrm>
            <a:off x="971550" y="5248275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A70F552-4690-4AEF-9E06-EE6F9C67A534}"/>
              </a:ext>
            </a:extLst>
          </p:cNvPr>
          <p:cNvSpPr>
            <a:spLocks noGrp="1"/>
          </p:cNvSpPr>
          <p:nvPr/>
        </p:nvSpPr>
        <p:spPr>
          <a:xfrm>
            <a:off x="1181100" y="5153025"/>
            <a:ext cx="5505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1E293B"/>
                </a:solidFill>
              </a:defRPr>
            </a:pPr>
            <a:r>
              <a:rPr sz="1275" b="0">
                <a:solidFill>
                  <a:srgbClr val="1E293B"/>
                </a:solidFill>
              </a:rPr>
              <a:t>Evidencia trazable del avance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C504E097-17CA-4378-B197-D995A50DC78D}"/>
              </a:ext>
            </a:extLst>
          </p:cNvPr>
          <p:cNvSpPr>
            <a:spLocks noGrp="1"/>
          </p:cNvSpPr>
          <p:nvPr/>
        </p:nvSpPr>
        <p:spPr>
          <a:xfrm>
            <a:off x="7543800" y="2114550"/>
            <a:ext cx="3752850" cy="3619500"/>
          </a:xfrm>
          <a:prstGeom prst="roundRect">
            <a:avLst>
              <a:gd name="adj" fmla="val 3158"/>
            </a:avLst>
          </a:prstGeom>
          <a:solidFill>
            <a:srgbClr val="1A365D"/>
          </a:solidFill>
          <a:ln w="9525">
            <a:solidFill>
              <a:srgbClr val="1A365D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952A81C9-B768-4FD5-83DC-A737C84F2309}"/>
              </a:ext>
            </a:extLst>
          </p:cNvPr>
          <p:cNvSpPr>
            <a:spLocks noGrp="1"/>
          </p:cNvSpPr>
          <p:nvPr/>
        </p:nvSpPr>
        <p:spPr>
          <a:xfrm>
            <a:off x="7848600" y="23812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5B041"/>
                </a:solidFill>
              </a:defRPr>
            </a:pPr>
            <a:r>
              <a:rPr sz="1350" b="1">
                <a:solidFill>
                  <a:srgbClr val="F5B041"/>
                </a:solidFill>
              </a:rPr>
              <a:t>FINAL · PROPUESTO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C5C8739D-B88A-4203-A9F7-F418ECC1884C}"/>
              </a:ext>
            </a:extLst>
          </p:cNvPr>
          <p:cNvSpPr>
            <a:spLocks noGrp="1"/>
          </p:cNvSpPr>
          <p:nvPr/>
        </p:nvSpPr>
        <p:spPr>
          <a:xfrm>
            <a:off x="7848600" y="2914650"/>
            <a:ext cx="3067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Producto, repositorio y defensa.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DE457D50-AD76-4F11-B36D-07498598F60C}"/>
              </a:ext>
            </a:extLst>
          </p:cNvPr>
          <p:cNvSpPr>
            <a:spLocks noGrp="1"/>
          </p:cNvSpPr>
          <p:nvPr/>
        </p:nvSpPr>
        <p:spPr>
          <a:xfrm>
            <a:off x="7848600" y="37719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3A73D639-3C10-485C-B63B-55D7A6665219}"/>
              </a:ext>
            </a:extLst>
          </p:cNvPr>
          <p:cNvSpPr>
            <a:spLocks noGrp="1"/>
          </p:cNvSpPr>
          <p:nvPr/>
        </p:nvSpPr>
        <p:spPr>
          <a:xfrm>
            <a:off x="8058150" y="3676650"/>
            <a:ext cx="2781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Aplicación y repositorio saneado.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5FDE31C9-F188-4A19-A9E4-BA26A7548D4B}"/>
              </a:ext>
            </a:extLst>
          </p:cNvPr>
          <p:cNvSpPr>
            <a:spLocks noGrp="1"/>
          </p:cNvSpPr>
          <p:nvPr/>
        </p:nvSpPr>
        <p:spPr>
          <a:xfrm>
            <a:off x="7848600" y="43053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86128064-3C5E-4ED5-9854-F03A5C44AF7F}"/>
              </a:ext>
            </a:extLst>
          </p:cNvPr>
          <p:cNvSpPr>
            <a:spLocks noGrp="1"/>
          </p:cNvSpPr>
          <p:nvPr/>
        </p:nvSpPr>
        <p:spPr>
          <a:xfrm>
            <a:off x="8058150" y="4210050"/>
            <a:ext cx="2781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README, manuales y resultados.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F9559510-4404-4816-B0F9-3803B50BA908}"/>
              </a:ext>
            </a:extLst>
          </p:cNvPr>
          <p:cNvSpPr>
            <a:spLocks noGrp="1"/>
          </p:cNvSpPr>
          <p:nvPr/>
        </p:nvSpPr>
        <p:spPr>
          <a:xfrm>
            <a:off x="7848600" y="4838700"/>
            <a:ext cx="85725" cy="85725"/>
          </a:xfrm>
          <a:prstGeom prst="ellipse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F881ACD4-8D7F-43CB-8AD1-40DB5EA6F108}"/>
              </a:ext>
            </a:extLst>
          </p:cNvPr>
          <p:cNvSpPr>
            <a:spLocks noGrp="1"/>
          </p:cNvSpPr>
          <p:nvPr/>
        </p:nvSpPr>
        <p:spPr>
          <a:xfrm>
            <a:off x="8058150" y="4743450"/>
            <a:ext cx="2781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Demostración, defensa y aportes.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2AA95C61-0971-4CD9-886B-49B0E4F47AE6}"/>
              </a:ext>
            </a:extLst>
          </p:cNvPr>
          <p:cNvSpPr>
            <a:spLocks noGrp="1"/>
          </p:cNvSpPr>
          <p:nvPr/>
        </p:nvSpPr>
        <p:spPr>
          <a:xfrm>
            <a:off x="628650" y="6438900"/>
            <a:ext cx="10858500" cy="9525"/>
          </a:xfrm>
          <a:prstGeom prst="rect">
            <a:avLst/>
          </a:prstGeom>
          <a:solidFill>
            <a:srgbClr val="E8EEF5"/>
          </a:solidFill>
          <a:ln w="0">
            <a:noFill/>
            <a:prstDash val="solid"/>
          </a:ln>
        </p:spPr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E228BFC7-02EA-42CE-8091-984EC808D2E1}"/>
              </a:ext>
            </a:extLst>
          </p:cNvPr>
          <p:cNvSpPr>
            <a:spLocks noGrp="1"/>
          </p:cNvSpPr>
          <p:nvPr/>
        </p:nvSpPr>
        <p:spPr>
          <a:xfrm>
            <a:off x="628650" y="6515100"/>
            <a:ext cx="8953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Condición: nombres, criterios y justificaciones deben validarse con el docente.</a:t>
            </a:r>
          </a:p>
        </p:txBody>
      </p:sp>
    </p:spTree>
    <p:extLst>
      <p:ext uri="{BB962C8B-B14F-4D97-AF65-F5344CB8AC3E}">
        <p14:creationId xmlns:p14="http://schemas.microsoft.com/office/powerpoint/2010/main" val="235643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8FC77864-9417-44F2-BA1D-87BA83C7AC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5B041"/>
          </a:solidFill>
          <a:ln w="0">
            <a:noFill/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0C66C19-62FF-4DEC-BA1A-269568E0B956}"/>
              </a:ext>
            </a:extLst>
          </p:cNvPr>
          <p:cNvSpPr>
            <a:spLocks noGrp="1"/>
          </p:cNvSpPr>
          <p:nvPr/>
        </p:nvSpPr>
        <p:spPr>
          <a:xfrm>
            <a:off x="628650" y="266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5B041"/>
                </a:solidFill>
              </a:defRPr>
            </a:pPr>
            <a:r>
              <a:rPr sz="975" b="1">
                <a:solidFill>
                  <a:srgbClr val="F5B041"/>
                </a:solidFill>
              </a:rPr>
              <a:t>DECISIÓN DE FASE 1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A06F640-3037-4042-A2DC-5280F28DB1B8}"/>
              </a:ext>
            </a:extLst>
          </p:cNvPr>
          <p:cNvSpPr>
            <a:spLocks noGrp="1"/>
          </p:cNvSpPr>
          <p:nvPr/>
        </p:nvSpPr>
        <p:spPr>
          <a:xfrm>
            <a:off x="11277600" y="2667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75" b="1">
                <a:solidFill>
                  <a:srgbClr val="E8EEF5"/>
                </a:solidFill>
              </a:defRPr>
            </a:pPr>
            <a:r>
              <a:rPr sz="975" b="1">
                <a:solidFill>
                  <a:srgbClr val="E8EEF5"/>
                </a:solidFill>
              </a:rPr>
              <a:t>13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F27E0FA-5AED-4074-A6DF-7701782648BD}"/>
              </a:ext>
            </a:extLst>
          </p:cNvPr>
          <p:cNvSpPr>
            <a:spLocks noGrp="1"/>
          </p:cNvSpPr>
          <p:nvPr/>
        </p:nvSpPr>
        <p:spPr>
          <a:xfrm>
            <a:off x="628650" y="1257300"/>
            <a:ext cx="73342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La definición está lista</a:t>
            </a:r>
          </a:p>
          <a:p>
            <a:pPr algn="l">
              <a:buNone/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para ser evaluada y ajustada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18304D2-B624-415C-A2A3-932BAFFFFFE4}"/>
              </a:ext>
            </a:extLst>
          </p:cNvPr>
          <p:cNvSpPr>
            <a:spLocks noGrp="1"/>
          </p:cNvSpPr>
          <p:nvPr/>
        </p:nvSpPr>
        <p:spPr>
          <a:xfrm>
            <a:off x="657225" y="2895600"/>
            <a:ext cx="7429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0">
                <a:solidFill>
                  <a:srgbClr val="E8EEF5"/>
                </a:solidFill>
              </a:defRPr>
            </a:pPr>
            <a:r>
              <a:rPr sz="1650" b="0">
                <a:solidFill>
                  <a:srgbClr val="E8EEF5"/>
                </a:solidFill>
              </a:rPr>
              <a:t>La propuesta cubre problema, relevancia, objetivos, perfil de egreso, intereses, factibilidad, metodología, planificación y evidencias. Las brechas técnicas quedan convertidas en backlog.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500561C-A634-43F2-B80F-8C23CD43B0FD}"/>
              </a:ext>
            </a:extLst>
          </p:cNvPr>
          <p:cNvSpPr>
            <a:spLocks noGrp="1"/>
          </p:cNvSpPr>
          <p:nvPr/>
        </p:nvSpPr>
        <p:spPr>
          <a:xfrm>
            <a:off x="628650" y="4495800"/>
            <a:ext cx="7429500" cy="876300"/>
          </a:xfrm>
          <a:prstGeom prst="roundRect">
            <a:avLst>
              <a:gd name="adj" fmla="val 13043"/>
            </a:avLst>
          </a:prstGeom>
          <a:solidFill>
            <a:srgbClr val="F5B041"/>
          </a:solidFill>
          <a:ln w="9525">
            <a:solidFill>
              <a:srgbClr val="F5B041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C46566A-F150-4CFA-ADAE-FAB67252A054}"/>
              </a:ext>
            </a:extLst>
          </p:cNvPr>
          <p:cNvSpPr>
            <a:spLocks noGrp="1"/>
          </p:cNvSpPr>
          <p:nvPr/>
        </p:nvSpPr>
        <p:spPr>
          <a:xfrm>
            <a:off x="895350" y="4667250"/>
            <a:ext cx="6896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1A365D"/>
                </a:solidFill>
              </a:defRPr>
            </a:pPr>
            <a:r>
              <a:rPr sz="1650" b="1">
                <a:solidFill>
                  <a:srgbClr val="1A365D"/>
                </a:solidFill>
              </a:rPr>
              <a:t>SOLICITUD: aprobar la definición y validar los criterios de evidencia para iniciar la ejecución.</a:t>
            </a:r>
          </a:p>
        </p:txBody>
      </p:sp>
      <p:pic>
        <p:nvPicPr>
          <p:cNvPr id="20" name="Imagen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724900" y="1799318"/>
            <a:ext cx="2381250" cy="1582964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D3A87421-791B-42C6-AC5C-5378FDC7ECF2}"/>
              </a:ext>
            </a:extLst>
          </p:cNvPr>
          <p:cNvSpPr>
            <a:spLocks noGrp="1"/>
          </p:cNvSpPr>
          <p:nvPr/>
        </p:nvSpPr>
        <p:spPr>
          <a:xfrm>
            <a:off x="8858250" y="40957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F5B041"/>
                </a:solidFill>
              </a:defRPr>
            </a:pPr>
            <a:r>
              <a:rPr sz="975" b="1">
                <a:solidFill>
                  <a:srgbClr val="F5B041"/>
                </a:solidFill>
              </a:rPr>
              <a:t>Siguiente paso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5558388-E3FD-4EEE-8E2D-90C833ECB727}"/>
              </a:ext>
            </a:extLst>
          </p:cNvPr>
          <p:cNvSpPr>
            <a:spLocks noGrp="1"/>
          </p:cNvSpPr>
          <p:nvPr/>
        </p:nvSpPr>
        <p:spPr>
          <a:xfrm>
            <a:off x="8572500" y="4457700"/>
            <a:ext cx="26670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Docente valida evidencias</a:t>
            </a:r>
          </a:p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Equipo ajusta la línea base</a:t>
            </a:r>
          </a:p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Se inicia Sprint 1</a:t>
            </a:r>
          </a:p>
        </p:txBody>
      </p:sp>
    </p:spTree>
    <p:extLst>
      <p:ext uri="{BB962C8B-B14F-4D97-AF65-F5344CB8AC3E}">
        <p14:creationId xmlns:p14="http://schemas.microsoft.com/office/powerpoint/2010/main" val="3098627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1579</Words>
  <Application>Microsoft Office PowerPoint</Application>
  <DocSecurity>0</DocSecurity>
  <PresentationFormat>Panorámica</PresentationFormat>
  <Paragraphs>269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3" baseType="lpstr"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Tsung-Hao Liu</cp:lastModifiedBy>
  <cp:revision>1</cp:revision>
  <dcterms:created xsi:type="dcterms:W3CDTF">2026-08-31T20:58:13Z</dcterms:created>
  <dcterms:modified xsi:type="dcterms:W3CDTF">2026-09-02T03:50:24Z</dcterms:modified>
</cp:coreProperties>
</file>