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La Fase 1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permite</a:t>
            </a:r>
            <a:r>
              <a:rPr dirty="0"/>
              <a:t> </a:t>
            </a:r>
            <a:r>
              <a:rPr dirty="0" err="1"/>
              <a:t>acordar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hacer</a:t>
            </a:r>
            <a:r>
              <a:rPr dirty="0"/>
              <a:t> el backend y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desarrollarlo</a:t>
            </a:r>
            <a:r>
              <a:rPr dirty="0"/>
              <a:t>. El </a:t>
            </a:r>
            <a:r>
              <a:rPr dirty="0" err="1"/>
              <a:t>siguiente</a:t>
            </a:r>
            <a:r>
              <a:rPr dirty="0"/>
              <a:t> paso </a:t>
            </a:r>
            <a:r>
              <a:rPr dirty="0" err="1"/>
              <a:t>será</a:t>
            </a:r>
            <a:r>
              <a:rPr dirty="0"/>
              <a:t> </a:t>
            </a:r>
            <a:r>
              <a:rPr dirty="0" err="1"/>
              <a:t>recibir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insumos</a:t>
            </a:r>
            <a:r>
              <a:rPr dirty="0"/>
              <a:t> </a:t>
            </a:r>
            <a:r>
              <a:rPr dirty="0" err="1"/>
              <a:t>vigentes</a:t>
            </a:r>
            <a:r>
              <a:rPr dirty="0"/>
              <a:t> para </a:t>
            </a:r>
            <a:r>
              <a:rPr dirty="0" err="1"/>
              <a:t>implementar</a:t>
            </a:r>
            <a:r>
              <a:rPr dirty="0"/>
              <a:t> y </a:t>
            </a:r>
            <a:r>
              <a:rPr dirty="0" err="1"/>
              <a:t>verificar</a:t>
            </a:r>
            <a:r>
              <a:rPr dirty="0"/>
              <a:t> las 27 </a:t>
            </a:r>
            <a:r>
              <a:rPr dirty="0" err="1"/>
              <a:t>operaciones</a:t>
            </a:r>
            <a:r>
              <a:rPr dirty="0"/>
              <a:t> </a:t>
            </a:r>
            <a:r>
              <a:rPr dirty="0" err="1"/>
              <a:t>administrativas</a:t>
            </a:r>
            <a:r>
              <a:rPr dirty="0"/>
              <a:t>. </a:t>
            </a:r>
            <a:r>
              <a:rPr dirty="0" err="1"/>
              <a:t>Muchas</a:t>
            </a:r>
            <a:r>
              <a:rPr dirty="0"/>
              <a:t> gracias.</a:t>
            </a:r>
          </a:p>
          <a:p>
            <a:endParaRPr dirty="0"/>
          </a:p>
          <a:p>
            <a:r>
              <a:rPr dirty="0"/>
              <a:t>Fuente: Aprueba_API_Backend.docx, </a:t>
            </a:r>
            <a:r>
              <a:rPr dirty="0" err="1"/>
              <a:t>sección</a:t>
            </a:r>
            <a:r>
              <a:rPr dirty="0"/>
              <a:t> 4. Plan y </a:t>
            </a:r>
            <a:r>
              <a:rPr dirty="0" err="1"/>
              <a:t>decisiones</a:t>
            </a:r>
            <a:r>
              <a:rPr dirty="0"/>
              <a:t> </a:t>
            </a:r>
            <a:r>
              <a:rPr dirty="0" err="1"/>
              <a:t>confirmadas</a:t>
            </a:r>
            <a:r>
              <a:rPr dirty="0"/>
              <a:t> de la </a:t>
            </a:r>
            <a:r>
              <a:rPr dirty="0" err="1"/>
              <a:t>entrega</a:t>
            </a:r>
            <a:r>
              <a:rPr dirty="0"/>
              <a:t> V3.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3FE69466-5037-4A5F-8B05-75D1FB1A1D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031E469-C75C-4B8F-890E-C92FB58EBF3A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DEFINICIÓN DE PROYECTO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6BD4352-BF45-43B8-A4A6-C87B8EFF0CAC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E8EEF5"/>
                </a:solidFill>
              </a:defRPr>
            </a:pPr>
            <a:r>
              <a:rPr sz="975" b="1">
                <a:solidFill>
                  <a:srgbClr val="E8EEF5"/>
                </a:solidFill>
              </a:rPr>
              <a:t>01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3A617F2-08C0-4098-B44B-1139BE06CD0F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914400" cy="762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223D3D5-127E-4016-AB67-A0214ECBBC15}"/>
              </a:ext>
            </a:extLst>
          </p:cNvPr>
          <p:cNvSpPr>
            <a:spLocks noGrp="1"/>
          </p:cNvSpPr>
          <p:nvPr/>
        </p:nvSpPr>
        <p:spPr>
          <a:xfrm>
            <a:off x="628650" y="1847850"/>
            <a:ext cx="6667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Aprueba</a:t>
            </a:r>
          </a:p>
          <a:p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Administración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880F36C-2FC1-4C96-8461-65128EE4F66C}"/>
              </a:ext>
            </a:extLst>
          </p:cNvPr>
          <p:cNvSpPr>
            <a:spLocks noGrp="1"/>
          </p:cNvSpPr>
          <p:nvPr/>
        </p:nvSpPr>
        <p:spPr>
          <a:xfrm>
            <a:off x="657225" y="3600450"/>
            <a:ext cx="6572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0">
                <a:solidFill>
                  <a:srgbClr val="E8EEF5"/>
                </a:solidFill>
              </a:defRPr>
            </a:pPr>
            <a:r>
              <a:rPr sz="1725" b="0">
                <a:solidFill>
                  <a:srgbClr val="E8EEF5"/>
                </a:solidFill>
              </a:rPr>
              <a:t>Fase 1: definición del backend administrativo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84938FD-F873-4EF9-8837-E7FFE9C3E82B}"/>
              </a:ext>
            </a:extLst>
          </p:cNvPr>
          <p:cNvSpPr>
            <a:spLocks noGrp="1"/>
          </p:cNvSpPr>
          <p:nvPr/>
        </p:nvSpPr>
        <p:spPr>
          <a:xfrm>
            <a:off x="657225" y="4514850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Tsung-Hao Liu  ·  Catalina Yanara Padilla Astudillo  ·  Felipe Antonio Rojas Riffo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622C41F-0E37-48B9-AFAC-83F3C34D52DF}"/>
              </a:ext>
            </a:extLst>
          </p:cNvPr>
          <p:cNvSpPr>
            <a:spLocks noGrp="1"/>
          </p:cNvSpPr>
          <p:nvPr/>
        </p:nvSpPr>
        <p:spPr>
          <a:xfrm>
            <a:off x="657225" y="50482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5B041"/>
                </a:solidFill>
              </a:defRPr>
            </a:pPr>
            <a:r>
              <a:rPr sz="1275" b="1">
                <a:solidFill>
                  <a:srgbClr val="F5B041"/>
                </a:solidFill>
              </a:rPr>
              <a:t>2026</a:t>
            </a:r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00" y="2113643"/>
            <a:ext cx="2381250" cy="1582964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A7E3D014-6CB7-4D8B-A886-8D1ED3F973FD}"/>
              </a:ext>
            </a:extLst>
          </p:cNvPr>
          <p:cNvSpPr>
            <a:spLocks noGrp="1"/>
          </p:cNvSpPr>
          <p:nvPr/>
        </p:nvSpPr>
        <p:spPr>
          <a:xfrm>
            <a:off x="8791575" y="430530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00" b="1">
                <a:solidFill>
                  <a:srgbClr val="F5B041"/>
                </a:solidFill>
              </a:defRPr>
            </a:pPr>
            <a:r>
              <a:rPr sz="900" b="1">
                <a:solidFill>
                  <a:srgbClr val="F5B041"/>
                </a:solidFill>
              </a:rPr>
              <a:t>Alcance del equipo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59B9ACA-0A36-437C-AAF9-08F56719756E}"/>
              </a:ext>
            </a:extLst>
          </p:cNvPr>
          <p:cNvSpPr>
            <a:spLocks noGrp="1"/>
          </p:cNvSpPr>
          <p:nvPr/>
        </p:nvSpPr>
        <p:spPr>
          <a:xfrm>
            <a:off x="8286750" y="461010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Backend administrativo</a:t>
            </a:r>
          </a:p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27 endpoints /admin</a:t>
            </a:r>
          </a:p>
        </p:txBody>
      </p:sp>
    </p:spTree>
    <p:extLst>
      <p:ext uri="{BB962C8B-B14F-4D97-AF65-F5344CB8AC3E}">
        <p14:creationId xmlns:p14="http://schemas.microsoft.com/office/powerpoint/2010/main" val="1082141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9DBAAC22-EED6-4F1C-8EE4-406AA89AA4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A3CC0D0-CA8C-4450-AFFB-1AE78A9DFA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F88BDD9-FB6E-4A02-B2E1-8B7B1B22DBBB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PROBLEMA Y OPORTUNIDAD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3C6A3C0-2834-4A1A-91A6-623BDC4484BF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05A9ED6-9259-488B-A03C-2D05DFD95597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Problema y oportunidad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FB65AD-656D-4A75-9793-775F0AB7A2F5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Aprueba necesita gestionar la información y las operaciones del negocio de forma segura.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8B51C95A-FBDD-45C9-A04A-E15F82484F83}"/>
              </a:ext>
            </a:extLst>
          </p:cNvPr>
          <p:cNvSpPr>
            <a:spLocks noGrp="1"/>
          </p:cNvSpPr>
          <p:nvPr/>
        </p:nvSpPr>
        <p:spPr>
          <a:xfrm>
            <a:off x="628650" y="2038350"/>
            <a:ext cx="6762750" cy="3695700"/>
          </a:xfrm>
          <a:prstGeom prst="roundRect">
            <a:avLst>
              <a:gd name="adj" fmla="val 3093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09CC5BF-50DF-40CB-A25B-F8B67C30E7F9}"/>
              </a:ext>
            </a:extLst>
          </p:cNvPr>
          <p:cNvSpPr>
            <a:spLocks noGrp="1"/>
          </p:cNvSpPr>
          <p:nvPr/>
        </p:nvSpPr>
        <p:spPr>
          <a:xfrm>
            <a:off x="990600" y="2324100"/>
            <a:ext cx="542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Necesidades del negocio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9CE28DB-4712-4303-B955-A6B5466BFF70}"/>
              </a:ext>
            </a:extLst>
          </p:cNvPr>
          <p:cNvSpPr>
            <a:spLocks noGrp="1"/>
          </p:cNvSpPr>
          <p:nvPr/>
        </p:nvSpPr>
        <p:spPr>
          <a:xfrm>
            <a:off x="990600" y="30670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3B8574-AFAE-45C3-96BC-DAE60E79B1EA}"/>
              </a:ext>
            </a:extLst>
          </p:cNvPr>
          <p:cNvSpPr>
            <a:spLocks noGrp="1"/>
          </p:cNvSpPr>
          <p:nvPr/>
        </p:nvSpPr>
        <p:spPr>
          <a:xfrm>
            <a:off x="1200150" y="297180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Consultar indicadores comerciales y operativos.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EE062A93-DC5A-4259-AD25-456E0784B2E8}"/>
              </a:ext>
            </a:extLst>
          </p:cNvPr>
          <p:cNvSpPr>
            <a:spLocks noGrp="1"/>
          </p:cNvSpPr>
          <p:nvPr/>
        </p:nvSpPr>
        <p:spPr>
          <a:xfrm>
            <a:off x="990600" y="36957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D6C0217-1B82-48F9-9FCF-539E9A013B19}"/>
              </a:ext>
            </a:extLst>
          </p:cNvPr>
          <p:cNvSpPr>
            <a:spLocks noGrp="1"/>
          </p:cNvSpPr>
          <p:nvPr/>
        </p:nvSpPr>
        <p:spPr>
          <a:xfrm>
            <a:off x="1200150" y="360045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Gestionar usuarios y dar seguimiento al soporte.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4BBFFFB-6BBF-423D-8B7E-5D9BEEB329BB}"/>
              </a:ext>
            </a:extLst>
          </p:cNvPr>
          <p:cNvSpPr>
            <a:spLocks noGrp="1"/>
          </p:cNvSpPr>
          <p:nvPr/>
        </p:nvSpPr>
        <p:spPr>
          <a:xfrm>
            <a:off x="990600" y="43243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2C64D53-39CB-4815-8CFD-07D134C1AD8D}"/>
              </a:ext>
            </a:extLst>
          </p:cNvPr>
          <p:cNvSpPr>
            <a:spLocks noGrp="1"/>
          </p:cNvSpPr>
          <p:nvPr/>
        </p:nvSpPr>
        <p:spPr>
          <a:xfrm>
            <a:off x="1200150" y="422910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Administrar preguntas, sponsors y planes.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6208B99-BFD2-440E-A0FE-199FCCC93DDE}"/>
              </a:ext>
            </a:extLst>
          </p:cNvPr>
          <p:cNvSpPr>
            <a:spLocks noGrp="1"/>
          </p:cNvSpPr>
          <p:nvPr/>
        </p:nvSpPr>
        <p:spPr>
          <a:xfrm>
            <a:off x="990600" y="49530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667BC72-79D3-4F71-82DE-23A74EA8F694}"/>
              </a:ext>
            </a:extLst>
          </p:cNvPr>
          <p:cNvSpPr>
            <a:spLocks noGrp="1"/>
          </p:cNvSpPr>
          <p:nvPr/>
        </p:nvSpPr>
        <p:spPr>
          <a:xfrm>
            <a:off x="1200150" y="485775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Controlar los permisos y registrar las operaciones.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8DDAEB5-8F95-4F2D-9619-8E47BC946899}"/>
              </a:ext>
            </a:extLst>
          </p:cNvPr>
          <p:cNvSpPr>
            <a:spLocks noGrp="1"/>
          </p:cNvSpPr>
          <p:nvPr/>
        </p:nvSpPr>
        <p:spPr>
          <a:xfrm>
            <a:off x="7848600" y="228600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7AE9980-4D34-4AE2-A6E8-34AA5CD70E12}"/>
              </a:ext>
            </a:extLst>
          </p:cNvPr>
          <p:cNvSpPr>
            <a:spLocks noGrp="1"/>
          </p:cNvSpPr>
          <p:nvPr/>
        </p:nvSpPr>
        <p:spPr>
          <a:xfrm>
            <a:off x="7848600" y="2286000"/>
            <a:ext cx="76200" cy="10668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464D169-A655-45BC-A170-E01F98228DB9}"/>
              </a:ext>
            </a:extLst>
          </p:cNvPr>
          <p:cNvSpPr>
            <a:spLocks noGrp="1"/>
          </p:cNvSpPr>
          <p:nvPr/>
        </p:nvSpPr>
        <p:spPr>
          <a:xfrm>
            <a:off x="8086725" y="24193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400" b="1">
                <a:solidFill>
                  <a:srgbClr val="1A365D"/>
                </a:solidFill>
              </a:defRPr>
            </a:pPr>
            <a:r>
              <a:rPr sz="2400" b="1">
                <a:solidFill>
                  <a:srgbClr val="1A365D"/>
                </a:solidFill>
              </a:rPr>
              <a:t>27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2E7B2F9-EED3-430D-973F-8B1176AC6196}"/>
              </a:ext>
            </a:extLst>
          </p:cNvPr>
          <p:cNvSpPr>
            <a:spLocks noGrp="1"/>
          </p:cNvSpPr>
          <p:nvPr/>
        </p:nvSpPr>
        <p:spPr>
          <a:xfrm>
            <a:off x="8086725" y="28765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endpoints administrativos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060F8D6-0BF0-4904-AC9F-A926AAE7149E}"/>
              </a:ext>
            </a:extLst>
          </p:cNvPr>
          <p:cNvSpPr>
            <a:spLocks noGrp="1"/>
          </p:cNvSpPr>
          <p:nvPr/>
        </p:nvSpPr>
        <p:spPr>
          <a:xfrm>
            <a:off x="7848600" y="367665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8960EE4-A364-4811-8746-BADE3C102845}"/>
              </a:ext>
            </a:extLst>
          </p:cNvPr>
          <p:cNvSpPr>
            <a:spLocks noGrp="1"/>
          </p:cNvSpPr>
          <p:nvPr/>
        </p:nvSpPr>
        <p:spPr>
          <a:xfrm>
            <a:off x="7848600" y="3676650"/>
            <a:ext cx="76200" cy="106680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C8580EE-43ED-4C4E-88DF-E6A654D28AB3}"/>
              </a:ext>
            </a:extLst>
          </p:cNvPr>
          <p:cNvSpPr>
            <a:spLocks noGrp="1"/>
          </p:cNvSpPr>
          <p:nvPr/>
        </p:nvSpPr>
        <p:spPr>
          <a:xfrm>
            <a:off x="8086725" y="381000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400" b="1">
                <a:solidFill>
                  <a:srgbClr val="1A365D"/>
                </a:solidFill>
              </a:defRPr>
            </a:pPr>
            <a:r>
              <a:rPr sz="2400" b="1">
                <a:solidFill>
                  <a:srgbClr val="1A365D"/>
                </a:solidFill>
              </a:rPr>
              <a:t>1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6E353E0A-A7AD-46EF-8390-CFF14B229543}"/>
              </a:ext>
            </a:extLst>
          </p:cNvPr>
          <p:cNvSpPr>
            <a:spLocks noGrp="1"/>
          </p:cNvSpPr>
          <p:nvPr/>
        </p:nvSpPr>
        <p:spPr>
          <a:xfrm>
            <a:off x="8086725" y="426720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API para administrar el negocio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2656A43-7D79-4D5D-9323-B19EB02AF0C8}"/>
              </a:ext>
            </a:extLst>
          </p:cNvPr>
          <p:cNvSpPr>
            <a:spLocks noGrp="1"/>
          </p:cNvSpPr>
          <p:nvPr/>
        </p:nvSpPr>
        <p:spPr>
          <a:xfrm>
            <a:off x="7848600" y="50673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1A365D"/>
                </a:solidFill>
              </a:defRPr>
            </a:pPr>
            <a:r>
              <a:rPr sz="1050" b="1">
                <a:solidFill>
                  <a:srgbClr val="1A365D"/>
                </a:solidFill>
              </a:rPr>
              <a:t>Oportunidad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19389312-7AAE-4093-89BE-3F51C35F2CF2}"/>
              </a:ext>
            </a:extLst>
          </p:cNvPr>
          <p:cNvSpPr>
            <a:spLocks noGrp="1"/>
          </p:cNvSpPr>
          <p:nvPr/>
        </p:nvSpPr>
        <p:spPr>
          <a:xfrm>
            <a:off x="7848600" y="53530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1E293B"/>
                </a:solidFill>
              </a:defRPr>
            </a:pPr>
            <a:r>
              <a:rPr sz="1425" b="1">
                <a:solidFill>
                  <a:srgbClr val="1E293B"/>
                </a:solidFill>
              </a:rPr>
              <a:t>Centralizar las reglas y el acceso a los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F5CA8D6-0C11-4A84-8E3D-D346BC299353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E8B60B1-E31F-4DBB-86AA-3DA585337ECD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181990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ángulo 40">
            <a:extLst>
              <a:ext uri="{FF2B5EF4-FFF2-40B4-BE49-F238E27FC236}">
                <a16:creationId xmlns:a16="http://schemas.microsoft.com/office/drawing/2014/main" id="{6FA4A935-D449-4FDB-A026-540A500487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A02D03-A378-4DFA-A323-1C29F3ECCC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648FB90-1685-4BB2-96E5-CE4EA713965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SOLUCIÓN PROPUESTA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826C80-BD7C-4F71-B68C-9CE111E34A3A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4BF3E41-A589-420B-BAA0-D1892BDB59FE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Solución propuesta: una API administrativa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E011947-BEDB-400A-8F8F-69AB73AE1C90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27 endpoints /admin. El alcance excluye la aplicación del alumno y el frontend completo.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21AB3AE-4123-4B50-9ECE-E9A00A1C757D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5B85B26-EDE1-4800-AD46-CA5616420189}"/>
              </a:ext>
            </a:extLst>
          </p:cNvPr>
          <p:cNvSpPr>
            <a:spLocks noGrp="1"/>
          </p:cNvSpPr>
          <p:nvPr/>
        </p:nvSpPr>
        <p:spPr>
          <a:xfrm>
            <a:off x="80010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2C9AD03-7286-4D03-8671-0FCE903EAD2A}"/>
              </a:ext>
            </a:extLst>
          </p:cNvPr>
          <p:cNvSpPr>
            <a:spLocks noGrp="1"/>
          </p:cNvSpPr>
          <p:nvPr/>
        </p:nvSpPr>
        <p:spPr>
          <a:xfrm>
            <a:off x="80010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Acceso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3DCC8D0-0068-426F-9982-4B9B051AA722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Login y permisos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08DF432-B4A0-43CE-BE4A-41B5B42B39BF}"/>
              </a:ext>
            </a:extLst>
          </p:cNvPr>
          <p:cNvSpPr>
            <a:spLocks noGrp="1"/>
          </p:cNvSpPr>
          <p:nvPr/>
        </p:nvSpPr>
        <p:spPr>
          <a:xfrm>
            <a:off x="335280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7128AAF-8B67-4B46-B4AF-31B627DDB60E}"/>
              </a:ext>
            </a:extLst>
          </p:cNvPr>
          <p:cNvSpPr>
            <a:spLocks noGrp="1"/>
          </p:cNvSpPr>
          <p:nvPr/>
        </p:nvSpPr>
        <p:spPr>
          <a:xfrm>
            <a:off x="352425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02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B6F750D-CB27-4786-B41F-9992F68F8E4E}"/>
              </a:ext>
            </a:extLst>
          </p:cNvPr>
          <p:cNvSpPr>
            <a:spLocks noGrp="1"/>
          </p:cNvSpPr>
          <p:nvPr/>
        </p:nvSpPr>
        <p:spPr>
          <a:xfrm>
            <a:off x="352425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Métricas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47C6405-B401-45D8-9743-318D0A0901E4}"/>
              </a:ext>
            </a:extLst>
          </p:cNvPr>
          <p:cNvSpPr>
            <a:spLocks noGrp="1"/>
          </p:cNvSpPr>
          <p:nvPr/>
        </p:nvSpPr>
        <p:spPr>
          <a:xfrm>
            <a:off x="352425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Indicadores e ingresos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9AFE203-A219-406C-BF08-0CE5DB7A5102}"/>
              </a:ext>
            </a:extLst>
          </p:cNvPr>
          <p:cNvSpPr>
            <a:spLocks noGrp="1"/>
          </p:cNvSpPr>
          <p:nvPr/>
        </p:nvSpPr>
        <p:spPr>
          <a:xfrm>
            <a:off x="607695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16CB166-735C-44C4-96F1-20A199CEA763}"/>
              </a:ext>
            </a:extLst>
          </p:cNvPr>
          <p:cNvSpPr>
            <a:spLocks noGrp="1"/>
          </p:cNvSpPr>
          <p:nvPr/>
        </p:nvSpPr>
        <p:spPr>
          <a:xfrm>
            <a:off x="624840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03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5FBD002-5C5B-42BF-814A-CA1759872F14}"/>
              </a:ext>
            </a:extLst>
          </p:cNvPr>
          <p:cNvSpPr>
            <a:spLocks noGrp="1"/>
          </p:cNvSpPr>
          <p:nvPr/>
        </p:nvSpPr>
        <p:spPr>
          <a:xfrm>
            <a:off x="624840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Sponsors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A6AF31E-719F-4DFC-8BAF-3197EE940D8D}"/>
              </a:ext>
            </a:extLst>
          </p:cNvPr>
          <p:cNvSpPr>
            <a:spLocks noGrp="1"/>
          </p:cNvSpPr>
          <p:nvPr/>
        </p:nvSpPr>
        <p:spPr>
          <a:xfrm>
            <a:off x="624840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Gestión de patrocinadores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2673B461-4E03-4F60-9D8E-372B8080E9BB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C455640-B082-4A43-9C23-D8C2266483C9}"/>
              </a:ext>
            </a:extLst>
          </p:cNvPr>
          <p:cNvSpPr>
            <a:spLocks noGrp="1"/>
          </p:cNvSpPr>
          <p:nvPr/>
        </p:nvSpPr>
        <p:spPr>
          <a:xfrm>
            <a:off x="897255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04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2B494D7-ED67-467F-87EB-481C458779A9}"/>
              </a:ext>
            </a:extLst>
          </p:cNvPr>
          <p:cNvSpPr>
            <a:spLocks noGrp="1"/>
          </p:cNvSpPr>
          <p:nvPr/>
        </p:nvSpPr>
        <p:spPr>
          <a:xfrm>
            <a:off x="897255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Operación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192DCC9-1C33-4EAC-9372-9D8057A9B991}"/>
              </a:ext>
            </a:extLst>
          </p:cNvPr>
          <p:cNvSpPr>
            <a:spLocks noGrp="1"/>
          </p:cNvSpPr>
          <p:nvPr/>
        </p:nvSpPr>
        <p:spPr>
          <a:xfrm>
            <a:off x="897255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Servicios y contenedores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F97FD7E2-1678-4B15-9037-907ABE7AF365}"/>
              </a:ext>
            </a:extLst>
          </p:cNvPr>
          <p:cNvSpPr>
            <a:spLocks noGrp="1"/>
          </p:cNvSpPr>
          <p:nvPr/>
        </p:nvSpPr>
        <p:spPr>
          <a:xfrm>
            <a:off x="62865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347B021-5800-48E5-B090-6BBFF16FCCC8}"/>
              </a:ext>
            </a:extLst>
          </p:cNvPr>
          <p:cNvSpPr>
            <a:spLocks noGrp="1"/>
          </p:cNvSpPr>
          <p:nvPr/>
        </p:nvSpPr>
        <p:spPr>
          <a:xfrm>
            <a:off x="80010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05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4491036B-BF00-4AF5-9EFC-0702C274C560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Usuarios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ECD2F89-0EDA-495C-B44D-DEB2F8ED896B}"/>
              </a:ext>
            </a:extLst>
          </p:cNvPr>
          <p:cNvSpPr>
            <a:spLocks noGrp="1"/>
          </p:cNvSpPr>
          <p:nvPr/>
        </p:nvSpPr>
        <p:spPr>
          <a:xfrm>
            <a:off x="80010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Consulta y actualización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EDEED007-D483-4FEE-8A8D-4273EBB03416}"/>
              </a:ext>
            </a:extLst>
          </p:cNvPr>
          <p:cNvSpPr>
            <a:spLocks noGrp="1"/>
          </p:cNvSpPr>
          <p:nvPr/>
        </p:nvSpPr>
        <p:spPr>
          <a:xfrm>
            <a:off x="335280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BB43EB7-FA18-47E8-89DE-1E186B9128CB}"/>
              </a:ext>
            </a:extLst>
          </p:cNvPr>
          <p:cNvSpPr>
            <a:spLocks noGrp="1"/>
          </p:cNvSpPr>
          <p:nvPr/>
        </p:nvSpPr>
        <p:spPr>
          <a:xfrm>
            <a:off x="352425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06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7ED6741-71C9-479F-9AD6-A6D00DED8AE4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Soporte y revisiones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4DFA804-2605-4090-A782-F71533BD6BE2}"/>
              </a:ext>
            </a:extLst>
          </p:cNvPr>
          <p:cNvSpPr>
            <a:spLocks noGrp="1"/>
          </p:cNvSpPr>
          <p:nvPr/>
        </p:nvSpPr>
        <p:spPr>
          <a:xfrm>
            <a:off x="352425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Tickets y correcciones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D189DEEC-03EF-43F0-8BF7-0E8C59AE27C3}"/>
              </a:ext>
            </a:extLst>
          </p:cNvPr>
          <p:cNvSpPr>
            <a:spLocks noGrp="1"/>
          </p:cNvSpPr>
          <p:nvPr/>
        </p:nvSpPr>
        <p:spPr>
          <a:xfrm>
            <a:off x="607695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EB7F2B8-8322-40E0-BD82-047B0686004E}"/>
              </a:ext>
            </a:extLst>
          </p:cNvPr>
          <p:cNvSpPr>
            <a:spLocks noGrp="1"/>
          </p:cNvSpPr>
          <p:nvPr/>
        </p:nvSpPr>
        <p:spPr>
          <a:xfrm>
            <a:off x="624840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07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DDA7C070-C3ED-4856-B07B-201DD1F45F81}"/>
              </a:ext>
            </a:extLst>
          </p:cNvPr>
          <p:cNvSpPr>
            <a:spLocks noGrp="1"/>
          </p:cNvSpPr>
          <p:nvPr/>
        </p:nvSpPr>
        <p:spPr>
          <a:xfrm>
            <a:off x="624840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Preguntas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50905C88-ADC7-4E0A-912F-830B6569FA9B}"/>
              </a:ext>
            </a:extLst>
          </p:cNvPr>
          <p:cNvSpPr>
            <a:spLocks noGrp="1"/>
          </p:cNvSpPr>
          <p:nvPr/>
        </p:nvSpPr>
        <p:spPr>
          <a:xfrm>
            <a:off x="624840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Gestión e importación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8FFB7306-F9BA-4C51-8ABF-F803B85313E0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5C2F78F8-610B-49BA-836A-D480D9BC51D1}"/>
              </a:ext>
            </a:extLst>
          </p:cNvPr>
          <p:cNvSpPr>
            <a:spLocks noGrp="1"/>
          </p:cNvSpPr>
          <p:nvPr/>
        </p:nvSpPr>
        <p:spPr>
          <a:xfrm>
            <a:off x="897255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08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059E18B-CEBC-491D-B274-7555FBD5304B}"/>
              </a:ext>
            </a:extLst>
          </p:cNvPr>
          <p:cNvSpPr>
            <a:spLocks noGrp="1"/>
          </p:cNvSpPr>
          <p:nvPr/>
        </p:nvSpPr>
        <p:spPr>
          <a:xfrm>
            <a:off x="897255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Planes y funciones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31F247C2-6D85-40B2-8408-0A2E08F991C0}"/>
              </a:ext>
            </a:extLst>
          </p:cNvPr>
          <p:cNvSpPr>
            <a:spLocks noGrp="1"/>
          </p:cNvSpPr>
          <p:nvPr/>
        </p:nvSpPr>
        <p:spPr>
          <a:xfrm>
            <a:off x="897255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Catálogo administrativo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40C3F46-0018-4BDE-8F95-93655DE069CF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A438E008-0ED1-430E-A4DE-EB6DF6132104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098355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ángulo 38">
            <a:extLst>
              <a:ext uri="{FF2B5EF4-FFF2-40B4-BE49-F238E27FC236}">
                <a16:creationId xmlns:a16="http://schemas.microsoft.com/office/drawing/2014/main" id="{A84AE0BF-8BDE-4D38-BEA8-FE3B93B6FE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0CEE51B-6578-4769-9FBA-8861E8243F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735E24A-4C1F-4FBA-9E65-5014CFB9C27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INTERESES Y APORTES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982FB47-02B6-422F-9142-2FECFC583DCA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9A6F98B-33F7-43B1-920D-A13BC4B1CFCF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Intereses profesionales y aportes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1848CF2-5ABE-484C-BB30-330FFA05A377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Aplicaremos nuestros intereses al backend mediante responsabilidades concretas.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9996EA-1692-43EE-979C-6DCF277CF250}"/>
              </a:ext>
            </a:extLst>
          </p:cNvPr>
          <p:cNvSpPr>
            <a:spLocks noGrp="1"/>
          </p:cNvSpPr>
          <p:nvPr/>
        </p:nvSpPr>
        <p:spPr>
          <a:xfrm>
            <a:off x="62865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D6DCD99-932C-4FFD-A866-F02917D986EB}"/>
              </a:ext>
            </a:extLst>
          </p:cNvPr>
          <p:cNvSpPr>
            <a:spLocks noGrp="1"/>
          </p:cNvSpPr>
          <p:nvPr/>
        </p:nvSpPr>
        <p:spPr>
          <a:xfrm>
            <a:off x="628650" y="2190750"/>
            <a:ext cx="3295650" cy="95250"/>
          </a:xfrm>
          <a:prstGeom prst="rect">
            <a:avLst/>
          </a:prstGeom>
          <a:solidFill>
            <a:srgbClr val="DC2626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E56C67-FF04-4631-A979-B0347D4B6B2D}"/>
              </a:ext>
            </a:extLst>
          </p:cNvPr>
          <p:cNvSpPr>
            <a:spLocks noGrp="1"/>
          </p:cNvSpPr>
          <p:nvPr/>
        </p:nvSpPr>
        <p:spPr>
          <a:xfrm>
            <a:off x="85725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TSUNG-HAO LIU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CAD224B-7CD8-4254-8A6E-56298B6752EB}"/>
              </a:ext>
            </a:extLst>
          </p:cNvPr>
          <p:cNvSpPr>
            <a:spLocks noGrp="1"/>
          </p:cNvSpPr>
          <p:nvPr/>
        </p:nvSpPr>
        <p:spPr>
          <a:xfrm>
            <a:off x="85725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Intereses: web y gestión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87AD476-4947-4859-997D-C1EEED2C2531}"/>
              </a:ext>
            </a:extLst>
          </p:cNvPr>
          <p:cNvSpPr>
            <a:spLocks noGrp="1"/>
          </p:cNvSpPr>
          <p:nvPr/>
        </p:nvSpPr>
        <p:spPr>
          <a:xfrm>
            <a:off x="85725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73626CA-09BB-4079-AC64-B69872BF7379}"/>
              </a:ext>
            </a:extLst>
          </p:cNvPr>
          <p:cNvSpPr>
            <a:spLocks noGrp="1"/>
          </p:cNvSpPr>
          <p:nvPr/>
        </p:nvSpPr>
        <p:spPr>
          <a:xfrm>
            <a:off x="106680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Desarrollar servicios de la API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95D86036-22CC-498A-AB5F-9F27FDAC6C8B}"/>
              </a:ext>
            </a:extLst>
          </p:cNvPr>
          <p:cNvSpPr>
            <a:spLocks noGrp="1"/>
          </p:cNvSpPr>
          <p:nvPr/>
        </p:nvSpPr>
        <p:spPr>
          <a:xfrm>
            <a:off x="85725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F935733-90B5-4B85-A036-3C9428A40FBE}"/>
              </a:ext>
            </a:extLst>
          </p:cNvPr>
          <p:cNvSpPr>
            <a:spLocks noGrp="1"/>
          </p:cNvSpPr>
          <p:nvPr/>
        </p:nvSpPr>
        <p:spPr>
          <a:xfrm>
            <a:off x="106680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Organizar tareas y seguimiento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CCAFCEEB-B62B-4218-9CFD-5313DA198FA4}"/>
              </a:ext>
            </a:extLst>
          </p:cNvPr>
          <p:cNvSpPr>
            <a:spLocks noGrp="1"/>
          </p:cNvSpPr>
          <p:nvPr/>
        </p:nvSpPr>
        <p:spPr>
          <a:xfrm>
            <a:off x="85725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CB4A71-7C8A-4A37-9DB2-28A70EDC2916}"/>
              </a:ext>
            </a:extLst>
          </p:cNvPr>
          <p:cNvSpPr>
            <a:spLocks noGrp="1"/>
          </p:cNvSpPr>
          <p:nvPr/>
        </p:nvSpPr>
        <p:spPr>
          <a:xfrm>
            <a:off x="106680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Integrar datos y accesos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3008A983-3151-4C0B-A3A4-0B119E3001C9}"/>
              </a:ext>
            </a:extLst>
          </p:cNvPr>
          <p:cNvSpPr>
            <a:spLocks noGrp="1"/>
          </p:cNvSpPr>
          <p:nvPr/>
        </p:nvSpPr>
        <p:spPr>
          <a:xfrm>
            <a:off x="426720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355C8E0-42D5-4013-ABCC-3A8FAEFDD5E0}"/>
              </a:ext>
            </a:extLst>
          </p:cNvPr>
          <p:cNvSpPr>
            <a:spLocks noGrp="1"/>
          </p:cNvSpPr>
          <p:nvPr/>
        </p:nvSpPr>
        <p:spPr>
          <a:xfrm>
            <a:off x="4267200" y="2190750"/>
            <a:ext cx="3295650" cy="952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E3A9833-E1FF-4F33-B7D4-5001E4FFA073}"/>
              </a:ext>
            </a:extLst>
          </p:cNvPr>
          <p:cNvSpPr>
            <a:spLocks noGrp="1"/>
          </p:cNvSpPr>
          <p:nvPr/>
        </p:nvSpPr>
        <p:spPr>
          <a:xfrm>
            <a:off x="449580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CATALINA PADILLA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EA87AC0-54EC-4FB2-B300-45B54B067D1E}"/>
              </a:ext>
            </a:extLst>
          </p:cNvPr>
          <p:cNvSpPr>
            <a:spLocks noGrp="1"/>
          </p:cNvSpPr>
          <p:nvPr/>
        </p:nvSpPr>
        <p:spPr>
          <a:xfrm>
            <a:off x="449580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Intereses: producto y datos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3F3137A2-A169-43FA-BA83-BAB839ADDDE7}"/>
              </a:ext>
            </a:extLst>
          </p:cNvPr>
          <p:cNvSpPr>
            <a:spLocks noGrp="1"/>
          </p:cNvSpPr>
          <p:nvPr/>
        </p:nvSpPr>
        <p:spPr>
          <a:xfrm>
            <a:off x="449580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D55EBB0-D1E0-4F06-9910-E1D85C7856DC}"/>
              </a:ext>
            </a:extLst>
          </p:cNvPr>
          <p:cNvSpPr>
            <a:spLocks noGrp="1"/>
          </p:cNvSpPr>
          <p:nvPr/>
        </p:nvSpPr>
        <p:spPr>
          <a:xfrm>
            <a:off x="470535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Definir requisitos del negocio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BD52816B-68A5-4B9A-9FAA-277E46460E1F}"/>
              </a:ext>
            </a:extLst>
          </p:cNvPr>
          <p:cNvSpPr>
            <a:spLocks noGrp="1"/>
          </p:cNvSpPr>
          <p:nvPr/>
        </p:nvSpPr>
        <p:spPr>
          <a:xfrm>
            <a:off x="449580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4959B76-CB52-465D-B23D-88EF54036B56}"/>
              </a:ext>
            </a:extLst>
          </p:cNvPr>
          <p:cNvSpPr>
            <a:spLocks noGrp="1"/>
          </p:cNvSpPr>
          <p:nvPr/>
        </p:nvSpPr>
        <p:spPr>
          <a:xfrm>
            <a:off x="470535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Priorizar métricas y planes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92BB115D-E751-4BDA-B713-49BD3935491E}"/>
              </a:ext>
            </a:extLst>
          </p:cNvPr>
          <p:cNvSpPr>
            <a:spLocks noGrp="1"/>
          </p:cNvSpPr>
          <p:nvPr/>
        </p:nvSpPr>
        <p:spPr>
          <a:xfrm>
            <a:off x="449580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0E9D414-1778-481C-9133-35A5E70CD5E7}"/>
              </a:ext>
            </a:extLst>
          </p:cNvPr>
          <p:cNvSpPr>
            <a:spLocks noGrp="1"/>
          </p:cNvSpPr>
          <p:nvPr/>
        </p:nvSpPr>
        <p:spPr>
          <a:xfrm>
            <a:off x="470535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Documentar la aceptación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D51722B7-B2D8-4254-84FE-A3E55656857C}"/>
              </a:ext>
            </a:extLst>
          </p:cNvPr>
          <p:cNvSpPr>
            <a:spLocks noGrp="1"/>
          </p:cNvSpPr>
          <p:nvPr/>
        </p:nvSpPr>
        <p:spPr>
          <a:xfrm>
            <a:off x="790575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17C00E-95DD-441C-AD47-372D14A2871B}"/>
              </a:ext>
            </a:extLst>
          </p:cNvPr>
          <p:cNvSpPr>
            <a:spLocks noGrp="1"/>
          </p:cNvSpPr>
          <p:nvPr/>
        </p:nvSpPr>
        <p:spPr>
          <a:xfrm>
            <a:off x="7905750" y="2190750"/>
            <a:ext cx="3295650" cy="9525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BED125AB-2F2E-4F40-8A51-B8827F14568A}"/>
              </a:ext>
            </a:extLst>
          </p:cNvPr>
          <p:cNvSpPr>
            <a:spLocks noGrp="1"/>
          </p:cNvSpPr>
          <p:nvPr/>
        </p:nvSpPr>
        <p:spPr>
          <a:xfrm>
            <a:off x="813435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FELIPE ROJAS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EF5BB60-49B1-4656-A53D-7CC0E07DA06F}"/>
              </a:ext>
            </a:extLst>
          </p:cNvPr>
          <p:cNvSpPr>
            <a:spLocks noGrp="1"/>
          </p:cNvSpPr>
          <p:nvPr/>
        </p:nvSpPr>
        <p:spPr>
          <a:xfrm>
            <a:off x="813435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Intereses: arquitectura y calidad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28062754-62E6-4874-8363-E3F6DDA19A26}"/>
              </a:ext>
            </a:extLst>
          </p:cNvPr>
          <p:cNvSpPr>
            <a:spLocks noGrp="1"/>
          </p:cNvSpPr>
          <p:nvPr/>
        </p:nvSpPr>
        <p:spPr>
          <a:xfrm>
            <a:off x="813435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56376C5A-1F38-4537-B976-1EC4BBD7F531}"/>
              </a:ext>
            </a:extLst>
          </p:cNvPr>
          <p:cNvSpPr>
            <a:spLocks noGrp="1"/>
          </p:cNvSpPr>
          <p:nvPr/>
        </p:nvSpPr>
        <p:spPr>
          <a:xfrm>
            <a:off x="834390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Diseñar componentes y datos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D6E81EE4-BB4D-4C23-AA97-E2D5EC96C921}"/>
              </a:ext>
            </a:extLst>
          </p:cNvPr>
          <p:cNvSpPr>
            <a:spLocks noGrp="1"/>
          </p:cNvSpPr>
          <p:nvPr/>
        </p:nvSpPr>
        <p:spPr>
          <a:xfrm>
            <a:off x="813435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83704AA9-157C-4B67-BECC-B347F55C7D39}"/>
              </a:ext>
            </a:extLst>
          </p:cNvPr>
          <p:cNvSpPr>
            <a:spLocks noGrp="1"/>
          </p:cNvSpPr>
          <p:nvPr/>
        </p:nvSpPr>
        <p:spPr>
          <a:xfrm>
            <a:off x="834390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Automatizar pruebas del backend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CCCA8858-6974-4116-AB1E-5D2CDBF013E3}"/>
              </a:ext>
            </a:extLst>
          </p:cNvPr>
          <p:cNvSpPr>
            <a:spLocks noGrp="1"/>
          </p:cNvSpPr>
          <p:nvPr/>
        </p:nvSpPr>
        <p:spPr>
          <a:xfrm>
            <a:off x="813435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95145C2F-5F04-463A-85B4-B2A946BBFFBE}"/>
              </a:ext>
            </a:extLst>
          </p:cNvPr>
          <p:cNvSpPr>
            <a:spLocks noGrp="1"/>
          </p:cNvSpPr>
          <p:nvPr/>
        </p:nvSpPr>
        <p:spPr>
          <a:xfrm>
            <a:off x="834390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Preparar integración y despliegue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09E3B544-110E-49CB-9895-7C5340C61356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56807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DE72DC-49BE-48E3-847B-95A3872147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32BB12-BEB5-4AF5-8F84-3ECC6D136F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AB8A4C6-14E6-4DE1-8D76-CE25CE488D9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PERFIL DE EGRESO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9DDFF1E-7925-4990-A40B-49AB2CDC0F2D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9BAFE28-7DBC-4201-8EB6-EA77EB169814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Relación con el perfil de egreso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F7FCA85-2C53-4942-8AD9-88BA902021E8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El proyecto permite aplicar las competencias de Ingeniería en Informática.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3A26FD9-62F2-4596-A2FC-295805B69855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923064-8D22-4D66-87AB-5AAD0EF5A534}"/>
              </a:ext>
            </a:extLst>
          </p:cNvPr>
          <p:cNvSpPr>
            <a:spLocks noGrp="1"/>
          </p:cNvSpPr>
          <p:nvPr/>
        </p:nvSpPr>
        <p:spPr>
          <a:xfrm>
            <a:off x="1200150" y="207645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307313E-8A15-4F0F-A368-E6519F4F7D3F}"/>
              </a:ext>
            </a:extLst>
          </p:cNvPr>
          <p:cNvSpPr>
            <a:spLocks noGrp="1"/>
          </p:cNvSpPr>
          <p:nvPr/>
        </p:nvSpPr>
        <p:spPr>
          <a:xfrm>
            <a:off x="1466850" y="20383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Diseño de soluciones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C82AA0E-F5CE-44D1-9474-DAFFDA87B661}"/>
              </a:ext>
            </a:extLst>
          </p:cNvPr>
          <p:cNvSpPr>
            <a:spLocks noGrp="1"/>
          </p:cNvSpPr>
          <p:nvPr/>
        </p:nvSpPr>
        <p:spPr>
          <a:xfrm>
            <a:off x="4552950" y="203835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Requisitos, arquitectura y modelo de datos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186A2B8-F902-45E4-9202-084DFA5DAAF4}"/>
              </a:ext>
            </a:extLst>
          </p:cNvPr>
          <p:cNvSpPr>
            <a:spLocks noGrp="1"/>
          </p:cNvSpPr>
          <p:nvPr/>
        </p:nvSpPr>
        <p:spPr>
          <a:xfrm>
            <a:off x="685800" y="2828925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75D39CE-9BE2-49F0-ACEE-2B6106EBDA2B}"/>
              </a:ext>
            </a:extLst>
          </p:cNvPr>
          <p:cNvSpPr>
            <a:spLocks noGrp="1"/>
          </p:cNvSpPr>
          <p:nvPr/>
        </p:nvSpPr>
        <p:spPr>
          <a:xfrm>
            <a:off x="1200150" y="2867025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8FFC58F-ABA6-4DE6-BC14-F958CAEF20EC}"/>
              </a:ext>
            </a:extLst>
          </p:cNvPr>
          <p:cNvSpPr>
            <a:spLocks noGrp="1"/>
          </p:cNvSpPr>
          <p:nvPr/>
        </p:nvSpPr>
        <p:spPr>
          <a:xfrm>
            <a:off x="1466850" y="282892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Desarrollo de software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E733FF7-582E-418C-84F0-2B3066C1B970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Implementación de servicios backend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D601C79-ABFB-416C-AAE2-77559817C9E2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03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E9209FB-3489-48F1-811F-2AB93E5BE0BC}"/>
              </a:ext>
            </a:extLst>
          </p:cNvPr>
          <p:cNvSpPr>
            <a:spLocks noGrp="1"/>
          </p:cNvSpPr>
          <p:nvPr/>
        </p:nvSpPr>
        <p:spPr>
          <a:xfrm>
            <a:off x="1200150" y="365760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9CFF5DD-B6CE-438D-9558-13ACE5B50E22}"/>
              </a:ext>
            </a:extLst>
          </p:cNvPr>
          <p:cNvSpPr>
            <a:spLocks noGrp="1"/>
          </p:cNvSpPr>
          <p:nvPr/>
        </p:nvSpPr>
        <p:spPr>
          <a:xfrm>
            <a:off x="1466850" y="36195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Gestión de proyectos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FC294AE-6417-4DF1-B473-2ECC4D3A76CA}"/>
              </a:ext>
            </a:extLst>
          </p:cNvPr>
          <p:cNvSpPr>
            <a:spLocks noGrp="1"/>
          </p:cNvSpPr>
          <p:nvPr/>
        </p:nvSpPr>
        <p:spPr>
          <a:xfrm>
            <a:off x="4552950" y="361950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Planificación, Gantt y seguimiento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7604AFF-43AD-4C89-8B0E-D28FBECB3B6B}"/>
              </a:ext>
            </a:extLst>
          </p:cNvPr>
          <p:cNvSpPr>
            <a:spLocks noGrp="1"/>
          </p:cNvSpPr>
          <p:nvPr/>
        </p:nvSpPr>
        <p:spPr>
          <a:xfrm>
            <a:off x="685800" y="4410075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04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A3D9576-55FD-4067-A8FE-F276B0A3BA0A}"/>
              </a:ext>
            </a:extLst>
          </p:cNvPr>
          <p:cNvSpPr>
            <a:spLocks noGrp="1"/>
          </p:cNvSpPr>
          <p:nvPr/>
        </p:nvSpPr>
        <p:spPr>
          <a:xfrm>
            <a:off x="1200150" y="4448175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E4D8E0C-0F47-4CCA-86E7-90FB6A9DEF3A}"/>
              </a:ext>
            </a:extLst>
          </p:cNvPr>
          <p:cNvSpPr>
            <a:spLocks noGrp="1"/>
          </p:cNvSpPr>
          <p:nvPr/>
        </p:nvSpPr>
        <p:spPr>
          <a:xfrm>
            <a:off x="1466850" y="441007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Calidad y seguridad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E1A3427A-9AE0-4F00-84B1-FFB1144A8482}"/>
              </a:ext>
            </a:extLst>
          </p:cNvPr>
          <p:cNvSpPr>
            <a:spLocks noGrp="1"/>
          </p:cNvSpPr>
          <p:nvPr/>
        </p:nvSpPr>
        <p:spPr>
          <a:xfrm>
            <a:off x="4552950" y="4410075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Casos de prueba, controles y trazabilidad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52E35DE-5003-4955-9875-5A453ADDEDCC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05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0181694A-6F05-46E9-9F83-CDE0BDBF32DE}"/>
              </a:ext>
            </a:extLst>
          </p:cNvPr>
          <p:cNvSpPr>
            <a:spLocks noGrp="1"/>
          </p:cNvSpPr>
          <p:nvPr/>
        </p:nvSpPr>
        <p:spPr>
          <a:xfrm>
            <a:off x="1200150" y="523875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71CD3B3-017F-47B6-B7DC-9E5BC08AB092}"/>
              </a:ext>
            </a:extLst>
          </p:cNvPr>
          <p:cNvSpPr>
            <a:spLocks noGrp="1"/>
          </p:cNvSpPr>
          <p:nvPr/>
        </p:nvSpPr>
        <p:spPr>
          <a:xfrm>
            <a:off x="1466850" y="52006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Comunicación profesional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5F94D814-3118-43E2-A74D-498129A8247A}"/>
              </a:ext>
            </a:extLst>
          </p:cNvPr>
          <p:cNvSpPr>
            <a:spLocks noGrp="1"/>
          </p:cNvSpPr>
          <p:nvPr/>
        </p:nvSpPr>
        <p:spPr>
          <a:xfrm>
            <a:off x="4552950" y="520065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Documentación y defensa del proyecto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6BE7FD4B-6CD6-4CE0-A9DF-F5742436AF98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DA05A1F2-F528-44D3-BA4F-F634F4E19C2D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949535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164B7FE-E98E-4988-8628-0DFFBE14CB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A74108-5A8D-4786-BFF6-8A7A252727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892672A-7BC3-4A65-8CF6-4C3FB9C65853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OBJETIVOS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10F631-B1E6-4376-8602-673903A38F1C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729E138-9F33-4296-A64E-4E3B0CA827A5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Objetivos del proyecto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CF58E72-9100-4EDE-8CFD-A2B76F8D34A2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El proyecto contempla 18 semanas de trabajo.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78A554A-D91A-4E99-AE71-7E81E4B497D6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10668000" cy="1000125"/>
          </a:xfrm>
          <a:prstGeom prst="roundRect">
            <a:avLst>
              <a:gd name="adj" fmla="val 11429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05DCF66-72ED-4932-B967-B65534A4CB5B}"/>
              </a:ext>
            </a:extLst>
          </p:cNvPr>
          <p:cNvSpPr>
            <a:spLocks noGrp="1"/>
          </p:cNvSpPr>
          <p:nvPr/>
        </p:nvSpPr>
        <p:spPr>
          <a:xfrm>
            <a:off x="1000125" y="2266950"/>
            <a:ext cx="9906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Desarrollar y validar el backend de Aprueba Administración conforme a los 27 endpoints del contrato API.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E2AF972-749D-49B6-9AB6-952CE8C186EB}"/>
              </a:ext>
            </a:extLst>
          </p:cNvPr>
          <p:cNvSpPr>
            <a:spLocks noGrp="1"/>
          </p:cNvSpPr>
          <p:nvPr/>
        </p:nvSpPr>
        <p:spPr>
          <a:xfrm>
            <a:off x="62865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DISEÑAR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27190F1-ABAD-4F24-A72D-83912B0EED56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requisitos, arquitectura y datos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8774BAC-046A-4A21-A01F-E12679617E30}"/>
              </a:ext>
            </a:extLst>
          </p:cNvPr>
          <p:cNvSpPr>
            <a:spLocks noGrp="1"/>
          </p:cNvSpPr>
          <p:nvPr/>
        </p:nvSpPr>
        <p:spPr>
          <a:xfrm>
            <a:off x="335280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IMPLEMENTAR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4A6D0C4-44D6-478D-96DB-7F8BF8375406}"/>
              </a:ext>
            </a:extLst>
          </p:cNvPr>
          <p:cNvSpPr>
            <a:spLocks noGrp="1"/>
          </p:cNvSpPr>
          <p:nvPr/>
        </p:nvSpPr>
        <p:spPr>
          <a:xfrm>
            <a:off x="346710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las operaciones administrativas y sus permisos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9C7D751-7945-440D-BEC5-4253AD7D740D}"/>
              </a:ext>
            </a:extLst>
          </p:cNvPr>
          <p:cNvSpPr>
            <a:spLocks noGrp="1"/>
          </p:cNvSpPr>
          <p:nvPr/>
        </p:nvSpPr>
        <p:spPr>
          <a:xfrm>
            <a:off x="607695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PROBAR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A0F6ABD-6C51-4702-A942-998E31FB097B}"/>
              </a:ext>
            </a:extLst>
          </p:cNvPr>
          <p:cNvSpPr>
            <a:spLocks noGrp="1"/>
          </p:cNvSpPr>
          <p:nvPr/>
        </p:nvSpPr>
        <p:spPr>
          <a:xfrm>
            <a:off x="619125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las respuestas, los errores y la seguridad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7FA8A0F-5FCE-4070-8F4A-46D43B59143F}"/>
              </a:ext>
            </a:extLst>
          </p:cNvPr>
          <p:cNvSpPr>
            <a:spLocks noGrp="1"/>
          </p:cNvSpPr>
          <p:nvPr/>
        </p:nvSpPr>
        <p:spPr>
          <a:xfrm>
            <a:off x="880110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DESPLEGAR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854FB5A-D752-48F8-9D88-05D6E1D824B3}"/>
              </a:ext>
            </a:extLst>
          </p:cNvPr>
          <p:cNvSpPr>
            <a:spLocks noGrp="1"/>
          </p:cNvSpPr>
          <p:nvPr/>
        </p:nvSpPr>
        <p:spPr>
          <a:xfrm>
            <a:off x="891540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la API en prueba y producción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45779E7-FBCD-4B87-82DC-30A8E00CD02B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BF73FB0-AA83-4A4E-9545-A799D19672AC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83321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E74AD044-8ECB-484E-B391-6DF69B599B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84D2A90-17EF-440F-B8CE-2B7B802895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54E968D-2773-4411-B531-46FCA9CD8A5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ARQUITECTURA PROPUESTA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1A13638-0327-4A71-B146-978E1A8E92C9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D786CB8-7377-4F77-A19A-56A08B166062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Arquitectura propuesta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31C8A05-5E0A-43F4-A1F2-84FA5DFEE5FE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Diseño lógico del backend. El código vigente y las tecnologías todavía están pendientes.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8730991-C0D6-4776-B49D-5684EEE0246D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EC269BF-4AAA-42EE-A6A3-55FEC7F2CFBF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123825" cy="8382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3055624-D830-4030-81DC-62482483B2E8}"/>
              </a:ext>
            </a:extLst>
          </p:cNvPr>
          <p:cNvSpPr>
            <a:spLocks noGrp="1"/>
          </p:cNvSpPr>
          <p:nvPr/>
        </p:nvSpPr>
        <p:spPr>
          <a:xfrm>
            <a:off x="2057400" y="22955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ENTRADA API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005C48C-2FE5-4D9D-B258-408B00536F41}"/>
              </a:ext>
            </a:extLst>
          </p:cNvPr>
          <p:cNvSpPr>
            <a:spLocks noGrp="1"/>
          </p:cNvSpPr>
          <p:nvPr/>
        </p:nvSpPr>
        <p:spPr>
          <a:xfrm>
            <a:off x="3829050" y="22764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Solicitudes y respuestas HTTP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154D5CE-E894-44FF-A549-F4A9ABF3AA13}"/>
              </a:ext>
            </a:extLst>
          </p:cNvPr>
          <p:cNvSpPr>
            <a:spLocks noGrp="1"/>
          </p:cNvSpPr>
          <p:nvPr/>
        </p:nvSpPr>
        <p:spPr>
          <a:xfrm>
            <a:off x="9696450" y="30099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↓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F99A39C3-57B6-41C8-B008-BC59ECE38D9F}"/>
              </a:ext>
            </a:extLst>
          </p:cNvPr>
          <p:cNvSpPr>
            <a:spLocks noGrp="1"/>
          </p:cNvSpPr>
          <p:nvPr/>
        </p:nvSpPr>
        <p:spPr>
          <a:xfrm>
            <a:off x="1638300" y="33718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B45DFDC-28D8-4058-BAB7-F0F4FA4A79F3}"/>
              </a:ext>
            </a:extLst>
          </p:cNvPr>
          <p:cNvSpPr>
            <a:spLocks noGrp="1"/>
          </p:cNvSpPr>
          <p:nvPr/>
        </p:nvSpPr>
        <p:spPr>
          <a:xfrm>
            <a:off x="1638300" y="3371850"/>
            <a:ext cx="123825" cy="8382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C364A1-3A81-4999-AF99-B766BB6514FA}"/>
              </a:ext>
            </a:extLst>
          </p:cNvPr>
          <p:cNvSpPr>
            <a:spLocks noGrp="1"/>
          </p:cNvSpPr>
          <p:nvPr/>
        </p:nvSpPr>
        <p:spPr>
          <a:xfrm>
            <a:off x="2057400" y="35147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SERVICIOS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8AC8942-C4EE-43DF-8E5A-3281E64ACA30}"/>
              </a:ext>
            </a:extLst>
          </p:cNvPr>
          <p:cNvSpPr>
            <a:spLocks noGrp="1"/>
          </p:cNvSpPr>
          <p:nvPr/>
        </p:nvSpPr>
        <p:spPr>
          <a:xfrm>
            <a:off x="3829050" y="34956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Reglas del negocio y permisos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06D265E-CAD3-42B9-8C3D-AE545FE70150}"/>
              </a:ext>
            </a:extLst>
          </p:cNvPr>
          <p:cNvSpPr>
            <a:spLocks noGrp="1"/>
          </p:cNvSpPr>
          <p:nvPr/>
        </p:nvSpPr>
        <p:spPr>
          <a:xfrm>
            <a:off x="9696450" y="42291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↓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67122BF6-2CD4-403F-9F49-8472673A0C56}"/>
              </a:ext>
            </a:extLst>
          </p:cNvPr>
          <p:cNvSpPr>
            <a:spLocks noGrp="1"/>
          </p:cNvSpPr>
          <p:nvPr/>
        </p:nvSpPr>
        <p:spPr>
          <a:xfrm>
            <a:off x="1638300" y="45910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FAD6F35-646C-44A2-BF8A-CB6BA1833DA3}"/>
              </a:ext>
            </a:extLst>
          </p:cNvPr>
          <p:cNvSpPr>
            <a:spLocks noGrp="1"/>
          </p:cNvSpPr>
          <p:nvPr/>
        </p:nvSpPr>
        <p:spPr>
          <a:xfrm>
            <a:off x="1638300" y="4591050"/>
            <a:ext cx="123825" cy="83820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87D53BD-7F95-4EC9-817D-659D3754168F}"/>
              </a:ext>
            </a:extLst>
          </p:cNvPr>
          <p:cNvSpPr>
            <a:spLocks noGrp="1"/>
          </p:cNvSpPr>
          <p:nvPr/>
        </p:nvSpPr>
        <p:spPr>
          <a:xfrm>
            <a:off x="2057400" y="47339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0B981"/>
                </a:solidFill>
              </a:defRPr>
            </a:pPr>
            <a:r>
              <a:rPr sz="1200" b="1">
                <a:solidFill>
                  <a:srgbClr val="10B981"/>
                </a:solidFill>
              </a:rPr>
              <a:t>DATOS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075EEBF-67EA-412D-8C85-D6D90C6EF947}"/>
              </a:ext>
            </a:extLst>
          </p:cNvPr>
          <p:cNvSpPr>
            <a:spLocks noGrp="1"/>
          </p:cNvSpPr>
          <p:nvPr/>
        </p:nvSpPr>
        <p:spPr>
          <a:xfrm>
            <a:off x="3829050" y="47148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Base de datos que entregará la contraparte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80018B5-CFC3-4935-96B2-C8BF306F55CB}"/>
              </a:ext>
            </a:extLst>
          </p:cNvPr>
          <p:cNvSpPr>
            <a:spLocks noGrp="1"/>
          </p:cNvSpPr>
          <p:nvPr/>
        </p:nvSpPr>
        <p:spPr>
          <a:xfrm>
            <a:off x="9696450" y="2343150"/>
            <a:ext cx="1571625" cy="2895600"/>
          </a:xfrm>
          <a:prstGeom prst="roundRect">
            <a:avLst>
              <a:gd name="adj" fmla="val 7273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4E9CA4C-7EA6-4F3D-A9EF-5F1C4A12A2F7}"/>
              </a:ext>
            </a:extLst>
          </p:cNvPr>
          <p:cNvSpPr>
            <a:spLocks noGrp="1"/>
          </p:cNvSpPr>
          <p:nvPr/>
        </p:nvSpPr>
        <p:spPr>
          <a:xfrm>
            <a:off x="9867900" y="25717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SEGURIDAD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32E3DED-1EEC-4279-9B9E-1921944D0474}"/>
              </a:ext>
            </a:extLst>
          </p:cNvPr>
          <p:cNvSpPr>
            <a:spLocks noGrp="1"/>
          </p:cNvSpPr>
          <p:nvPr/>
        </p:nvSpPr>
        <p:spPr>
          <a:xfrm>
            <a:off x="9867900" y="3009900"/>
            <a:ext cx="123825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Roles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Validación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Auditoría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Secretos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6025FAE0-EC87-4C83-A7E5-C60530643711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BF5C2B9-6AD9-4BF6-A535-8F2B5F3DE803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070722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C01E629B-128E-4F65-8CC2-7CD75F06B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3BF9A88-6028-4BA1-AE34-6486F48A2E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E0B512D-2F41-4614-922F-2176A2A5E094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FACTIBILIDAD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D6605E6-EB03-4088-A90D-D0CCCBE7468B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AD6A316-3534-4449-8999-B76462C57494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Factibilidad y recursos pendientes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4A4E1CE-B3B4-4AD4-A28A-DFD02C59AE5E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La planificación depende de recibir el repositorio, los datos y los ambientes vigentes.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2B43A5-B171-4C89-9B7A-231553B38E1C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5000625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E563F29-9AD3-4C2B-AA63-0FD5E6F7F187}"/>
              </a:ext>
            </a:extLst>
          </p:cNvPr>
          <p:cNvSpPr>
            <a:spLocks noGrp="1"/>
          </p:cNvSpPr>
          <p:nvPr/>
        </p:nvSpPr>
        <p:spPr>
          <a:xfrm>
            <a:off x="933450" y="2343150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10B981"/>
                </a:solidFill>
              </a:defRPr>
            </a:pPr>
            <a:r>
              <a:rPr sz="1275" b="1">
                <a:solidFill>
                  <a:srgbClr val="10B981"/>
                </a:solidFill>
              </a:rPr>
              <a:t>FACILITADORES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341D053-C08E-4D88-9C6F-B4CE01A7B23B}"/>
              </a:ext>
            </a:extLst>
          </p:cNvPr>
          <p:cNvSpPr>
            <a:spLocks noGrp="1"/>
          </p:cNvSpPr>
          <p:nvPr/>
        </p:nvSpPr>
        <p:spPr>
          <a:xfrm>
            <a:off x="933450" y="2990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B0C1E2B-0961-4466-AF63-0EB41EBB7B89}"/>
              </a:ext>
            </a:extLst>
          </p:cNvPr>
          <p:cNvSpPr>
            <a:spLocks noGrp="1"/>
          </p:cNvSpPr>
          <p:nvPr/>
        </p:nvSpPr>
        <p:spPr>
          <a:xfrm>
            <a:off x="1143000" y="28956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Alcance exclusivo de backend.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3A62B766-60A3-4B84-9C4E-D41396D3844B}"/>
              </a:ext>
            </a:extLst>
          </p:cNvPr>
          <p:cNvSpPr>
            <a:spLocks noGrp="1"/>
          </p:cNvSpPr>
          <p:nvPr/>
        </p:nvSpPr>
        <p:spPr>
          <a:xfrm>
            <a:off x="933450" y="3543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E99BE23-38AE-417E-A4D2-B3493A231FD9}"/>
              </a:ext>
            </a:extLst>
          </p:cNvPr>
          <p:cNvSpPr>
            <a:spLocks noGrp="1"/>
          </p:cNvSpPr>
          <p:nvPr/>
        </p:nvSpPr>
        <p:spPr>
          <a:xfrm>
            <a:off x="1143000" y="344805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Contrato con 27 endpoints definidos.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4FEDED8-F5E1-41CC-B79E-BF04EDB6A115}"/>
              </a:ext>
            </a:extLst>
          </p:cNvPr>
          <p:cNvSpPr>
            <a:spLocks noGrp="1"/>
          </p:cNvSpPr>
          <p:nvPr/>
        </p:nvSpPr>
        <p:spPr>
          <a:xfrm>
            <a:off x="933450" y="40957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B9FDC68-6115-4D59-A5C5-C34D6CDB5C1C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18 semanas con trabajo incremental.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FE2636F-EA18-436C-B373-A6BE1CF84863}"/>
              </a:ext>
            </a:extLst>
          </p:cNvPr>
          <p:cNvSpPr>
            <a:spLocks noGrp="1"/>
          </p:cNvSpPr>
          <p:nvPr/>
        </p:nvSpPr>
        <p:spPr>
          <a:xfrm>
            <a:off x="933450" y="46482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E971E07-2196-4F0E-A63B-46B7E66C53A7}"/>
              </a:ext>
            </a:extLst>
          </p:cNvPr>
          <p:cNvSpPr>
            <a:spLocks noGrp="1"/>
          </p:cNvSpPr>
          <p:nvPr/>
        </p:nvSpPr>
        <p:spPr>
          <a:xfrm>
            <a:off x="1143000" y="455295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Tres integrantes con roles complementarios.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E8104C50-1C96-4A16-AAB4-13C2A7CDFBF4}"/>
              </a:ext>
            </a:extLst>
          </p:cNvPr>
          <p:cNvSpPr>
            <a:spLocks noGrp="1"/>
          </p:cNvSpPr>
          <p:nvPr/>
        </p:nvSpPr>
        <p:spPr>
          <a:xfrm>
            <a:off x="933450" y="52006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154ED0A-99A5-4179-A3B4-752FEC575234}"/>
              </a:ext>
            </a:extLst>
          </p:cNvPr>
          <p:cNvSpPr>
            <a:spLocks noGrp="1"/>
          </p:cNvSpPr>
          <p:nvPr/>
        </p:nvSpPr>
        <p:spPr>
          <a:xfrm>
            <a:off x="1143000" y="51054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Validación del resultado por el docente.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A1906D87-717D-4503-A871-9C6A3EC6D907}"/>
              </a:ext>
            </a:extLst>
          </p:cNvPr>
          <p:cNvSpPr>
            <a:spLocks noGrp="1"/>
          </p:cNvSpPr>
          <p:nvPr/>
        </p:nvSpPr>
        <p:spPr>
          <a:xfrm>
            <a:off x="5972175" y="2076450"/>
            <a:ext cx="5324475" cy="3733800"/>
          </a:xfrm>
          <a:prstGeom prst="roundRect">
            <a:avLst>
              <a:gd name="adj" fmla="val 3061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1927E07-1218-4BAD-91CB-58231F5E0016}"/>
              </a:ext>
            </a:extLst>
          </p:cNvPr>
          <p:cNvSpPr>
            <a:spLocks noGrp="1"/>
          </p:cNvSpPr>
          <p:nvPr/>
        </p:nvSpPr>
        <p:spPr>
          <a:xfrm>
            <a:off x="6305550" y="2343150"/>
            <a:ext cx="428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5B041"/>
                </a:solidFill>
              </a:defRPr>
            </a:pPr>
            <a:r>
              <a:rPr sz="1275" b="1">
                <a:solidFill>
                  <a:srgbClr val="F5B041"/>
                </a:solidFill>
              </a:rPr>
              <a:t>PENDIENTES Y ACCIONES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45D6F2F2-A0EA-4C82-BA93-90844649967D}"/>
              </a:ext>
            </a:extLst>
          </p:cNvPr>
          <p:cNvSpPr>
            <a:spLocks noGrp="1"/>
          </p:cNvSpPr>
          <p:nvPr/>
        </p:nvSpPr>
        <p:spPr>
          <a:xfrm>
            <a:off x="6305550" y="2990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DE8203E-39D9-4076-AD51-973AA26F45A6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Código vigente: recibir y revisar el repositorio.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550388C3-7322-4FD4-82BE-1920D526F984}"/>
              </a:ext>
            </a:extLst>
          </p:cNvPr>
          <p:cNvSpPr>
            <a:spLocks noGrp="1"/>
          </p:cNvSpPr>
          <p:nvPr/>
        </p:nvSpPr>
        <p:spPr>
          <a:xfrm>
            <a:off x="6305550" y="3543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11CBA255-4BDE-40BF-BF6C-90C556375191}"/>
              </a:ext>
            </a:extLst>
          </p:cNvPr>
          <p:cNvSpPr>
            <a:spLocks noGrp="1"/>
          </p:cNvSpPr>
          <p:nvPr/>
        </p:nvSpPr>
        <p:spPr>
          <a:xfrm>
            <a:off x="6515100" y="3448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Base de datos: recibir acceso e integrar.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63F86A5D-8CC9-40C8-8C31-6847BC8E78A6}"/>
              </a:ext>
            </a:extLst>
          </p:cNvPr>
          <p:cNvSpPr>
            <a:spLocks noGrp="1"/>
          </p:cNvSpPr>
          <p:nvPr/>
        </p:nvSpPr>
        <p:spPr>
          <a:xfrm>
            <a:off x="6305550" y="40957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323F49CE-4E4E-436C-A4EA-52508DCAB06C}"/>
              </a:ext>
            </a:extLst>
          </p:cNvPr>
          <p:cNvSpPr>
            <a:spLocks noGrp="1"/>
          </p:cNvSpPr>
          <p:nvPr/>
        </p:nvSpPr>
        <p:spPr>
          <a:xfrm>
            <a:off x="6515100" y="40005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Servicios externos: confirmar su funcionamiento.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1258294C-3DA7-4AAA-905F-6C809BE3EDBC}"/>
              </a:ext>
            </a:extLst>
          </p:cNvPr>
          <p:cNvSpPr>
            <a:spLocks noGrp="1"/>
          </p:cNvSpPr>
          <p:nvPr/>
        </p:nvSpPr>
        <p:spPr>
          <a:xfrm>
            <a:off x="6305550" y="46482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C8DCD53-7C90-48EF-8CA2-21CCAF1165AB}"/>
              </a:ext>
            </a:extLst>
          </p:cNvPr>
          <p:cNvSpPr>
            <a:spLocks noGrp="1"/>
          </p:cNvSpPr>
          <p:nvPr/>
        </p:nvSpPr>
        <p:spPr>
          <a:xfrm>
            <a:off x="6515100" y="45529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Ambientes: definir prueba y producción.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EFA8E94D-B7D9-4959-B3CC-2E981856FC4A}"/>
              </a:ext>
            </a:extLst>
          </p:cNvPr>
          <p:cNvSpPr>
            <a:spLocks noGrp="1"/>
          </p:cNvSpPr>
          <p:nvPr/>
        </p:nvSpPr>
        <p:spPr>
          <a:xfrm>
            <a:off x="6305550" y="52006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DD53C23-17F9-4EFE-8062-4EFAD96C13F7}"/>
              </a:ext>
            </a:extLst>
          </p:cNvPr>
          <p:cNvSpPr>
            <a:spLocks noGrp="1"/>
          </p:cNvSpPr>
          <p:nvPr/>
        </p:nvSpPr>
        <p:spPr>
          <a:xfrm>
            <a:off x="6515100" y="51054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Credenciales: configurar accesos seguros.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118161FE-DE4A-42F2-BAE4-1CE938729C52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8623A854-67D1-47F6-B4FF-CD893211F1DF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487577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ángulo 37">
            <a:extLst>
              <a:ext uri="{FF2B5EF4-FFF2-40B4-BE49-F238E27FC236}">
                <a16:creationId xmlns:a16="http://schemas.microsoft.com/office/drawing/2014/main" id="{2DF34486-EAA1-4608-9116-A1BEB2B06C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6D2B2DD-C5DE-4C89-9184-CC19BB12A7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B5C83D8-799F-48C6-AB7D-CDC280DB0E0A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PLAN DEL PROYECTO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E8666EC-B656-400E-A22E-A5EA2172129E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66B955C-DC44-418B-B23B-AD2F0768A718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Planificación con Scrum: 18 semanas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91CDA69-A67B-4CF0-8712-D4584DFB7735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Scrum permite validar la API por partes y ajustar prioridades al recibir los insumos vigentes.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20E1B42-6F06-4144-B96E-C7DEB89BF1D0}"/>
              </a:ext>
            </a:extLst>
          </p:cNvPr>
          <p:cNvSpPr>
            <a:spLocks noGrp="1"/>
          </p:cNvSpPr>
          <p:nvPr/>
        </p:nvSpPr>
        <p:spPr>
          <a:xfrm>
            <a:off x="628650" y="2324100"/>
            <a:ext cx="2324100" cy="1104900"/>
          </a:xfrm>
          <a:prstGeom prst="roundRect">
            <a:avLst>
              <a:gd name="adj" fmla="val 6897"/>
            </a:avLst>
          </a:prstGeom>
          <a:solidFill>
            <a:srgbClr val="F5B041"/>
          </a:solidFill>
          <a:ln w="9525">
            <a:solidFill>
              <a:srgbClr val="F5B04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816E3F0-CC51-4F3B-B3EC-3698D78C1DED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INICIO Y DISEÑO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09B16C5-8D44-4057-87F0-69964B3F5314}"/>
              </a:ext>
            </a:extLst>
          </p:cNvPr>
          <p:cNvSpPr>
            <a:spLocks noGrp="1"/>
          </p:cNvSpPr>
          <p:nvPr/>
        </p:nvSpPr>
        <p:spPr>
          <a:xfrm>
            <a:off x="781050" y="2781300"/>
            <a:ext cx="2019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1–4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44EA082-0CBC-4F69-AEE3-D92731BD8589}"/>
              </a:ext>
            </a:extLst>
          </p:cNvPr>
          <p:cNvSpPr>
            <a:spLocks noGrp="1"/>
          </p:cNvSpPr>
          <p:nvPr/>
        </p:nvSpPr>
        <p:spPr>
          <a:xfrm>
            <a:off x="742950" y="3048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Definición y línea base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D00B60C-E07B-4170-AEE8-4527FA0923D6}"/>
              </a:ext>
            </a:extLst>
          </p:cNvPr>
          <p:cNvSpPr>
            <a:spLocks noGrp="1"/>
          </p:cNvSpPr>
          <p:nvPr/>
        </p:nvSpPr>
        <p:spPr>
          <a:xfrm>
            <a:off x="3028950" y="2324100"/>
            <a:ext cx="6391275" cy="1104900"/>
          </a:xfrm>
          <a:prstGeom prst="roundRect">
            <a:avLst>
              <a:gd name="adj" fmla="val 6897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6CC4903-6DFF-49AA-808F-CE3655AEDAA8}"/>
              </a:ext>
            </a:extLst>
          </p:cNvPr>
          <p:cNvSpPr>
            <a:spLocks noGrp="1"/>
          </p:cNvSpPr>
          <p:nvPr/>
        </p:nvSpPr>
        <p:spPr>
          <a:xfrm>
            <a:off x="3181350" y="2476500"/>
            <a:ext cx="60864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DESARROLLO INCREMENTAL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C8072B4-7D6E-476B-8315-D952E71E6647}"/>
              </a:ext>
            </a:extLst>
          </p:cNvPr>
          <p:cNvSpPr>
            <a:spLocks noGrp="1"/>
          </p:cNvSpPr>
          <p:nvPr/>
        </p:nvSpPr>
        <p:spPr>
          <a:xfrm>
            <a:off x="3181350" y="2781300"/>
            <a:ext cx="6086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5–15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CE64457-23E4-4BA8-9E67-2AC1E8EF49A8}"/>
              </a:ext>
            </a:extLst>
          </p:cNvPr>
          <p:cNvSpPr>
            <a:spLocks noGrp="1"/>
          </p:cNvSpPr>
          <p:nvPr/>
        </p:nvSpPr>
        <p:spPr>
          <a:xfrm>
            <a:off x="3143250" y="3048000"/>
            <a:ext cx="61626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Sprints 1–5 y validación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087082F-2D22-4732-8492-053847595A6A}"/>
              </a:ext>
            </a:extLst>
          </p:cNvPr>
          <p:cNvSpPr>
            <a:spLocks noGrp="1"/>
          </p:cNvSpPr>
          <p:nvPr/>
        </p:nvSpPr>
        <p:spPr>
          <a:xfrm>
            <a:off x="9496425" y="2324100"/>
            <a:ext cx="1743075" cy="1104900"/>
          </a:xfrm>
          <a:prstGeom prst="roundRect">
            <a:avLst>
              <a:gd name="adj" fmla="val 6897"/>
            </a:avLst>
          </a:prstGeom>
          <a:solidFill>
            <a:srgbClr val="10B981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FB40F2D-74E8-4DF5-BD73-C7FDC9260FE3}"/>
              </a:ext>
            </a:extLst>
          </p:cNvPr>
          <p:cNvSpPr>
            <a:spLocks noGrp="1"/>
          </p:cNvSpPr>
          <p:nvPr/>
        </p:nvSpPr>
        <p:spPr>
          <a:xfrm>
            <a:off x="9648825" y="2476500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RELEASE Y CIERRE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508E428-F7CE-4078-BA43-88BFBFB86ACB}"/>
              </a:ext>
            </a:extLst>
          </p:cNvPr>
          <p:cNvSpPr>
            <a:spLocks noGrp="1"/>
          </p:cNvSpPr>
          <p:nvPr/>
        </p:nvSpPr>
        <p:spPr>
          <a:xfrm>
            <a:off x="9648825" y="2781300"/>
            <a:ext cx="14382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16–18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2A8860C-9135-401A-BF88-DBD7D5576679}"/>
              </a:ext>
            </a:extLst>
          </p:cNvPr>
          <p:cNvSpPr>
            <a:spLocks noGrp="1"/>
          </p:cNvSpPr>
          <p:nvPr/>
        </p:nvSpPr>
        <p:spPr>
          <a:xfrm>
            <a:off x="9610725" y="3048000"/>
            <a:ext cx="15144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Despliegue, transición y defensa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9AFC59E-6D96-44AA-AB8B-11AD9BF33449}"/>
              </a:ext>
            </a:extLst>
          </p:cNvPr>
          <p:cNvSpPr>
            <a:spLocks noGrp="1"/>
          </p:cNvSpPr>
          <p:nvPr/>
        </p:nvSpPr>
        <p:spPr>
          <a:xfrm>
            <a:off x="628650" y="39052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A365D"/>
                </a:solidFill>
              </a:defRPr>
            </a:pPr>
            <a:r>
              <a:rPr sz="1350" b="1">
                <a:solidFill>
                  <a:srgbClr val="1A365D"/>
                </a:solidFill>
              </a:rPr>
              <a:t>Objetivos de los sprints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173F396C-E75D-48E2-A4F4-3CF6C3BE75E9}"/>
              </a:ext>
            </a:extLst>
          </p:cNvPr>
          <p:cNvSpPr>
            <a:spLocks noGrp="1"/>
          </p:cNvSpPr>
          <p:nvPr/>
        </p:nvSpPr>
        <p:spPr>
          <a:xfrm>
            <a:off x="62865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EC9E7F4-CB2F-4063-A8F7-E10C253E1E33}"/>
              </a:ext>
            </a:extLst>
          </p:cNvPr>
          <p:cNvSpPr>
            <a:spLocks noGrp="1"/>
          </p:cNvSpPr>
          <p:nvPr/>
        </p:nvSpPr>
        <p:spPr>
          <a:xfrm>
            <a:off x="6286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B018951-1ADE-4B5A-AEB4-AF78F1089BBB}"/>
              </a:ext>
            </a:extLst>
          </p:cNvPr>
          <p:cNvSpPr>
            <a:spLocks noGrp="1"/>
          </p:cNvSpPr>
          <p:nvPr/>
        </p:nvSpPr>
        <p:spPr>
          <a:xfrm>
            <a:off x="12192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1
Acceso y base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0DDB3353-A638-4647-97A4-DC91B5350BA0}"/>
              </a:ext>
            </a:extLst>
          </p:cNvPr>
          <p:cNvSpPr>
            <a:spLocks noGrp="1"/>
          </p:cNvSpPr>
          <p:nvPr/>
        </p:nvSpPr>
        <p:spPr>
          <a:xfrm>
            <a:off x="270510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2664AEE-9D16-4B3D-BEF8-BCBCF700AEAC}"/>
              </a:ext>
            </a:extLst>
          </p:cNvPr>
          <p:cNvSpPr>
            <a:spLocks noGrp="1"/>
          </p:cNvSpPr>
          <p:nvPr/>
        </p:nvSpPr>
        <p:spPr>
          <a:xfrm>
            <a:off x="270510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0D9C7DA-12AA-463E-929B-EC7B2F40D3C7}"/>
              </a:ext>
            </a:extLst>
          </p:cNvPr>
          <p:cNvSpPr>
            <a:spLocks noGrp="1"/>
          </p:cNvSpPr>
          <p:nvPr/>
        </p:nvSpPr>
        <p:spPr>
          <a:xfrm>
            <a:off x="329565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2
Métricas y sponsors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7679A09D-A42E-4585-A454-5EFE474934F5}"/>
              </a:ext>
            </a:extLst>
          </p:cNvPr>
          <p:cNvSpPr>
            <a:spLocks noGrp="1"/>
          </p:cNvSpPr>
          <p:nvPr/>
        </p:nvSpPr>
        <p:spPr>
          <a:xfrm>
            <a:off x="478155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DF96A11-C279-4D25-A043-83758C4D70B2}"/>
              </a:ext>
            </a:extLst>
          </p:cNvPr>
          <p:cNvSpPr>
            <a:spLocks noGrp="1"/>
          </p:cNvSpPr>
          <p:nvPr/>
        </p:nvSpPr>
        <p:spPr>
          <a:xfrm>
            <a:off x="47815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ED1A58C-21A3-4974-9421-3AAF68D91D13}"/>
              </a:ext>
            </a:extLst>
          </p:cNvPr>
          <p:cNvSpPr>
            <a:spLocks noGrp="1"/>
          </p:cNvSpPr>
          <p:nvPr/>
        </p:nvSpPr>
        <p:spPr>
          <a:xfrm>
            <a:off x="53721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3
Operación y usuarios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91AB7973-88D1-4486-9953-B58701AB3231}"/>
              </a:ext>
            </a:extLst>
          </p:cNvPr>
          <p:cNvSpPr>
            <a:spLocks noGrp="1"/>
          </p:cNvSpPr>
          <p:nvPr/>
        </p:nvSpPr>
        <p:spPr>
          <a:xfrm>
            <a:off x="685800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BF3FBAF-08D5-421F-8687-8A98ABBA4BAE}"/>
              </a:ext>
            </a:extLst>
          </p:cNvPr>
          <p:cNvSpPr>
            <a:spLocks noGrp="1"/>
          </p:cNvSpPr>
          <p:nvPr/>
        </p:nvSpPr>
        <p:spPr>
          <a:xfrm>
            <a:off x="685800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873A1B44-E1F9-4543-AACD-4A50DE20E5F3}"/>
              </a:ext>
            </a:extLst>
          </p:cNvPr>
          <p:cNvSpPr>
            <a:spLocks noGrp="1"/>
          </p:cNvSpPr>
          <p:nvPr/>
        </p:nvSpPr>
        <p:spPr>
          <a:xfrm>
            <a:off x="744855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4
Soporte y preguntas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EC2B148C-F673-40DB-8EE7-E16EC663A3A9}"/>
              </a:ext>
            </a:extLst>
          </p:cNvPr>
          <p:cNvSpPr>
            <a:spLocks noGrp="1"/>
          </p:cNvSpPr>
          <p:nvPr/>
        </p:nvSpPr>
        <p:spPr>
          <a:xfrm>
            <a:off x="8934450" y="4476750"/>
            <a:ext cx="476250" cy="476250"/>
          </a:xfrm>
          <a:prstGeom prst="ellipse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C8C2153D-E0B3-4940-9484-D992526BB77B}"/>
              </a:ext>
            </a:extLst>
          </p:cNvPr>
          <p:cNvSpPr>
            <a:spLocks noGrp="1"/>
          </p:cNvSpPr>
          <p:nvPr/>
        </p:nvSpPr>
        <p:spPr>
          <a:xfrm>
            <a:off x="89344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D99F5D6B-B750-4B1F-8504-B74C3CE19D9C}"/>
              </a:ext>
            </a:extLst>
          </p:cNvPr>
          <p:cNvSpPr>
            <a:spLocks noGrp="1"/>
          </p:cNvSpPr>
          <p:nvPr/>
        </p:nvSpPr>
        <p:spPr>
          <a:xfrm>
            <a:off x="95250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5
Planes e integración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6EC03292-4CA3-4AF3-BCF3-32B624229492}"/>
              </a:ext>
            </a:extLst>
          </p:cNvPr>
          <p:cNvSpPr>
            <a:spLocks noGrp="1"/>
          </p:cNvSpPr>
          <p:nvPr/>
        </p:nvSpPr>
        <p:spPr>
          <a:xfrm>
            <a:off x="628650" y="5495925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Seguimiento semanal de avance, riesgos y calidad. Detalle en la Carta Gantt.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325A2135-68D5-42B2-B695-EAB947C6440F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DE1F2E20-BBCA-4242-8C87-99481EA18EE9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589974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ángulo 31">
            <a:extLst>
              <a:ext uri="{FF2B5EF4-FFF2-40B4-BE49-F238E27FC236}">
                <a16:creationId xmlns:a16="http://schemas.microsoft.com/office/drawing/2014/main" id="{D286AAB0-0BA9-44F9-9E4D-150ADAE170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B74D0A-A67D-4C27-AD97-6A950461BF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178C9FF-AB5D-4DE7-A30F-31899E996A76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EVIDENCIAS DE FASE 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D5E04FF-C056-4AEF-AE57-03385754DAF2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8ED420D-D68F-4DC7-AE53-6AE0E716F488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Entregables de Fase 1 y resultado esperado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5968A4D-66FD-4528-BE36-8D490692BE83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En Fase 1 presentamos la definición y la planificación. La implementación vendrá después.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4429167-DBD6-4B1D-BCD1-9AE55E2BCE65}"/>
              </a:ext>
            </a:extLst>
          </p:cNvPr>
          <p:cNvSpPr>
            <a:spLocks noGrp="1"/>
          </p:cNvSpPr>
          <p:nvPr/>
        </p:nvSpPr>
        <p:spPr>
          <a:xfrm>
            <a:off x="628650" y="2114550"/>
            <a:ext cx="6572250" cy="36195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AD5362-E59A-4418-B35B-9E40098506E3}"/>
              </a:ext>
            </a:extLst>
          </p:cNvPr>
          <p:cNvSpPr>
            <a:spLocks noGrp="1"/>
          </p:cNvSpPr>
          <p:nvPr/>
        </p:nvSpPr>
        <p:spPr>
          <a:xfrm>
            <a:off x="971550" y="238125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0B981"/>
                </a:solidFill>
              </a:defRPr>
            </a:pPr>
            <a:r>
              <a:rPr sz="1350" b="1">
                <a:solidFill>
                  <a:srgbClr val="10B981"/>
                </a:solidFill>
              </a:rPr>
              <a:t>EVIDENCIA Y PROPÓSITO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7881A5-874A-4337-BB76-5ACCFF854592}"/>
              </a:ext>
            </a:extLst>
          </p:cNvPr>
          <p:cNvSpPr>
            <a:spLocks noGrp="1"/>
          </p:cNvSpPr>
          <p:nvPr/>
        </p:nvSpPr>
        <p:spPr>
          <a:xfrm>
            <a:off x="971550" y="30099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0B04E23-B5B7-4396-8632-78363F168B29}"/>
              </a:ext>
            </a:extLst>
          </p:cNvPr>
          <p:cNvSpPr>
            <a:spLocks noGrp="1"/>
          </p:cNvSpPr>
          <p:nvPr/>
        </p:nvSpPr>
        <p:spPr>
          <a:xfrm>
            <a:off x="1181100" y="291465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Informe 1.4 y guía 1.5: alcance y objetivos.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190298F-DBDB-4790-9C22-66EABA05E04D}"/>
              </a:ext>
            </a:extLst>
          </p:cNvPr>
          <p:cNvSpPr>
            <a:spLocks noGrp="1"/>
          </p:cNvSpPr>
          <p:nvPr/>
        </p:nvSpPr>
        <p:spPr>
          <a:xfrm>
            <a:off x="971550" y="345757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AF9133D-E369-45D1-8F00-68C9168B3E29}"/>
              </a:ext>
            </a:extLst>
          </p:cNvPr>
          <p:cNvSpPr>
            <a:spLocks noGrp="1"/>
          </p:cNvSpPr>
          <p:nvPr/>
        </p:nvSpPr>
        <p:spPr>
          <a:xfrm>
            <a:off x="1181100" y="336232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Requisitos y backlog: funciones y prioridades.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64B54CF-B7D4-4249-8212-F3335692617F}"/>
              </a:ext>
            </a:extLst>
          </p:cNvPr>
          <p:cNvSpPr>
            <a:spLocks noGrp="1"/>
          </p:cNvSpPr>
          <p:nvPr/>
        </p:nvSpPr>
        <p:spPr>
          <a:xfrm>
            <a:off x="971550" y="39052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99EC549-BC90-41F4-9162-218EFCE8D5E7}"/>
              </a:ext>
            </a:extLst>
          </p:cNvPr>
          <p:cNvSpPr>
            <a:spLocks noGrp="1"/>
          </p:cNvSpPr>
          <p:nvPr/>
        </p:nvSpPr>
        <p:spPr>
          <a:xfrm>
            <a:off x="1181100" y="381000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Arquitectura: componentes y acceso a datos.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199E1F8-8EA1-4D49-888C-EB6E6C928F30}"/>
              </a:ext>
            </a:extLst>
          </p:cNvPr>
          <p:cNvSpPr>
            <a:spLocks noGrp="1"/>
          </p:cNvSpPr>
          <p:nvPr/>
        </p:nvSpPr>
        <p:spPr>
          <a:xfrm>
            <a:off x="971550" y="435292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608F1D8-E1D9-4F4C-B4B9-7C323B565B87}"/>
              </a:ext>
            </a:extLst>
          </p:cNvPr>
          <p:cNvSpPr>
            <a:spLocks noGrp="1"/>
          </p:cNvSpPr>
          <p:nvPr/>
        </p:nvSpPr>
        <p:spPr>
          <a:xfrm>
            <a:off x="1181100" y="425767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Gantt y RACI: tiempos y responsabilidades.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1CC4F2B6-F19C-4487-80F8-FD38580CF49B}"/>
              </a:ext>
            </a:extLst>
          </p:cNvPr>
          <p:cNvSpPr>
            <a:spLocks noGrp="1"/>
          </p:cNvSpPr>
          <p:nvPr/>
        </p:nvSpPr>
        <p:spPr>
          <a:xfrm>
            <a:off x="971550" y="48006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D77959D-8752-4B03-89E3-600370298DD6}"/>
              </a:ext>
            </a:extLst>
          </p:cNvPr>
          <p:cNvSpPr>
            <a:spLocks noGrp="1"/>
          </p:cNvSpPr>
          <p:nvPr/>
        </p:nvSpPr>
        <p:spPr>
          <a:xfrm>
            <a:off x="1181100" y="470535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Plan de pruebas: criterios de verificación.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FB61FBEB-8145-4CBC-B164-C11BD1797FCB}"/>
              </a:ext>
            </a:extLst>
          </p:cNvPr>
          <p:cNvSpPr>
            <a:spLocks noGrp="1"/>
          </p:cNvSpPr>
          <p:nvPr/>
        </p:nvSpPr>
        <p:spPr>
          <a:xfrm>
            <a:off x="971550" y="524827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A70F552-4690-4AEF-9E06-EE6F9C67A534}"/>
              </a:ext>
            </a:extLst>
          </p:cNvPr>
          <p:cNvSpPr>
            <a:spLocks noGrp="1"/>
          </p:cNvSpPr>
          <p:nvPr/>
        </p:nvSpPr>
        <p:spPr>
          <a:xfrm>
            <a:off x="1181100" y="515302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Individuales: competencias y reflexión personal.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C504E097-17CA-4378-B197-D995A50DC78D}"/>
              </a:ext>
            </a:extLst>
          </p:cNvPr>
          <p:cNvSpPr>
            <a:spLocks noGrp="1"/>
          </p:cNvSpPr>
          <p:nvPr/>
        </p:nvSpPr>
        <p:spPr>
          <a:xfrm>
            <a:off x="7543800" y="2114550"/>
            <a:ext cx="3752850" cy="3619500"/>
          </a:xfrm>
          <a:prstGeom prst="roundRect">
            <a:avLst>
              <a:gd name="adj" fmla="val 3158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952A81C9-B768-4FD5-83DC-A737C84F2309}"/>
              </a:ext>
            </a:extLst>
          </p:cNvPr>
          <p:cNvSpPr>
            <a:spLocks noGrp="1"/>
          </p:cNvSpPr>
          <p:nvPr/>
        </p:nvSpPr>
        <p:spPr>
          <a:xfrm>
            <a:off x="7848600" y="23812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5B041"/>
                </a:solidFill>
              </a:defRPr>
            </a:pPr>
            <a:r>
              <a:rPr sz="1350" b="1">
                <a:solidFill>
                  <a:srgbClr val="F5B041"/>
                </a:solidFill>
              </a:rPr>
              <a:t>RESULTADO FINAL ESPERADO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5C8739D-B88A-4203-A9F7-F418ECC1884C}"/>
              </a:ext>
            </a:extLst>
          </p:cNvPr>
          <p:cNvSpPr>
            <a:spLocks noGrp="1"/>
          </p:cNvSpPr>
          <p:nvPr/>
        </p:nvSpPr>
        <p:spPr>
          <a:xfrm>
            <a:off x="7848600" y="2914650"/>
            <a:ext cx="3067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API administrativa funcionando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DE457D50-AD76-4F11-B36D-07498598F60C}"/>
              </a:ext>
            </a:extLst>
          </p:cNvPr>
          <p:cNvSpPr>
            <a:spLocks noGrp="1"/>
          </p:cNvSpPr>
          <p:nvPr/>
        </p:nvSpPr>
        <p:spPr>
          <a:xfrm>
            <a:off x="7848600" y="37719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3A73D639-3C10-485C-B63B-55D7A6665219}"/>
              </a:ext>
            </a:extLst>
          </p:cNvPr>
          <p:cNvSpPr>
            <a:spLocks noGrp="1"/>
          </p:cNvSpPr>
          <p:nvPr/>
        </p:nvSpPr>
        <p:spPr>
          <a:xfrm>
            <a:off x="8058150" y="36766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Pruebas automatizadas y manuales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5FDE31C9-F188-4A19-A9E4-BA26A7548D4B}"/>
              </a:ext>
            </a:extLst>
          </p:cNvPr>
          <p:cNvSpPr>
            <a:spLocks noGrp="1"/>
          </p:cNvSpPr>
          <p:nvPr/>
        </p:nvSpPr>
        <p:spPr>
          <a:xfrm>
            <a:off x="7848600" y="4305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86128064-3C5E-4ED5-9854-F03A5C44AF7F}"/>
              </a:ext>
            </a:extLst>
          </p:cNvPr>
          <p:cNvSpPr>
            <a:spLocks noGrp="1"/>
          </p:cNvSpPr>
          <p:nvPr/>
        </p:nvSpPr>
        <p:spPr>
          <a:xfrm>
            <a:off x="8058150" y="42100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Entornos de prueba y producción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F9559510-4404-4816-B0F9-3803B50BA908}"/>
              </a:ext>
            </a:extLst>
          </p:cNvPr>
          <p:cNvSpPr>
            <a:spLocks noGrp="1"/>
          </p:cNvSpPr>
          <p:nvPr/>
        </p:nvSpPr>
        <p:spPr>
          <a:xfrm>
            <a:off x="7848600" y="48387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F881ACD4-8D7F-43CB-8AD1-40DB5EA6F108}"/>
              </a:ext>
            </a:extLst>
          </p:cNvPr>
          <p:cNvSpPr>
            <a:spLocks noGrp="1"/>
          </p:cNvSpPr>
          <p:nvPr/>
        </p:nvSpPr>
        <p:spPr>
          <a:xfrm>
            <a:off x="8058150" y="47434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Demostración de solicitudes y defensa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2AA95C61-0971-4CD9-886B-49B0E4F47AE6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35643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8FC77864-9417-44F2-BA1D-87BA83C7AC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0C66C19-62FF-4DEC-BA1A-269568E0B956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CONCLUSIÓN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A06F640-3037-4042-A2DC-5280F28DB1B8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E8EEF5"/>
                </a:solidFill>
              </a:defRPr>
            </a:pPr>
            <a:r>
              <a:rPr sz="975" b="1">
                <a:solidFill>
                  <a:srgbClr val="E8EEF5"/>
                </a:solidFill>
              </a:rPr>
              <a:t>11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F27E0FA-5AED-4074-A6DF-7701782648BD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73342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Backend de</a:t>
            </a:r>
          </a:p>
          <a:p>
            <a:pPr algn="l">
              <a:buNone/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Aprueba Administración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18304D2-B624-415C-A2A3-932BAFFFFFE4}"/>
              </a:ext>
            </a:extLst>
          </p:cNvPr>
          <p:cNvSpPr>
            <a:spLocks noGrp="1"/>
          </p:cNvSpPr>
          <p:nvPr/>
        </p:nvSpPr>
        <p:spPr>
          <a:xfrm>
            <a:off x="657225" y="2895600"/>
            <a:ext cx="7429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0">
                <a:solidFill>
                  <a:srgbClr val="E8EEF5"/>
                </a:solidFill>
              </a:defRPr>
            </a:pPr>
            <a:r>
              <a:rPr sz="1650" b="0">
                <a:solidFill>
                  <a:srgbClr val="E8EEF5"/>
                </a:solidFill>
              </a:rPr>
              <a:t>La Fase 1 define qué desarrollaremos y cómo organizaremos el trabajo.
El siguiente paso será recibir los insumos vigentes e iniciar la implementación.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500561C-A634-43F2-B80F-8C23CD43B0FD}"/>
              </a:ext>
            </a:extLst>
          </p:cNvPr>
          <p:cNvSpPr>
            <a:spLocks noGrp="1"/>
          </p:cNvSpPr>
          <p:nvPr/>
        </p:nvSpPr>
        <p:spPr>
          <a:xfrm>
            <a:off x="628650" y="4495800"/>
            <a:ext cx="7429500" cy="58093"/>
          </a:xfrm>
          <a:prstGeom prst="roundRect">
            <a:avLst>
              <a:gd name="adj" fmla="val 13043"/>
            </a:avLst>
          </a:prstGeom>
          <a:solidFill>
            <a:srgbClr val="F5B041"/>
          </a:solidFill>
          <a:ln w="9525">
            <a:solidFill>
              <a:srgbClr val="F5B041"/>
            </a:solidFill>
            <a:prstDash val="solid"/>
          </a:ln>
        </p:spPr>
      </p:sp>
      <p:pic>
        <p:nvPicPr>
          <p:cNvPr id="19" name="Imagen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724900" y="1799318"/>
            <a:ext cx="2381250" cy="158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62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877</Words>
  <Application>Microsoft Office PowerPoint</Application>
  <DocSecurity>0</DocSecurity>
  <PresentationFormat>Panorámica</PresentationFormat>
  <Paragraphs>196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Tsung-Hao Liu</cp:lastModifiedBy>
  <cp:revision>1</cp:revision>
  <dcterms:created xsi:type="dcterms:W3CDTF">2026-09-07T21:52:44Z</dcterms:created>
  <dcterms:modified xsi:type="dcterms:W3CDTF">2026-09-08T20:36:09Z</dcterms:modified>
</cp:coreProperties>
</file>