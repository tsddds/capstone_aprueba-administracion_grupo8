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cabbe82154499" /><Relationship Type="http://schemas.openxmlformats.org/officeDocument/2006/relationships/extended-properties" Target="/docProps/app.xml" Id="R355907ebc2464de6" /><Relationship Type="http://schemas.openxmlformats.org/officeDocument/2006/relationships/officeDocument" Target="/ppt/presentation.xml" Id="Rd7accbcef38a4b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bbc08a1adc40e9"/>
  </p:sldMasterIdLst>
  <p:notesMasterIdLst>
    <p:notesMasterId xmlns:r="http://schemas.openxmlformats.org/officeDocument/2006/relationships" r:id="R15439a3a62c04c3f"/>
  </p:notesMasterIdLst>
  <p:sldIdLst>
    <p:sldId xmlns:r="http://schemas.openxmlformats.org/officeDocument/2006/relationships" id="256" r:id="R32f590f4d3ea43ad"/>
    <p:sldId xmlns:r="http://schemas.openxmlformats.org/officeDocument/2006/relationships" id="257" r:id="R526700dfc8d0473c"/>
    <p:sldId xmlns:r="http://schemas.openxmlformats.org/officeDocument/2006/relationships" id="258" r:id="Rab00f17aec1b4fab"/>
    <p:sldId xmlns:r="http://schemas.openxmlformats.org/officeDocument/2006/relationships" id="259" r:id="R1ddb5fa6884b48c0"/>
    <p:sldId xmlns:r="http://schemas.openxmlformats.org/officeDocument/2006/relationships" id="260" r:id="Re66db67dbb1e49ee"/>
    <p:sldId xmlns:r="http://schemas.openxmlformats.org/officeDocument/2006/relationships" id="261" r:id="Rbaa1992c1d17493c"/>
    <p:sldId xmlns:r="http://schemas.openxmlformats.org/officeDocument/2006/relationships" id="262" r:id="R65fc8692e5dc4024"/>
    <p:sldId xmlns:r="http://schemas.openxmlformats.org/officeDocument/2006/relationships" id="263" r:id="R7919a9666f01494c"/>
    <p:sldId xmlns:r="http://schemas.openxmlformats.org/officeDocument/2006/relationships" id="264" r:id="Rb674e8323fd54b48"/>
    <p:sldId xmlns:r="http://schemas.openxmlformats.org/officeDocument/2006/relationships" id="265" r:id="Rd4073d78f4ad4d13"/>
    <p:sldId xmlns:r="http://schemas.openxmlformats.org/officeDocument/2006/relationships" id="266" r:id="R4961ad30aefb49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f54f4defc46d1" /><Relationship Type="http://schemas.openxmlformats.org/officeDocument/2006/relationships/slideMaster" Target="/ppt/slideMasters/slideMaster1.xml" Id="R1abbc08a1adc40e9" /><Relationship Type="http://schemas.openxmlformats.org/officeDocument/2006/relationships/notesMaster" Target="/ppt/notesMasters/notesMaster1.xml" Id="R15439a3a62c04c3f" /><Relationship Type="http://schemas.openxmlformats.org/officeDocument/2006/relationships/presProps" Target="/ppt/presProps.xml" Id="R8eaa67d5c2244140" /><Relationship Type="http://schemas.openxmlformats.org/officeDocument/2006/relationships/viewProps" Target="/ppt/viewProps.xml" Id="Rd6fd527fb3cb47b0" /><Relationship Type="http://schemas.openxmlformats.org/officeDocument/2006/relationships/tableStyles" Target="/ppt/tableStyles.xml" Id="R89b2849a94ca4dc9" /><Relationship Type="http://schemas.openxmlformats.org/officeDocument/2006/relationships/slide" Target="/ppt/slides/slide1.xml" Id="R32f590f4d3ea43ad" /><Relationship Type="http://schemas.openxmlformats.org/officeDocument/2006/relationships/slide" Target="/ppt/slides/slide2.xml" Id="R526700dfc8d0473c" /><Relationship Type="http://schemas.openxmlformats.org/officeDocument/2006/relationships/slide" Target="/ppt/slides/slide3.xml" Id="Rab00f17aec1b4fab" /><Relationship Type="http://schemas.openxmlformats.org/officeDocument/2006/relationships/slide" Target="/ppt/slides/slide4.xml" Id="R1ddb5fa6884b48c0" /><Relationship Type="http://schemas.openxmlformats.org/officeDocument/2006/relationships/slide" Target="/ppt/slides/slide5.xml" Id="Re66db67dbb1e49ee" /><Relationship Type="http://schemas.openxmlformats.org/officeDocument/2006/relationships/slide" Target="/ppt/slides/slide6.xml" Id="Rbaa1992c1d17493c" /><Relationship Type="http://schemas.openxmlformats.org/officeDocument/2006/relationships/slide" Target="/ppt/slides/slide7.xml" Id="R65fc8692e5dc4024" /><Relationship Type="http://schemas.openxmlformats.org/officeDocument/2006/relationships/slide" Target="/ppt/slides/slide8.xml" Id="R7919a9666f01494c" /><Relationship Type="http://schemas.openxmlformats.org/officeDocument/2006/relationships/slide" Target="/ppt/slides/slide9.xml" Id="Rb674e8323fd54b48" /><Relationship Type="http://schemas.openxmlformats.org/officeDocument/2006/relationships/slide" Target="/ppt/slides/slide10.xml" Id="Rd4073d78f4ad4d13" /><Relationship Type="http://schemas.openxmlformats.org/officeDocument/2006/relationships/slide" Target="/ppt/slides/slide11.xml" Id="R4961ad30aefb49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7724b395b4f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7778c324848e5" /><Relationship Type="http://schemas.openxmlformats.org/officeDocument/2006/relationships/notesMaster" Target="/ppt/notesMasters/notesMaster1.xml" Id="R57ec20d576e54b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255660e734410" /><Relationship Type="http://schemas.openxmlformats.org/officeDocument/2006/relationships/notesMaster" Target="/ppt/notesMasters/notesMaster1.xml" Id="R92d6b9d0ba1a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f1606554f4e62" /><Relationship Type="http://schemas.openxmlformats.org/officeDocument/2006/relationships/notesMaster" Target="/ppt/notesMasters/notesMaster1.xml" Id="R0528c5bc70d0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7bd927ed34586" /><Relationship Type="http://schemas.openxmlformats.org/officeDocument/2006/relationships/notesMaster" Target="/ppt/notesMasters/notesMaster1.xml" Id="Ra861a0f9c7b3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080674b7e4a89" /><Relationship Type="http://schemas.openxmlformats.org/officeDocument/2006/relationships/notesMaster" Target="/ppt/notesMasters/notesMaster1.xml" Id="R260afdd0ad39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783f720c804612" /><Relationship Type="http://schemas.openxmlformats.org/officeDocument/2006/relationships/notesMaster" Target="/ppt/notesMasters/notesMaster1.xml" Id="Re83946f8e26e41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78667cb8574a18" /><Relationship Type="http://schemas.openxmlformats.org/officeDocument/2006/relationships/notesMaster" Target="/ppt/notesMasters/notesMaster1.xml" Id="R5595b29ab7a644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bdf65b7a4242e0" /><Relationship Type="http://schemas.openxmlformats.org/officeDocument/2006/relationships/notesMaster" Target="/ppt/notesMasters/notesMaster1.xml" Id="R7945e20e04d24e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7a4f77dee43ff" /><Relationship Type="http://schemas.openxmlformats.org/officeDocument/2006/relationships/notesMaster" Target="/ppt/notesMasters/notesMaster1.xml" Id="R3039c688a81e42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822f495cd347bc" /><Relationship Type="http://schemas.openxmlformats.org/officeDocument/2006/relationships/notesMaster" Target="/ppt/notesMasters/notesMaster1.xml" Id="R8796a943bca94f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268f65eab04529" /><Relationship Type="http://schemas.openxmlformats.org/officeDocument/2006/relationships/notesMaster" Target="/ppt/notesMasters/notesMaster1.xml" Id="R9248a531392d4a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Somos Tsung-Hao Liu, Catalina Padilla y Felipe Rojas. Presentamos la definición del backend de Aprueba Administración. Nuestro trabajo cubre las 27 operaciones administrativas del contrato API. Hoy explicaremos el problema, la solución, nuestros aportes y la planificación.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Aprueba necesita consultar información comercial y operativa, administrar usuarios y atender solicitudes de soporte. El backend centralizará las reglas y controlará quién puede realizar cada operación. Estas son necesidades del proyecto, no conclusiones de una auditoría del código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API incluye acceso, métricas, sponsors, operación, usuarios, tickets, correcciones, preguntas, funcionalidades y planes. Aquí agrupamos algunas funciones para mostrar el alcance de forma simple. La fuente exacta es la sección 4 de Aprueba_API_Backend.docx, con 27 endpoints. No desarrollaremos la aplicación del alumno, su sitio web ni el generador. Si hace falta, podremos crear una interfaz mínima de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Tsung-Hao se concentra en desarrollo backend y organización del trabajo. Catalina apoya los requisitos, las prioridades del producto y la documentación. Felipe trabaja en arquitectura, datos y calidad. Los tres colaboramos en el backend y combinamos funciones según el plan de trabajo y la RACI. La distribución describe responsabilidades planificadas.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se relaciona con nuestro perfil de egreso porque requiere diseñar una solución, desarrollar servicios, organizar tareas y verificar la calidad. También debemos documentar y comunicar las decisiones. En Fase 1 presentamos su definición y planificación. El código y los resultados de pruebas se producirán durante el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Nuestro objetivo general es desarrollar y validar el backend de Aprueba Administración de acuerdo con el contrato. Para lograrlo diseñaremos los requisitos y la arquitectura, implementaremos las operaciones y sus permisos, ejecutaremos pruebas y desplegaremos la API en ambientes de prueba y producción. Esos resultados son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entrada API recibirá las solicitudes. Los servicios aplicarán las reglas y los permisos, y la capa de datos se conectará con la base que nos entreguen. Los controles de seguridad incluyen roles, validación, auditoría y protección de credenciales. Esta es una propuesta lógica. El lenguaje, framework, proveedor y mecanismo concreto de despliegue siguen pendientes.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Contamos con un alcance definido, un contrato API, un equipo de tres integrantes y una planificación de 18 semanas. Para ejecutar la integración real necesitamos el repositorio vigente, acceso a la base de datos y la confirmación de servicios y ambientes. Al recibirlos revisaremos su compatibilidad con el contrato y ajustaremos las tareas si corresponde. El código antiguo no permite describir el estado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trabajo contempla 18 semanas. Las primeras cuatro corresponden a inicio y diseño. Desde la semana cinco hasta la quince desarrollaremos cinco sprints. Las últimas tres se dedicarán al despliegue, transición y defensa. El backlog es la lista priorizada del trabajo. Cada sprint tendrá planificación, seguimiento, revisión y retrospectiva. La Carta Gantt contiene las fechas y dependencias, y el seguimiento de calidad y riesgos se mantiene durante 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Fase 1 entregamos los documentos académicos, los requisitos, la arquitectura, la planificación y el plan de pruebas. Las evidencias individuales corresponden a cada integrante. Al finalizar el proyecto se espera una API funcionando, pruebas automatizadas, manuales, ambientes de prueba y producción y una demostración mediante solicitudes. La evaluación estará a cargo del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Fase 1 nos permite acordar qué debe hacer el backend y cómo desarrollarlo. El siguiente paso será recibir los insumos vigentes para implementar y verificar las 27 operaciones administrativas. Muchas gracias.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Aprueba_API_Backend.docx, sección 4. Plan y decisiones confirmadas de la entrega V3.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b16cd2f4346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d966b5d1194d3e" /><Relationship Type="http://schemas.openxmlformats.org/officeDocument/2006/relationships/slideLayout" Target="/ppt/slideLayouts/slideLayout1.xml" Id="R9d736e545abb41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36e545abb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8b7d66db248fe" /><Relationship Type="http://schemas.openxmlformats.org/officeDocument/2006/relationships/image" Target="/ppt/media/image.png" Id="R074116ee77ae48f7" /><Relationship Type="http://schemas.openxmlformats.org/officeDocument/2006/relationships/notesSlide" Target="/ppt/notesSlides/notesSlide1.xml" Id="Rd50d1b64efb5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ebe8620bf4d32" /><Relationship Type="http://schemas.openxmlformats.org/officeDocument/2006/relationships/notesSlide" Target="/ppt/notesSlides/notesSlide2.xml" Id="Rfc3e21e5b37f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8969243b943c7" /><Relationship Type="http://schemas.openxmlformats.org/officeDocument/2006/relationships/notesSlide" Target="/ppt/notesSlides/notesSlide3.xml" Id="R667c0a9bbc9247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2b52e0424f5d" /><Relationship Type="http://schemas.openxmlformats.org/officeDocument/2006/relationships/notesSlide" Target="/ppt/notesSlides/notesSlide4.xml" Id="R71132f18c1814d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87b953524092" /><Relationship Type="http://schemas.openxmlformats.org/officeDocument/2006/relationships/notesSlide" Target="/ppt/notesSlides/notesSlide5.xml" Id="Reac04593f72f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f53d1efde457f" /><Relationship Type="http://schemas.openxmlformats.org/officeDocument/2006/relationships/notesSlide" Target="/ppt/notesSlides/notesSlide6.xml" Id="R3bc29a895efe43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e242297cc4c1f" /><Relationship Type="http://schemas.openxmlformats.org/officeDocument/2006/relationships/notesSlide" Target="/ppt/notesSlides/notesSlide7.xml" Id="R17f4825f861349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bcc98889844dd" /><Relationship Type="http://schemas.openxmlformats.org/officeDocument/2006/relationships/notesSlide" Target="/ppt/notesSlides/notesSlide8.xml" Id="R75377d34898840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21b0e60674caf" /><Relationship Type="http://schemas.openxmlformats.org/officeDocument/2006/relationships/notesSlide" Target="/ppt/notesSlides/notesSlide9.xml" Id="R3a4338b2103441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fef91f423467e" /><Relationship Type="http://schemas.openxmlformats.org/officeDocument/2006/relationships/notesSlide" Target="/ppt/notesSlides/notesSlide10.xml" Id="R7c77649500ab43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c1eb18e704200" /><Relationship Type="http://schemas.openxmlformats.org/officeDocument/2006/relationships/image" Target="/ppt/media/image.png" Id="R568303adad2f4281" /><Relationship Type="http://schemas.openxmlformats.org/officeDocument/2006/relationships/notesSlide" Target="/ppt/notesSlides/notesSlide11.xml" Id="Rd1d397e6d63744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FE69466-5037-4A5F-8B05-75D1FB1A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031E469-C75C-4B8F-890E-C92FB58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5B041"/>
                </a:solidFill>
              </a:defRPr>
            </a:pPr>
            <a:r>
              <a:rPr sz="975" b="1">
                <a:solidFill>
                  <a:srgbClr val="F5B041"/>
                </a:solidFill>
              </a:rPr>
              <a:t>DEFINICIÓN DE PROYECTO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6BD4352-BF45-43B8-A4A6-C87B8EFF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EEF5"/>
                </a:solidFill>
              </a:defRPr>
            </a:pPr>
            <a:r>
              <a:rPr sz="975" b="1">
                <a:solidFill>
                  <a:srgbClr val="E8EEF5"/>
                </a:solidFill>
              </a:rPr>
              <a:t>01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3A617F2-08C0-4098-B44B-1139BE06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223D3D5-127E-4016-AB67-A0214EC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Aprueba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880F36C-2FC1-4C96-8461-65128EE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004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8EEF5"/>
                </a:solidFill>
              </a:defRPr>
            </a:pPr>
            <a:r>
              <a:rPr sz="1725" b="0">
                <a:solidFill>
                  <a:srgbClr val="E8EEF5"/>
                </a:solidFill>
              </a:rPr>
              <a:t>Fase 1: definición del backend administrativo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E84938FD-F873-4EF9-8837-E7FFE9C3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148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Tsung-Hao Liu  ·  Catalina Yanara Padilla Astudillo  ·  Felipe Antonio Rojas Riffo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622C41F-0E37-48B9-AFAC-83F3C34D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B041"/>
                </a:solidFill>
              </a:defRPr>
            </a:pPr>
            <a:r>
              <a:rPr sz="1275" b="1">
                <a:solidFill>
                  <a:srgbClr val="F5B041"/>
                </a:solidFill>
              </a:rPr>
              <a:t>2026</a:t>
            </a:r>
          </a:p>
        </p:txBody>
      </p:sp>
      <p:pic>
        <p:nvPicPr>
          <p:cNvPr id="22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116ee77ae48f7"/>
          <a:stretch xmlns:a="http://schemas.openxmlformats.org/drawingml/2006/main"/>
        </p:blipFill>
        <p:spPr>
          <a:xfrm xmlns:a="http://schemas.openxmlformats.org/drawingml/2006/main">
            <a:off x="8572500" y="2113643"/>
            <a:ext cx="2381250" cy="1582964"/>
          </a:xfrm>
          <a:prstGeom xmlns:a="http://schemas.openxmlformats.org/drawingml/2006/main" prst="rect">
            <a:avLst/>
          </a:prstGeom>
        </p:spPr>
      </p:pic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A7E3D014-6CB7-4D8B-A886-8D1ED3F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0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B041"/>
                </a:solidFill>
              </a:defRPr>
            </a:pPr>
            <a:r>
              <a:rPr sz="900" b="1">
                <a:solidFill>
                  <a:srgbClr val="F5B041"/>
                </a:solidFill>
              </a:rPr>
              <a:t>Alcance del equipo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59B9ACA-0A36-437C-AAF9-08F56719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Backend administrativo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27 endpoints /admin</a:t>
            </a:r>
          </a:p>
        </p:txBody>
      </p:sp>
    </p:spTree>
    <p:extLst>
      <p:ext uri="{BB962C8B-B14F-4D97-AF65-F5344CB8AC3E}">
        <p14:creationId xmlns:p14="http://schemas.microsoft.com/office/powerpoint/2010/main" val="1082141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9DBAAC22-EED6-4F1C-8EE4-406AA89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A3CC0D0-CA8C-4450-AFFB-1AE78A9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EF88BDD9-FB6E-4A02-B2E1-8B7B1B2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PROBLEMA Y OPORTUNIDAD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3C6A3C0-2834-4A1A-91A6-623BDC44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05A9ED6-9259-488B-A03C-2D05DFD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Problema y oportunidad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8FB65AD-656D-4A75-9793-775F0AB7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Aprueba necesita gestionar la información y las operaciones del negocio de forma segura.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8B51C95A-FBDD-45C9-A04A-E15F824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67627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9525">
            <a:solidFill>
              <a:srgbClr val="1A365D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09CC5BF-50DF-40CB-A25B-F8B67C30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B041"/>
                </a:solidFill>
              </a:defRPr>
            </a:pPr>
            <a:r>
              <a:rPr sz="1875" b="1">
                <a:solidFill>
                  <a:srgbClr val="F5B041"/>
                </a:solidFill>
              </a:rPr>
              <a:t>Necesidades del negocio</a:t>
            </a:r>
          </a:p>
        </p:txBody>
      </p:sp>
      <p:sp>
        <p:nvSpPr>
          <p:cNvPr id="9" name="Elipse 8">
            <a:extLst xmlns:a="http://schemas.openxmlformats.org/drawingml/2006/main">
              <a:ext uri="{FF2B5EF4-FFF2-40B4-BE49-F238E27FC236}">
                <a16:creationId xmlns:a16="http://schemas.microsoft.com/office/drawing/2014/main" id="{39CE28DB-4712-4303-B955-A6B5466B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3B8574-AFAE-45C3-96BC-DAE60E79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Consultar indicadores comerciales y operativos.</a:t>
            </a:r>
          </a:p>
        </p:txBody>
      </p:sp>
      <p:sp>
        <p:nvSpPr>
          <p:cNvPr id="11" name="Elipse 10">
            <a:extLst xmlns:a="http://schemas.openxmlformats.org/drawingml/2006/main">
              <a:ext uri="{FF2B5EF4-FFF2-40B4-BE49-F238E27FC236}">
                <a16:creationId xmlns:a16="http://schemas.microsoft.com/office/drawing/2014/main" id="{EE062A93-DC5A-4259-AD25-456E0784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6D6C0217-1B82-48F9-9FCF-539E9A01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Gestionar usuarios y dar seguimiento al soporte.</a:t>
            </a:r>
          </a:p>
        </p:txBody>
      </p:sp>
      <p:sp>
        <p:nvSpPr>
          <p:cNvPr id="13" name="Elipse 12">
            <a:extLst xmlns:a="http://schemas.openxmlformats.org/drawingml/2006/main">
              <a:ext uri="{FF2B5EF4-FFF2-40B4-BE49-F238E27FC236}">
                <a16:creationId xmlns:a16="http://schemas.microsoft.com/office/drawing/2014/main" id="{E4BBFFFB-6BBF-423D-8B7E-5D9BEEB3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B2C64D53-39CB-4815-8CFD-07D134C1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Administrar preguntas, sponsors y planes.</a:t>
            </a:r>
          </a:p>
        </p:txBody>
      </p:sp>
      <p:sp>
        <p:nvSpPr>
          <p:cNvPr id="15" name="Elipse 14">
            <a:extLst xmlns:a="http://schemas.openxmlformats.org/drawingml/2006/main">
              <a:ext uri="{FF2B5EF4-FFF2-40B4-BE49-F238E27FC236}">
                <a16:creationId xmlns:a16="http://schemas.microsoft.com/office/drawing/2014/main" id="{A6208B99-BFD2-440E-A0FE-199FCCC9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667BC72-79D3-4F71-82DE-23A74EA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Controlar los permisos y registrar las operaciones.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48DDAEB5-8F95-4F2D-9619-8E47BC94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7AE9980-4D34-4AE2-A6E8-34AA5CD7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464D169-A655-45BC-A170-E01F982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193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A365D"/>
                </a:solidFill>
              </a:defRPr>
            </a:pPr>
            <a:r>
              <a:rPr sz="2400" b="1">
                <a:solidFill>
                  <a:srgbClr val="1A365D"/>
                </a:solidFill>
              </a:rPr>
              <a:t>27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2E7B2F9-EED3-430D-973F-8B1176AC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76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endpoints administrativos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4060F8D6-0BF0-4904-AC9F-A926AAE7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C8960EE4-A364-4811-8746-BADE3C10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3C8580EE-43ED-4C4E-88DF-E6A654D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100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A365D"/>
                </a:solidFill>
              </a:defRPr>
            </a:pPr>
            <a:r>
              <a:rPr sz="2400" b="1">
                <a:solidFill>
                  <a:srgbClr val="1A365D"/>
                </a:solidFill>
              </a:rPr>
              <a:t>1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6E353E0A-A7AD-46EF-8390-CFF14B22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67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API para administrar el negocio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C2656A43-7D79-4D5D-9323-B19EB02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A365D"/>
                </a:solidFill>
              </a:defRPr>
            </a:pPr>
            <a:r>
              <a:rPr sz="1050" b="1">
                <a:solidFill>
                  <a:srgbClr val="1A365D"/>
                </a:solidFill>
              </a:rPr>
              <a:t>Oportunidad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19389312-7AAE-4093-89BE-3F51C35F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Centralizar las reglas y el acceso a los datos.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F5CA8D6-0C11-4A84-8E3D-D346BC29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4E8B60B1-E31F-4DBB-86AA-3DA58533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1181990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6FA4A935-D449-4FDB-A026-540A5004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5A02D03-A378-4DFA-A323-1C29F3EC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48FB90-1685-4BB2-96E5-CE4EA713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SOLUCIÓN PROPUESTA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8826C80-BD7C-4F71-B68C-9CE111E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64BF3E41-A589-420B-BAA0-D1892BDB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Solución propuesta: una API administrativa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E011947-BEDB-400A-8F8F-69AB73A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27 endpoints /admin. El alcance excluye la aplicación del alumno y el frontend completo.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721AB3AE-4123-4B50-9ECE-E9A00A1C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F5B85B26-EDE1-4800-AD46-CA561642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01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2C9AD03-7286-4D03-8671-0FCE903E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Acceso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3DCC8D0-0068-426F-9982-4B9B051A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Login y permisos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508DF432-B4A0-43CE-BE4A-41B5B42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47128AAF-8B67-4B46-B4AF-31B627D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B6F750D-CB27-4786-B41F-9992F68F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Métricas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147C6405-B401-45D8-9743-318D0A09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Indicadores e ingresos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69AFE203-A219-406C-BF08-0CE5DB7A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116CB166-735C-44C4-96F1-20A199CE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85FBD002-5C5B-42BF-814A-CA175987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Sponsors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5A6AF31E-719F-4DFC-8BAF-3197EE9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Gestión de patrocinadores</a:t>
            </a:r>
          </a:p>
        </p:txBody>
      </p:sp>
      <p:sp>
        <p:nvSpPr>
          <p:cNvPr id="19" name="Rectángulo: esquinas redondeadas 18">
            <a:extLst xmlns:a="http://schemas.openxmlformats.org/drawingml/2006/main">
              <a:ext uri="{FF2B5EF4-FFF2-40B4-BE49-F238E27FC236}">
                <a16:creationId xmlns:a16="http://schemas.microsoft.com/office/drawing/2014/main" id="{2673B461-4E03-4F60-9D8E-372B808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C455640-B082-4A43-9C23-D8C2266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28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04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22B494D7-ED67-467F-87EB-481C4587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Operación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D192DCC9-1C33-4EAC-9372-9D8057A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Servicios y contenedores</a:t>
            </a:r>
          </a:p>
        </p:txBody>
      </p:sp>
      <p:sp>
        <p:nvSpPr>
          <p:cNvPr id="23" name="Rectángulo: esquinas redondeadas 22">
            <a:extLst xmlns:a="http://schemas.openxmlformats.org/drawingml/2006/main">
              <a:ext uri="{FF2B5EF4-FFF2-40B4-BE49-F238E27FC236}">
                <a16:creationId xmlns:a16="http://schemas.microsoft.com/office/drawing/2014/main" id="{F97FD7E2-1678-4B15-9037-907ABE7A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5347B021-5800-48E5-B090-6BBFF16F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05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4491036B-BF00-4AF5-9EFC-0702C274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Usuarios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9ECD2F89-0EDA-495C-B44D-DEB2F8E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Consulta y actualización</a:t>
            </a:r>
          </a:p>
        </p:txBody>
      </p:sp>
      <p:sp>
        <p:nvSpPr>
          <p:cNvPr id="27" name="Rectángulo: esquinas redondeadas 26">
            <a:extLst xmlns:a="http://schemas.openxmlformats.org/drawingml/2006/main">
              <a:ext uri="{FF2B5EF4-FFF2-40B4-BE49-F238E27FC236}">
                <a16:creationId xmlns:a16="http://schemas.microsoft.com/office/drawing/2014/main" id="{EDEED007-D483-4FEE-8A8D-4273EBB0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ABB43EB7-FA18-47E8-89DE-1E186B91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06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37ED6741-71C9-479F-9AD6-A6D00DED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910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Soporte y revisiones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64DFA804-2605-4090-A782-F71533BD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Tickets y correcciones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D189DEEC-03EF-43F0-8BF7-0E8C59A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EB7F2B8-8322-40E0-BD82-047B0686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07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DDA7C070-C3ED-4856-B07B-201DD1F4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Preguntas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50905C88-ADC7-4E0A-912F-830B6569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Gestión e importación</a:t>
            </a:r>
          </a:p>
        </p:txBody>
      </p:sp>
      <p:sp>
        <p:nvSpPr>
          <p:cNvPr id="35" name="Rectángulo: esquinas redondeadas 34">
            <a:extLst xmlns:a="http://schemas.openxmlformats.org/drawingml/2006/main">
              <a:ext uri="{FF2B5EF4-FFF2-40B4-BE49-F238E27FC236}">
                <a16:creationId xmlns:a16="http://schemas.microsoft.com/office/drawing/2014/main" id="{8FFB7306-F9BA-4C51-8ABF-F803B85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400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5C2F78F8-610B-49BA-836A-D480D9B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86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08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E059E18B-CEBC-491D-B274-7555FBD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910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Planes y funciones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31F247C2-6D85-40B2-8408-0A2E08F9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29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Catálogo administrativo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F40C3F46-0018-4BDE-8F95-93655DE0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A438E008-0ED1-430E-A4DE-EB6DF613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1098355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A84AE0BF-8BDE-4D38-BEA8-FE3B93B6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0CEE51B-6578-4769-9FBA-8861E824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735E24A-4C1F-4FBA-9E65-5014CFB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EQUIPO Y APORTES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982FB47-02B6-422F-9142-2FECFC58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D9A6F98B-33F7-43B1-920D-A13BC4B1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Equipo y aportes al proyecto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1848CF2-5ABE-484C-BB30-330FFA05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Las responsabilidades se distribuyen según el plan de trabajo y la matriz RACI.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949996EA-1692-43EE-979C-6DCF277C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295650" cy="33337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D6DCD99-932C-4FFD-A866-F02917D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295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2E56C67-FF04-4631-A979-B0347D4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TSUNG-HAO LIU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CAD224B-7CD8-4254-8A6E-56298B6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Desarrollo web y organización</a:t>
            </a:r>
          </a:p>
        </p:txBody>
      </p:sp>
      <p:sp>
        <p:nvSpPr>
          <p:cNvPr id="11" name="Elipse 10">
            <a:extLst xmlns:a="http://schemas.openxmlformats.org/drawingml/2006/main">
              <a:ext uri="{FF2B5EF4-FFF2-40B4-BE49-F238E27FC236}">
                <a16:creationId xmlns:a16="http://schemas.microsoft.com/office/drawing/2014/main" id="{B87AD476-4947-4859-997D-C1EEED2C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73626CA-09BB-4079-AC64-B69872BF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API y autenticación</a:t>
            </a:r>
          </a:p>
        </p:txBody>
      </p:sp>
      <p:sp>
        <p:nvSpPr>
          <p:cNvPr id="13" name="Elipse 12">
            <a:extLst xmlns:a="http://schemas.openxmlformats.org/drawingml/2006/main">
              <a:ext uri="{FF2B5EF4-FFF2-40B4-BE49-F238E27FC236}">
                <a16:creationId xmlns:a16="http://schemas.microsoft.com/office/drawing/2014/main" id="{95D86036-22CC-498A-AB5F-9F27FDAC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0F935733-90B5-4B85-A036-3C9428A4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Gestión y seguimiento</a:t>
            </a:r>
          </a:p>
        </p:txBody>
      </p:sp>
      <p:sp>
        <p:nvSpPr>
          <p:cNvPr id="15" name="Elipse 14">
            <a:extLst xmlns:a="http://schemas.openxmlformats.org/drawingml/2006/main">
              <a:ext uri="{FF2B5EF4-FFF2-40B4-BE49-F238E27FC236}">
                <a16:creationId xmlns:a16="http://schemas.microsoft.com/office/drawing/2014/main" id="{CCAFCEEB-B62B-4218-9CFD-5313DA19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C2CB4A71-7C8A-4A37-9DB2-28A70EDC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Integración y despliegue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3008A983-3151-4C0B-A3A4-0B119E30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295650" cy="33337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5355C8E0-42D5-4013-ABCC-3A8FAEFD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295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E3A9833-E1FF-4F33-B7D4-5001E4F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CATALINA PADILLA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2EA87AC0-54EC-4FB2-B300-45B54B0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Producto y análisis de datos</a:t>
            </a:r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3F3137A2-A169-43FA-BA83-BAB839A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D55EBB0-D1E0-4F06-9910-E1D85C78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Requisitos y prioridades</a:t>
            </a:r>
          </a:p>
        </p:txBody>
      </p:sp>
      <p:sp>
        <p:nvSpPr>
          <p:cNvPr id="23" name="Elipse 22">
            <a:extLst xmlns:a="http://schemas.openxmlformats.org/drawingml/2006/main">
              <a:ext uri="{FF2B5EF4-FFF2-40B4-BE49-F238E27FC236}">
                <a16:creationId xmlns:a16="http://schemas.microsoft.com/office/drawing/2014/main" id="{BD52816B-68A5-4B9A-9FAA-277E4646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24959B76-CB52-465D-B23D-88EF5403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Documentación del proyecto</a:t>
            </a:r>
          </a:p>
        </p:txBody>
      </p:sp>
      <p:sp>
        <p:nvSpPr>
          <p:cNvPr id="25" name="Elipse 24">
            <a:extLst xmlns:a="http://schemas.openxmlformats.org/drawingml/2006/main">
              <a:ext uri="{FF2B5EF4-FFF2-40B4-BE49-F238E27FC236}">
                <a16:creationId xmlns:a16="http://schemas.microsoft.com/office/drawing/2014/main" id="{92BB115D-E751-4BDA-B713-49BD393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F0E9D414-1778-481C-9133-35A5E70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910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Apoyo a la demostración</a:t>
            </a:r>
          </a:p>
        </p:txBody>
      </p:sp>
      <p:sp>
        <p:nvSpPr>
          <p:cNvPr id="27" name="Rectángulo: esquinas redondeadas 26">
            <a:extLst xmlns:a="http://schemas.openxmlformats.org/drawingml/2006/main">
              <a:ext uri="{FF2B5EF4-FFF2-40B4-BE49-F238E27FC236}">
                <a16:creationId xmlns:a16="http://schemas.microsoft.com/office/drawing/2014/main" id="{D51722B7-B2D8-4254-84FE-A3E55656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295650" cy="33337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2917C00E-95DD-441C-AD47-372D14A2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295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BED125AB-2F2E-4F40-8A51-B8827F14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FELIPE ROJAS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8EF5BB60-49B1-4656-A53D-7CC0E07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Arquitectura y calidad</a:t>
            </a:r>
          </a:p>
        </p:txBody>
      </p:sp>
      <p:sp>
        <p:nvSpPr>
          <p:cNvPr id="31" name="Elipse 30">
            <a:extLst xmlns:a="http://schemas.openxmlformats.org/drawingml/2006/main">
              <a:ext uri="{FF2B5EF4-FFF2-40B4-BE49-F238E27FC236}">
                <a16:creationId xmlns:a16="http://schemas.microsoft.com/office/drawing/2014/main" id="{28062754-62E6-4874-8363-E3F6DDA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56376C5A-1F38-4537-B976-1EC4BBD7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Arquitectura y modelo de datos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D6E81EE4-BB4D-4C23-AA97-E2D5EC96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83704AA9-157C-4B67-BECC-B347F55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Pruebas y seguridad</a:t>
            </a:r>
          </a:p>
        </p:txBody>
      </p:sp>
      <p:sp>
        <p:nvSpPr>
          <p:cNvPr id="35" name="Elipse 34">
            <a:extLst xmlns:a="http://schemas.openxmlformats.org/drawingml/2006/main">
              <a:ext uri="{FF2B5EF4-FFF2-40B4-BE49-F238E27FC236}">
                <a16:creationId xmlns:a16="http://schemas.microsoft.com/office/drawing/2014/main" id="{CCCA8858-6974-4116-AB1E-5D2CDBF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95145C2F-5F04-463A-85B4-B2A946B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910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Apoyo a la integración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09E3B544-110E-49CB-9895-7C5340C6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DCCF9CB0-CBCE-43D1-AEBD-FA85BF2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Distribución inicial sujeta a ajuste durante la planificación de cada sprint.</a:t>
            </a:r>
          </a:p>
        </p:txBody>
      </p:sp>
    </p:spTree>
    <p:extLst>
      <p:ext uri="{BB962C8B-B14F-4D97-AF65-F5344CB8AC3E}">
        <p14:creationId xmlns:p14="http://schemas.microsoft.com/office/powerpoint/2010/main" val="1156807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F2DE72DC-49BE-48E3-847B-95A38721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132BB12-BEB5-4AF5-8F84-3ECC6D13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AB8A4C6-14E6-4DE1-8D76-CE25CE48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PERFIL DE EGRESO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9DDFF1E-7925-4990-A40B-49AB2CDC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C9BAFE28-7DBC-4201-8EB6-EA77EB16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Relación con el perfil de egreso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4F7FCA85-2C53-4942-8AD9-88BA9020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El proyecto permite aplicar las competencias de Ingeniería en Informática.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3A26FD9-62F2-4596-A2FC-295805B6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923064-8D22-4D66-87AB-5AAD0EF5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307313E-8A15-4F0F-A368-E6519F4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Diseño de soluciones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C82AA0E-F5CE-44D1-9474-DAFFDA8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643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Requisitos, arquitectura y modelo de datos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186A2B8-F902-45E4-9202-084DFA5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02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775D39CE-9BE2-49F0-ACEE-2B6106EB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8FFC58F-ABA6-4DE6-BC14-F958CAEF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28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Desarrollo de software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BE733FF7-582E-418C-84F0-2B3066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28925"/>
            <a:ext cx="643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Implementación de servicios backend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BD601C79-ABFB-416C-AAE2-7755981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03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DE9209FB-3489-48F1-811F-2AB93E5B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9CFF5DD-B6CE-438D-9558-13ACE5B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Gestión de proyectos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FC294AE-6417-4DF1-B473-2ECC4D3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643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Planificación, Gantt y seguimiento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B7604AFF-43AD-4C89-8B0E-D28FBECB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04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A3D9576-55FD-4067-A8FE-F276B0A3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481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AE4D8E0C-0F47-4CCA-86E7-90FB6A9D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Calidad y seguridad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E1A3427A-9AE0-4F00-84B1-FFB1144A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0075"/>
            <a:ext cx="643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Casos de prueba, controles y trazabilidad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52E35DE-5003-4955-9875-5A453ADD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05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0181694A-6F05-46E9-9F83-CDE0BDBF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C71CD3B3-017F-47B6-B7DC-9E5BC08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Comunicación profesional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5F94D814-3118-43E2-A74D-498129A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00650"/>
            <a:ext cx="643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Documentación y defensa del proyecto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6BE7FD4B-6CD6-4CE0-A9DF-F5742436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DA05A1F2-F528-44D3-BA4F-F634F4E1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949535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2164B7FE-E98E-4988-8628-0DFFBE1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2A74108-5A8D-4786-BFF6-8A7A252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892672A-7BC3-4A65-8CF6-4C3FB9C6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OBJETIVOS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810F631-B1E6-4376-8602-673903A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8729E138-9F33-4296-A64E-4E3B0CA8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Objetivos del proyecto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F58E72-9100-4EDE-8CFD-A2B76F8D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El proyecto contempla 18 semanas de trabajo.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378A554A-D91A-4E99-AE71-7E81E4B4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0668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9525">
            <a:solidFill>
              <a:srgbClr val="1A365D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05DCF66-72ED-4932-B967-B65534A4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Desarrollar y validar el backend de Aprueba Administración conforme a los 27 endpoints del contrato API.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E2AF972-749D-49B6-9AB6-952CE8C1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B041"/>
                </a:solidFill>
              </a:defRPr>
            </a:pPr>
            <a:r>
              <a:rPr sz="1125" b="1">
                <a:solidFill>
                  <a:srgbClr val="F5B041"/>
                </a:solidFill>
              </a:rPr>
              <a:t>DISEÑAR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27190F1-ABAD-4F24-A72D-83912B0E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requisitos, arquitectura y datos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8774BAC-046A-4A21-A01F-E126796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B041"/>
                </a:solidFill>
              </a:defRPr>
            </a:pPr>
            <a:r>
              <a:rPr sz="1125" b="1">
                <a:solidFill>
                  <a:srgbClr val="F5B041"/>
                </a:solidFill>
              </a:rPr>
              <a:t>IMPLEMENTAR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4A6D0C4-44D6-478D-96DB-7F8BF83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las operaciones administrativas y sus permisos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9C7D751-7945-440D-BEC5-4253AD7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B041"/>
                </a:solidFill>
              </a:defRPr>
            </a:pPr>
            <a:r>
              <a:rPr sz="1125" b="1">
                <a:solidFill>
                  <a:srgbClr val="F5B041"/>
                </a:solidFill>
              </a:rPr>
              <a:t>PROBAR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A0F6ABD-6C51-4702-A942-998E31FB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las respuestas, los errores y la seguridad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7FA8A0F-5FCE-4070-8F4A-46D43B5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B041"/>
                </a:solidFill>
              </a:defRPr>
            </a:pPr>
            <a:r>
              <a:rPr sz="1125" b="1">
                <a:solidFill>
                  <a:srgbClr val="F5B041"/>
                </a:solidFill>
              </a:rPr>
              <a:t>DESPLEGAR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7854FB5A-D752-48F8-9D88-05D6E1D8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la API en prueba y producción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45779E7-FBCD-4B87-82DC-30A8E00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BF73FB0-AA83-4A4E-9545-A799D196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833213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E74AD044-8ECB-484E-B391-6DF69B59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84D2A90-17EF-440F-B8CE-2B7B8028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54E968D-2773-4411-B531-46FCA9CD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ARQUITECTURA PROPUESTA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1A13638-0327-4A71-B146-978E1A8E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D786CB8-7377-4F77-A19A-56A08B1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Arquitectura propuesta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31C8A05-5E0A-43F4-A1F2-84FA5DFE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Diseño lógico del backend. El código vigente y las tecnologías todavía están pendientes.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58730991-C0D6-4776-B49D-5684EEE0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781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EC269BF-4AAA-42EE-A6A3-55FEC7F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123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3055624-D830-4030-81DC-6248248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95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ENTRADA API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005C48C-2FE5-4D9D-B258-408B005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764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A365D"/>
                </a:solidFill>
              </a:defRPr>
            </a:pPr>
            <a:r>
              <a:rPr sz="1650" b="1">
                <a:solidFill>
                  <a:srgbClr val="1A365D"/>
                </a:solidFill>
              </a:rPr>
              <a:t>Solicitudes y respuestas HTTP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154D5CE-E894-44FF-A549-F4A9ABF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099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B041"/>
                </a:solidFill>
              </a:defRPr>
            </a:pPr>
            <a:r>
              <a:rPr sz="1875" b="1">
                <a:solidFill>
                  <a:srgbClr val="F5B041"/>
                </a:solidFill>
              </a:rPr>
              <a:t>↓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F99A39C3-57B6-41C8-B008-BC59ECE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781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B45DFDC-28D8-4058-BAB7-F0F4FA4A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123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10C364A1-3A81-4999-AF99-B766BB65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14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041"/>
                </a:solidFill>
              </a:defRPr>
            </a:pPr>
            <a:r>
              <a:rPr sz="1200" b="1">
                <a:solidFill>
                  <a:srgbClr val="F5B041"/>
                </a:solidFill>
              </a:rPr>
              <a:t>SERVICIOS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28AC8942-C4EE-43DF-8E5A-3281E64A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956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A365D"/>
                </a:solidFill>
              </a:defRPr>
            </a:pPr>
            <a:r>
              <a:rPr sz="1650" b="1">
                <a:solidFill>
                  <a:srgbClr val="1A365D"/>
                </a:solidFill>
              </a:rPr>
              <a:t>Reglas del negocio y permisos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606D265E-CAD3-42B9-8C3D-AE545FE7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291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B041"/>
                </a:solidFill>
              </a:defRPr>
            </a:pPr>
            <a:r>
              <a:rPr sz="1875" b="1">
                <a:solidFill>
                  <a:srgbClr val="F5B041"/>
                </a:solidFill>
              </a:rPr>
              <a:t>↓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67122BF6-2CD4-403F-9F49-8472673A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781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FAD6F35-646C-44A2-BF8A-CB6BA183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123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87D53BD-7F95-4EC9-817D-659D3754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DATOS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2075EEBF-67EA-412D-8C85-D6D90C6E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148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A365D"/>
                </a:solidFill>
              </a:defRPr>
            </a:pPr>
            <a:r>
              <a:rPr sz="1650" b="1">
                <a:solidFill>
                  <a:srgbClr val="1A365D"/>
                </a:solidFill>
              </a:rPr>
              <a:t>Base de datos que entregará la contraparte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A80018B5-CFC3-4935-96B2-C8BF306F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1571625" cy="28956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9525">
            <a:solidFill>
              <a:srgbClr val="1A365D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44E9CA4C-7EA6-4F3D-A9EF-5F1C4A12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5B041"/>
                </a:solidFill>
              </a:defRPr>
            </a:pPr>
            <a:r>
              <a:rPr sz="975" b="1">
                <a:solidFill>
                  <a:srgbClr val="F5B041"/>
                </a:solidFill>
              </a:rPr>
              <a:t>SEGURIDAD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232E3DED-1EEC-4279-9B9E-1921944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9900"/>
            <a:ext cx="123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Roles</a:t>
            </a:r>
          </a:p>
          <a:p xmlns:a="http://schemas.openxmlformats.org/drawingml/2006/main"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Validación</a:t>
            </a:r>
          </a:p>
          <a:p xmlns:a="http://schemas.openxmlformats.org/drawingml/2006/main"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Auditoría</a:t>
            </a:r>
          </a:p>
          <a:p xmlns:a="http://schemas.openxmlformats.org/drawingml/2006/main"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Secretos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6025FAE0-EC87-4C83-A7E5-C6053064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8BF5C2B9-6AD9-4BF6-A535-8F2B5F3D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1070722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C01E629B-128E-4F65-8CC2-7CD75F0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3BF9A88-6028-4BA1-AE34-6486F48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E0B512D-2F41-4614-922F-2176A2A5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FACTIBILIDAD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D6605E6-EB03-4088-A90D-D0CCCBE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AD6A316-3534-4449-8999-B76462C5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Factibilidad y recursos pendientes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4A4E1CE-B3B4-4AD4-A28A-DFD02C59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La planificación depende de recibir el repositorio, los datos y los ambientes vigentes.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362B43A5-B171-4C89-9B7A-231553B3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50006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E563F29-9AD3-4C2B-AA63-0FD5E6F7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B981"/>
                </a:solidFill>
              </a:defRPr>
            </a:pPr>
            <a:r>
              <a:rPr sz="1275" b="1">
                <a:solidFill>
                  <a:srgbClr val="10B981"/>
                </a:solidFill>
              </a:rPr>
              <a:t>FACILITADORES</a:t>
            </a:r>
          </a:p>
        </p:txBody>
      </p:sp>
      <p:sp>
        <p:nvSpPr>
          <p:cNvPr id="9" name="Elipse 8">
            <a:extLst xmlns:a="http://schemas.openxmlformats.org/drawingml/2006/main">
              <a:ext uri="{FF2B5EF4-FFF2-40B4-BE49-F238E27FC236}">
                <a16:creationId xmlns:a16="http://schemas.microsoft.com/office/drawing/2014/main" id="{3341D053-C08E-4D88-9C6F-B4CE01A7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3B0C1E2B-0961-4466-AF63-0EB41EBB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Alcance exclusivo de backend.</a:t>
            </a:r>
          </a:p>
        </p:txBody>
      </p:sp>
      <p:sp>
        <p:nvSpPr>
          <p:cNvPr id="11" name="Elipse 10">
            <a:extLst xmlns:a="http://schemas.openxmlformats.org/drawingml/2006/main">
              <a:ext uri="{FF2B5EF4-FFF2-40B4-BE49-F238E27FC236}">
                <a16:creationId xmlns:a16="http://schemas.microsoft.com/office/drawing/2014/main" id="{3A62B766-60A3-4B84-9C4E-D41396D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E99BE23-38AE-417E-A4D2-B3493A2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Contrato con 27 endpoints definidos.</a:t>
            </a:r>
          </a:p>
        </p:txBody>
      </p:sp>
      <p:sp>
        <p:nvSpPr>
          <p:cNvPr id="13" name="Elipse 12">
            <a:extLst xmlns:a="http://schemas.openxmlformats.org/drawingml/2006/main">
              <a:ext uri="{FF2B5EF4-FFF2-40B4-BE49-F238E27FC236}">
                <a16:creationId xmlns:a16="http://schemas.microsoft.com/office/drawing/2014/main" id="{E4FEDED8-F5E1-41CC-B79E-BF04EDB6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8B9FDC68-6115-4D59-A5C5-C34D6CD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18 semanas con trabajo incremental.</a:t>
            </a:r>
          </a:p>
        </p:txBody>
      </p:sp>
      <p:sp>
        <p:nvSpPr>
          <p:cNvPr id="15" name="Elipse 14">
            <a:extLst xmlns:a="http://schemas.openxmlformats.org/drawingml/2006/main">
              <a:ext uri="{FF2B5EF4-FFF2-40B4-BE49-F238E27FC236}">
                <a16:creationId xmlns:a16="http://schemas.microsoft.com/office/drawing/2014/main" id="{AFE2636F-EA18-436C-B373-A6BE1CF8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E971E07-2196-4F0E-A63B-46B7E66C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Tres integrantes con roles complementarios.</a:t>
            </a:r>
          </a:p>
        </p:txBody>
      </p:sp>
      <p:sp>
        <p:nvSpPr>
          <p:cNvPr id="17" name="Elipse 16">
            <a:extLst xmlns:a="http://schemas.openxmlformats.org/drawingml/2006/main">
              <a:ext uri="{FF2B5EF4-FFF2-40B4-BE49-F238E27FC236}">
                <a16:creationId xmlns:a16="http://schemas.microsoft.com/office/drawing/2014/main" id="{E8104C50-1C96-4A16-AAB4-13C2A7C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154ED0A-99A5-4179-A3B4-752FEC57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Validación del resultado por el docente.</a:t>
            </a:r>
          </a:p>
        </p:txBody>
      </p:sp>
      <p:sp>
        <p:nvSpPr>
          <p:cNvPr id="19" name="Rectángulo: esquinas redondeadas 18">
            <a:extLst xmlns:a="http://schemas.openxmlformats.org/drawingml/2006/main">
              <a:ext uri="{FF2B5EF4-FFF2-40B4-BE49-F238E27FC236}">
                <a16:creationId xmlns:a16="http://schemas.microsoft.com/office/drawing/2014/main" id="{A1906D87-717D-4503-A871-9C6A3EC6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76450"/>
            <a:ext cx="532447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9525">
            <a:solidFill>
              <a:srgbClr val="1A365D"/>
            </a:solidFill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1927E07-1218-4BAD-91CB-58231F5E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B041"/>
                </a:solidFill>
              </a:defRPr>
            </a:pPr>
            <a:r>
              <a:rPr sz="1275" b="1">
                <a:solidFill>
                  <a:srgbClr val="F5B041"/>
                </a:solidFill>
              </a:rPr>
              <a:t>PENDIENTES Y ACCIONES</a:t>
            </a:r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45D6F2F2-A0EA-4C82-BA93-9084464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2DE8203E-39D9-4076-AD51-973AA26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vigente: recibir y revisar el repositorio.</a:t>
            </a:r>
          </a:p>
        </p:txBody>
      </p:sp>
      <p:sp>
        <p:nvSpPr>
          <p:cNvPr id="23" name="Elipse 22">
            <a:extLst xmlns:a="http://schemas.openxmlformats.org/drawingml/2006/main">
              <a:ext uri="{FF2B5EF4-FFF2-40B4-BE49-F238E27FC236}">
                <a16:creationId xmlns:a16="http://schemas.microsoft.com/office/drawing/2014/main" id="{550388C3-7322-4FD4-82BE-1920D52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11CBA255-4BDE-40BF-BF6C-90C55637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Base de datos: recibir acceso e integrar.</a:t>
            </a:r>
          </a:p>
        </p:txBody>
      </p:sp>
      <p:sp>
        <p:nvSpPr>
          <p:cNvPr id="25" name="Elipse 24">
            <a:extLst xmlns:a="http://schemas.openxmlformats.org/drawingml/2006/main">
              <a:ext uri="{FF2B5EF4-FFF2-40B4-BE49-F238E27FC236}">
                <a16:creationId xmlns:a16="http://schemas.microsoft.com/office/drawing/2014/main" id="{63F86A5D-8CC9-40C8-8C31-6847BC8E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323F49CE-4E4E-436C-A4EA-52508DC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Servicios externos: confirmar su funcionamiento.</a:t>
            </a:r>
          </a:p>
        </p:txBody>
      </p:sp>
      <p:sp>
        <p:nvSpPr>
          <p:cNvPr id="27" name="Elipse 26">
            <a:extLst xmlns:a="http://schemas.openxmlformats.org/drawingml/2006/main">
              <a:ext uri="{FF2B5EF4-FFF2-40B4-BE49-F238E27FC236}">
                <a16:creationId xmlns:a16="http://schemas.microsoft.com/office/drawing/2014/main" id="{1258294C-3DA7-4AAA-905F-6C809BE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4C8DCD53-7C90-48EF-8CA2-21CCAF1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Ambientes: definir prueba y producción.</a:t>
            </a:r>
          </a:p>
        </p:txBody>
      </p:sp>
      <p:sp>
        <p:nvSpPr>
          <p:cNvPr id="29" name="Elipse 28">
            <a:extLst xmlns:a="http://schemas.openxmlformats.org/drawingml/2006/main">
              <a:ext uri="{FF2B5EF4-FFF2-40B4-BE49-F238E27FC236}">
                <a16:creationId xmlns:a16="http://schemas.microsoft.com/office/drawing/2014/main" id="{EFA8E94D-B7D9-4959-B3CC-2E98185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3DD53C23-17F9-4EFE-8062-4EFAD96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Credenciales: configurar accesos seguros.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118161FE-DE4A-42F2-BAE4-1CE93872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8623A854-67D1-47F6-B4FF-CD89321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487577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2DF34486-EAA1-4608-9116-A1BEB2B0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6D2B2DD-C5DE-4C89-9184-CC19BB12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B5C83D8-799F-48C6-AB7D-CDC280D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PLAN DEL PROYECTO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E8666EC-B656-400E-A22E-A5EA2172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66B955C-DC44-418B-B23B-AD2F0768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Planificación con Scrum: 18 semanas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91CDA69-A67B-4CF0-8712-D4584DFB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Cinco sprints de desarrollo, con seguimiento y pruebas durante el proyecto.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020E1B42-6F06-4144-B96E-C7DEB89B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324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B041"/>
          </a:solidFill>
          <a:ln xmlns:a="http://schemas.openxmlformats.org/drawingml/2006/main" w="9525">
            <a:solidFill>
              <a:srgbClr val="F5B041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816E3F0-CC51-4F3B-B3EC-3698D78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INICIO Y DISEÑO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09B16C5-8D44-4057-87F0-69964B3F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Semanas 1–4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044EA082-0CBC-4F69-AEE3-D92731BD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Definición y línea base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2D00B60C-E07B-4170-AEE8-4527FA0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63912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B6CC4903-6DFF-49AA-808F-CE3655AE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6086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DESARROLLO INCREMENTAL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C8072B4-7D6E-476B-8315-D952E71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6086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Semanas 5–15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CE64457-23E4-4BA8-9E67-2AC1E8EF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616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Sprints 1–5 y validación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B087082F-2D22-4732-8492-05384759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24100"/>
            <a:ext cx="17430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FB40F2D-74E8-4DF5-BD73-C7FDC92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765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RELEASE Y CIERRE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E508E428-F7CE-4078-BA43-88BFBFB8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8130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Semanas 16–18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52A8860C-9135-401A-BF88-DBD7D557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8000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Despliegue, transición y defensa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9AFC59E-6D96-44AA-AB8B-11AD9BF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365D"/>
                </a:solidFill>
              </a:defRPr>
            </a:pPr>
            <a:r>
              <a:rPr sz="1350" b="1">
                <a:solidFill>
                  <a:srgbClr val="1A365D"/>
                </a:solidFill>
              </a:rPr>
              <a:t>Objetivos de los sprints</a:t>
            </a:r>
          </a:p>
        </p:txBody>
      </p:sp>
      <p:sp>
        <p:nvSpPr>
          <p:cNvPr id="20" name="Elipse 19">
            <a:extLst xmlns:a="http://schemas.openxmlformats.org/drawingml/2006/main">
              <a:ext uri="{FF2B5EF4-FFF2-40B4-BE49-F238E27FC236}">
                <a16:creationId xmlns:a16="http://schemas.microsoft.com/office/drawing/2014/main" id="{173F396C-E75D-48E2-A4F4-3CF6C3B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EC9E7F4-CB2F-4063-A8F7-E10C253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B018951-1ADE-4B5A-AEB4-AF78F10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293B"/>
                </a:solidFill>
              </a:defRPr>
            </a:pPr>
            <a:r>
              <a:rPr sz="1200" b="1">
                <a:solidFill>
                  <a:srgbClr val="1E293B"/>
                </a:solidFill>
              </a:rPr>
              <a:t>Sprint 1
Acceso y base</a:t>
            </a:r>
          </a:p>
        </p:txBody>
      </p:sp>
      <p:sp>
        <p:nvSpPr>
          <p:cNvPr id="23" name="Elipse 22">
            <a:extLst xmlns:a="http://schemas.openxmlformats.org/drawingml/2006/main">
              <a:ext uri="{FF2B5EF4-FFF2-40B4-BE49-F238E27FC236}">
                <a16:creationId xmlns:a16="http://schemas.microsoft.com/office/drawing/2014/main" id="{0DDB3353-A638-4647-97A4-DC91B535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52664AEE-9D16-4B3D-BEF8-BCBCF700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F0D9C7DA-12AA-463E-929B-EC7B2F40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76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293B"/>
                </a:solidFill>
              </a:defRPr>
            </a:pPr>
            <a:r>
              <a:rPr sz="1200" b="1">
                <a:solidFill>
                  <a:srgbClr val="1E293B"/>
                </a:solidFill>
              </a:rPr>
              <a:t>Sprint 2
Métricas y sponsors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7679A09D-A42E-4585-A454-5EFE474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5DF96A11-C279-4D25-A043-83758C4D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AED1A58C-21A3-4974-9421-3AAF68D9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293B"/>
                </a:solidFill>
              </a:defRPr>
            </a:pPr>
            <a:r>
              <a:rPr sz="1200" b="1">
                <a:solidFill>
                  <a:srgbClr val="1E293B"/>
                </a:solidFill>
              </a:rPr>
              <a:t>Sprint 3
Operación y usuarios</a:t>
            </a:r>
          </a:p>
        </p:txBody>
      </p:sp>
      <p:sp>
        <p:nvSpPr>
          <p:cNvPr id="29" name="Elipse 28">
            <a:extLst xmlns:a="http://schemas.openxmlformats.org/drawingml/2006/main">
              <a:ext uri="{FF2B5EF4-FFF2-40B4-BE49-F238E27FC236}">
                <a16:creationId xmlns:a16="http://schemas.microsoft.com/office/drawing/2014/main" id="{91AB7973-88D1-4486-9953-B58701AB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7BF3FBAF-08D5-421F-8687-8A98ABBA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873A1B44-E1F9-4543-AACD-4A50DE2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76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293B"/>
                </a:solidFill>
              </a:defRPr>
            </a:pPr>
            <a:r>
              <a:rPr sz="1200" b="1">
                <a:solidFill>
                  <a:srgbClr val="1E293B"/>
                </a:solidFill>
              </a:rPr>
              <a:t>Sprint 4
Soporte y preguntas</a:t>
            </a:r>
          </a:p>
        </p:txBody>
      </p:sp>
      <p:sp>
        <p:nvSpPr>
          <p:cNvPr id="32" name="Elipse 31">
            <a:extLst xmlns:a="http://schemas.openxmlformats.org/drawingml/2006/main">
              <a:ext uri="{FF2B5EF4-FFF2-40B4-BE49-F238E27FC236}">
                <a16:creationId xmlns:a16="http://schemas.microsoft.com/office/drawing/2014/main" id="{EC2B148C-F673-40DB-8EE7-E16EC663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C8C2153D-E0B3-4940-9484-D992526B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D99F5D6B-B750-4B1F-8504-B74C3CE1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293B"/>
                </a:solidFill>
              </a:defRPr>
            </a:pPr>
            <a:r>
              <a:rPr sz="1200" b="1">
                <a:solidFill>
                  <a:srgbClr val="1E293B"/>
                </a:solidFill>
              </a:rPr>
              <a:t>Sprint 5
Planes e integración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EC03292-4CA3-4AF3-BCF3-32B62422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Seguimiento semanal de avance, riesgos y calidad. Detalle en la Carta Gantt.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325A2135-68D5-42B2-B695-EAB947C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E1F2E20-BBCA-4242-8C87-99481EA1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CAPSTONE 2026 · Ingeniería en Informática · Plaza Oeste</a:t>
            </a:r>
          </a:p>
        </p:txBody>
      </p:sp>
    </p:spTree>
    <p:extLst>
      <p:ext uri="{BB962C8B-B14F-4D97-AF65-F5344CB8AC3E}">
        <p14:creationId xmlns:p14="http://schemas.microsoft.com/office/powerpoint/2010/main" val="5899747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D286AAB0-0BA9-44F9-9E4D-150ADAE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8B74D0A-A67D-4C27-AD97-6A950461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178C9FF-AB5D-4DE7-A30F-31899E99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A365D"/>
                </a:solidFill>
              </a:defRPr>
            </a:pPr>
            <a:r>
              <a:rPr sz="975" b="1">
                <a:solidFill>
                  <a:srgbClr val="1A365D"/>
                </a:solidFill>
              </a:rPr>
              <a:t>EVIDENCIAS DE FASE 1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D5E04FF-C056-4AEF-AE57-03385754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8ED420D-D68F-4DC7-AE53-6AE0E716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Entregables de Fase 1 y resultado esperado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5968A4D-66FD-4528-BE36-8D49069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En Fase 1 presentamos la definición y la planificación. La implementación vendrá después.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A4429167-DBD6-4B1D-BCD1-9AE55E2B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572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FAD5362-E59A-4418-B35B-9E400985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FASE 1</a:t>
            </a:r>
          </a:p>
        </p:txBody>
      </p:sp>
      <p:sp>
        <p:nvSpPr>
          <p:cNvPr id="9" name="Elipse 8">
            <a:extLst xmlns:a="http://schemas.openxmlformats.org/drawingml/2006/main">
              <a:ext uri="{FF2B5EF4-FFF2-40B4-BE49-F238E27FC236}">
                <a16:creationId xmlns:a16="http://schemas.microsoft.com/office/drawing/2014/main" id="{387881A5-874A-4337-BB76-5ACCFF8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00B04E23-B5B7-4396-8632-78363F16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Informe 1.4 y guía del estudiante 1.5</a:t>
            </a:r>
          </a:p>
        </p:txBody>
      </p:sp>
      <p:sp>
        <p:nvSpPr>
          <p:cNvPr id="11" name="Elipse 10">
            <a:extLst xmlns:a="http://schemas.openxmlformats.org/drawingml/2006/main">
              <a:ext uri="{FF2B5EF4-FFF2-40B4-BE49-F238E27FC236}">
                <a16:creationId xmlns:a16="http://schemas.microsoft.com/office/drawing/2014/main" id="{B190298F-DBDB-4790-9C22-66EABA0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AF9133D-E369-45D1-8F00-68C9168B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Requisitos y backlog</a:t>
            </a:r>
          </a:p>
        </p:txBody>
      </p:sp>
      <p:sp>
        <p:nvSpPr>
          <p:cNvPr id="13" name="Elipse 12">
            <a:extLst xmlns:a="http://schemas.openxmlformats.org/drawingml/2006/main">
              <a:ext uri="{FF2B5EF4-FFF2-40B4-BE49-F238E27FC236}">
                <a16:creationId xmlns:a16="http://schemas.microsoft.com/office/drawing/2014/main" id="{C64B54CF-B7D4-4249-8212-F3335692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299EC549-BC90-41F4-9162-218EFCE8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Arquitectura propuesta</a:t>
            </a:r>
          </a:p>
        </p:txBody>
      </p:sp>
      <p:sp>
        <p:nvSpPr>
          <p:cNvPr id="15" name="Elipse 14">
            <a:extLst xmlns:a="http://schemas.openxmlformats.org/drawingml/2006/main">
              <a:ext uri="{FF2B5EF4-FFF2-40B4-BE49-F238E27FC236}">
                <a16:creationId xmlns:a16="http://schemas.microsoft.com/office/drawing/2014/main" id="{D199E1F8-8EA1-4D49-888C-EB6E6C92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608F1D8-E1D9-4F4C-B4B9-7C323B5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57675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Carta Gantt y responsables</a:t>
            </a:r>
          </a:p>
        </p:txBody>
      </p:sp>
      <p:sp>
        <p:nvSpPr>
          <p:cNvPr id="17" name="Elipse 16">
            <a:extLst xmlns:a="http://schemas.openxmlformats.org/drawingml/2006/main">
              <a:ext uri="{FF2B5EF4-FFF2-40B4-BE49-F238E27FC236}">
                <a16:creationId xmlns:a16="http://schemas.microsoft.com/office/drawing/2014/main" id="{1CC4F2B6-F19C-4487-80F8-FD38580C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0D77959D-8752-4B03-89E3-60037029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Plan de pruebas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FB61FBEB-8145-4CBC-B164-C11BD179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A70F552-4690-4AEF-9E06-EE6F9C67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53025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93B"/>
                </a:solidFill>
              </a:defRPr>
            </a:pPr>
            <a:r>
              <a:rPr sz="1275" b="0">
                <a:solidFill>
                  <a:srgbClr val="1E293B"/>
                </a:solidFill>
              </a:rPr>
              <a:t>Documentos individuales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C504E097-17CA-4378-B197-D995A50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37528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9525">
            <a:solidFill>
              <a:srgbClr val="1A365D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952A81C9-B768-4FD5-83DC-A737C84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B041"/>
                </a:solidFill>
              </a:defRPr>
            </a:pPr>
            <a:r>
              <a:rPr sz="1350" b="1">
                <a:solidFill>
                  <a:srgbClr val="F5B041"/>
                </a:solidFill>
              </a:rPr>
              <a:t>RESULTADO FINAL ESPERADO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5C8739D-B88A-4203-A9F7-F418ECC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API administrativa funcionando</a:t>
            </a:r>
          </a:p>
        </p:txBody>
      </p:sp>
      <p:sp>
        <p:nvSpPr>
          <p:cNvPr id="24" name="Elipse 23">
            <a:extLst xmlns:a="http://schemas.openxmlformats.org/drawingml/2006/main">
              <a:ext uri="{FF2B5EF4-FFF2-40B4-BE49-F238E27FC236}">
                <a16:creationId xmlns:a16="http://schemas.microsoft.com/office/drawing/2014/main" id="{DE457D50-AD76-4F11-B36D-0749859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3A73D639-3C10-485C-B63B-55D7A66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Pruebas automatizadas y manuales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5FDE31C9-F188-4A19-A9E4-BA26A75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6128064-3C5E-4ED5-9854-F03A5C4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Entornos de prueba y producción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F9559510-4404-4816-B0F9-3803B50B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F881ACD4-8D7F-43CB-8AD1-40DB5EA6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Demostración de solicitudes y defensa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2AA95C61-0971-4CD9-886B-49B0E4F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56433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FC77864-9417-44F2-BA1D-87BA83C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0C66C19-62FF-4DEC-BA1A-269568E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5B041"/>
                </a:solidFill>
              </a:defRPr>
            </a:pPr>
            <a:r>
              <a:rPr sz="975" b="1">
                <a:solidFill>
                  <a:srgbClr val="F5B041"/>
                </a:solidFill>
              </a:rPr>
              <a:t>CONCLUSIÓN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A06F640-3037-4042-A2DC-5280F28D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EEF5"/>
                </a:solidFill>
              </a:defRPr>
            </a:pPr>
            <a:r>
              <a:rPr sz="975" b="1">
                <a:solidFill>
                  <a:srgbClr val="E8EEF5"/>
                </a:solidFill>
              </a:rPr>
              <a:t>11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F27E0FA-5AED-4074-A6DF-77017826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733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Backend de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Aprueba Administración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18304D2-B624-415C-A2A3-932BAFFF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8EEF5"/>
                </a:solidFill>
              </a:defRPr>
            </a:pPr>
            <a:r>
              <a:rPr sz="1650" b="0">
                <a:solidFill>
                  <a:srgbClr val="E8EEF5"/>
                </a:solidFill>
              </a:rPr>
              <a:t>La Fase 1 define qué desarrollaremos y cómo organizaremos el trabajo.
El siguiente paso será recibir los insumos vigentes e iniciar la implementación.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3500561C-A634-43F2-B80F-8C23CD43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7429500" cy="58093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B041"/>
          </a:solidFill>
          <a:ln xmlns:a="http://schemas.openxmlformats.org/drawingml/2006/main" w="9525">
            <a:solidFill>
              <a:srgbClr val="F5B041"/>
            </a:solidFill>
            <a:prstDash val="solid"/>
          </a:ln>
        </p:spPr>
      </p:sp>
      <p:pic>
        <p:nvPicPr>
          <p:cNvPr id="19" name="Imagen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303adad2f4281"/>
          <a:stretch xmlns:a="http://schemas.openxmlformats.org/drawingml/2006/main"/>
        </p:blipFill>
        <p:spPr>
          <a:xfrm xmlns:a="http://schemas.openxmlformats.org/drawingml/2006/main">
            <a:off x="8724900" y="1799318"/>
            <a:ext cx="2381250" cy="15829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2026-09-06T19:09:31.5470000Z</dcterms:created>
  <dcterms:modified xsi:type="dcterms:W3CDTF">2026-09-06T19:09:31.5470000Z</dcterms:modified>
</coreProperties>
</file>