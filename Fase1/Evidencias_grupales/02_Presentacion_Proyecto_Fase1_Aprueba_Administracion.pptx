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8" r:id="rId12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7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Responsable: Catalina · 0:00–0:30</a:t>
            </a:r>
          </a:p>
          <a:p>
            <a:r>
              <a:t>Presentar el proyecto, al equipo y el propósito de Fase 1: validar una definición realizable.</a:t>
            </a:r>
          </a:p>
          <a:p>
            <a:endParaRPr/>
          </a:p>
          <a:p>
            <a:r>
              <a:t>[Sources]</a:t>
            </a:r>
          </a:p>
          <a:p>
            <a:r>
              <a:t>- 03_Informe_Sumativo_Definicion_Proyecto_APT.docx</a:t>
            </a:r>
          </a:p>
          <a:p>
            <a:r>
              <a:t>- 1.5_GuiaEstudiante_Fase 1_Definicion Proyecto APT.docx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Responsable: Catalina · 0:30–1:30</a:t>
            </a:r>
          </a:p>
          <a:p>
            <a:r>
              <a:t>Explicar por qué una consola central es relevante para una plataforma digital: reduce fragmentación, errores y pérdida de trazabilidad. Beneficia a gerencia, finanzas, operaciones y soporte.</a:t>
            </a:r>
          </a:p>
          <a:p>
            <a:endParaRPr/>
          </a:p>
          <a:p>
            <a:r>
              <a:t>[Sources]</a:t>
            </a:r>
          </a:p>
          <a:p>
            <a:r>
              <a:t>- 02_1.5_GuiaEstudiante_Fase1_Aprueba_Administracion.docx</a:t>
            </a:r>
          </a:p>
          <a:p>
            <a:r>
              <a:t>- PLANILLA DE EVALUACIÓN FASE 1.xlsx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Responsable: Catalina · 1:30–2:30</a:t>
            </a:r>
          </a:p>
          <a:p>
            <a:r>
              <a:t>Delimitar el MVP a Aprueba Administración y recorrer los ocho dominios. Aclarar que Machine Learning y otros productos quedan fuera del alcance actual.</a:t>
            </a:r>
          </a:p>
          <a:p>
            <a:endParaRPr/>
          </a:p>
          <a:p>
            <a:r>
              <a:t>[Sources]</a:t>
            </a:r>
          </a:p>
          <a:p>
            <a:r>
              <a:t>- 03_Informe_Sumativo_Definicion_Proyecto_APT.docx</a:t>
            </a:r>
          </a:p>
          <a:p>
            <a:r>
              <a:t>- 03_Requisitos_Historias_y_Trazabilidad.xlsx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Responsable: Catalina · 2:30–4:00</a:t>
            </a:r>
          </a:p>
          <a:p>
            <a:r>
              <a:t>Relacionar intereses y responsabilidades personales. La distribución es inicial y puede ajustarse por sprint, pero los aportes deben quedar trazables.</a:t>
            </a:r>
          </a:p>
          <a:p>
            <a:endParaRPr/>
          </a:p>
          <a:p>
            <a:r>
              <a:t>[Sources]</a:t>
            </a:r>
          </a:p>
          <a:p>
            <a:r>
              <a:t>- 03_Informe_Sumativo_Definicion_Proyecto_APT.docx</a:t>
            </a:r>
          </a:p>
          <a:p>
            <a:r>
              <a:t>- 04_Guion_y_Distribucion_Presentacion_Fase1.docx</a:t>
            </a:r>
          </a:p>
          <a:p>
            <a:r>
              <a:t>- PLANILLA DE EVALUACIÓN FASE 1.xlsx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Responsable: Catalina · 4:00–5:00</a:t>
            </a:r>
          </a:p>
          <a:p>
            <a:r>
              <a:t>Explicar cómo pruebas, gestión, datos y desarrollo de software se evidencian mediante artefactos verificables.</a:t>
            </a:r>
          </a:p>
          <a:p>
            <a:endParaRPr/>
          </a:p>
          <a:p>
            <a:r>
              <a:t>[Sources]</a:t>
            </a:r>
          </a:p>
          <a:p>
            <a:r>
              <a:t>- 1.4_APT122_FormativaFase1.docx</a:t>
            </a:r>
          </a:p>
          <a:p>
            <a:r>
              <a:t>- Descripción del perfil de egreso de Ingeniería en Informática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Responsable: Tsung-Hao · 5:00–6:00</a:t>
            </a:r>
          </a:p>
          <a:p>
            <a:r>
              <a:t>Leer el objetivo general y explicar los cuatro frentes específicos: definir, modelar, planificar/implementar y validar.</a:t>
            </a:r>
          </a:p>
          <a:p>
            <a:endParaRPr/>
          </a:p>
          <a:p>
            <a:r>
              <a:t>[Sources]</a:t>
            </a:r>
          </a:p>
          <a:p>
            <a:r>
              <a:t>- 02_1.5_GuiaEstudiante_Fase1_Aprueba_Administracion.docx</a:t>
            </a:r>
          </a:p>
          <a:p>
            <a:r>
              <a:t>- PLANILLA DE EVALUACIÓN FASE 1.xlsx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Responsable: Felipe · 6:00–7:15</a:t>
            </a:r>
          </a:p>
          <a:p>
            <a:r>
              <a:t>Presentar la arquitectura propuesta. Diferenciar lo reconocible en la base de código de aquello que aún requiere integración y pruebas.</a:t>
            </a:r>
          </a:p>
          <a:p>
            <a:endParaRPr/>
          </a:p>
          <a:p>
            <a:r>
              <a:t>[Sources]</a:t>
            </a:r>
          </a:p>
          <a:p>
            <a:r>
              <a:t>- 01_Dossier_Ingenieria_Software_Fase1.docx</a:t>
            </a:r>
          </a:p>
          <a:p>
            <a:r>
              <a:t>- 02_Informe_Auditoria_Codigo_y_Documentacion.docx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Responsable: Tsung-Hao · 7:15–8:30</a:t>
            </a:r>
          </a:p>
          <a:p>
            <a:r>
              <a:t>Argumentar la factibilidad con las cuatro dimensiones de la rúbrica: tiempo, recursos, facilitadores y dificultades con respuesta.</a:t>
            </a:r>
          </a:p>
          <a:p>
            <a:endParaRPr/>
          </a:p>
          <a:p>
            <a:r>
              <a:t>[Sources]</a:t>
            </a:r>
          </a:p>
          <a:p>
            <a:r>
              <a:t>- 02_1.5_GuiaEstudiante_Fase1_Aprueba_Administracion.docx</a:t>
            </a:r>
          </a:p>
          <a:p>
            <a:r>
              <a:t>- PLANILLA DE EVALUACIÓN FASE 1.xlsx</a:t>
            </a:r>
          </a:p>
          <a:p>
            <a:r>
              <a:t>- 02_Informe_Auditoria_Codigo_y_Documentacion.docx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Responsable: Tsung-Hao · 8:30–10:00</a:t>
            </a:r>
          </a:p>
          <a:p>
            <a:r>
              <a:t>Explicar que esta es la planificación del proyecto, no el calendario de entregas de la asignatura. Scrum gestiona el trabajo; la Gantt muestra duración, solapamientos, dependencias e hitos. Calidad, riesgos y control de cambios son transversales.</a:t>
            </a:r>
          </a:p>
          <a:p>
            <a:endParaRPr/>
          </a:p>
          <a:p>
            <a:r>
              <a:t>[Sources]</a:t>
            </a:r>
          </a:p>
          <a:p>
            <a:r>
              <a:t>- 03_Carta_Gantt_Profesional_Aprueba_Administracion_CON_FECHAS.xlsx</a:t>
            </a:r>
          </a:p>
          <a:p>
            <a:r>
              <a:t>- 01_Dossier_Gestion_Agil_Fase1.docx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Responsable: Felipe · 11:00–12:00</a:t>
            </a:r>
          </a:p>
          <a:p>
            <a:r>
              <a:t>Explicar qué evidencias se proponen y por qué demuestran avance o resultado. Aclarar que deben ser validadas por el docente antes de tratarlas como acordadas.</a:t>
            </a:r>
          </a:p>
          <a:p>
            <a:endParaRPr/>
          </a:p>
          <a:p>
            <a:r>
              <a:t>[Sources]</a:t>
            </a:r>
          </a:p>
          <a:p>
            <a:r>
              <a:t>- 02_1.5_GuiaEstudiante_Fase1_Aprueba_Administracion.docx</a:t>
            </a:r>
          </a:p>
          <a:p>
            <a:r>
              <a:t>- PLANILLA DE EVALUACIÓN FASE 1.xlsx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Responsable: Equipo · 13:00–15:00</a:t>
            </a:r>
          </a:p>
          <a:p>
            <a:r>
              <a:t>Cerrar con la decisión solicitada: validar alcance y evidencias, registrar ajustes y habilitar el inicio del Sprint 1. Reservar el tiempo restante para preguntas.</a:t>
            </a:r>
          </a:p>
          <a:p>
            <a:endParaRPr/>
          </a:p>
          <a:p>
            <a:r>
              <a:t>[Sources]</a:t>
            </a:r>
          </a:p>
          <a:p>
            <a:r>
              <a:t>- 1.4_APT122_FormativaFase1.docx</a:t>
            </a:r>
          </a:p>
          <a:p>
            <a:r>
              <a:t>- PLANILLA DE EVALUACIÓN FASE 1.xlsx</a:t>
            </a:r>
          </a:p>
          <a:p>
            <a:r>
              <a:t>- 04_Guion_y_Distribucion_Presentacion_Fase1.docx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ángulo 11">
            <a:extLst>
              <a:ext uri="{FF2B5EF4-FFF2-40B4-BE49-F238E27FC236}">
                <a16:creationId xmlns:a16="http://schemas.microsoft.com/office/drawing/2014/main" id="{3FE69466-5037-4A5F-8B05-75D1FB1A1D9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7031E469-C75C-4B8F-890E-C92FB58EBF3A}"/>
              </a:ext>
            </a:extLst>
          </p:cNvPr>
          <p:cNvSpPr>
            <a:spLocks noGrp="1"/>
          </p:cNvSpPr>
          <p:nvPr/>
        </p:nvSpPr>
        <p:spPr>
          <a:xfrm>
            <a:off x="628650" y="266700"/>
            <a:ext cx="4572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F5B041"/>
                </a:solidFill>
              </a:defRPr>
            </a:pPr>
            <a:r>
              <a:rPr sz="975" b="1">
                <a:solidFill>
                  <a:srgbClr val="F5B041"/>
                </a:solidFill>
              </a:rPr>
              <a:t>DEFINICIÓN DE PROYECTO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86BD4352-BF45-43B8-A4A6-C87B8EFF0CAC}"/>
              </a:ext>
            </a:extLst>
          </p:cNvPr>
          <p:cNvSpPr>
            <a:spLocks noGrp="1"/>
          </p:cNvSpPr>
          <p:nvPr/>
        </p:nvSpPr>
        <p:spPr>
          <a:xfrm>
            <a:off x="11277600" y="26670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975" b="1">
                <a:solidFill>
                  <a:srgbClr val="E8EEF5"/>
                </a:solidFill>
              </a:defRPr>
            </a:pPr>
            <a:r>
              <a:rPr sz="975" b="1">
                <a:solidFill>
                  <a:srgbClr val="E8EEF5"/>
                </a:solidFill>
              </a:rPr>
              <a:t>01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B3A617F2-08C0-4098-B44B-1139BE06CD0F}"/>
              </a:ext>
            </a:extLst>
          </p:cNvPr>
          <p:cNvSpPr>
            <a:spLocks noGrp="1"/>
          </p:cNvSpPr>
          <p:nvPr/>
        </p:nvSpPr>
        <p:spPr>
          <a:xfrm>
            <a:off x="628650" y="1581150"/>
            <a:ext cx="914400" cy="76200"/>
          </a:xfrm>
          <a:prstGeom prst="rect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2223D3D5-127E-4016-AB67-A0214ECBBC15}"/>
              </a:ext>
            </a:extLst>
          </p:cNvPr>
          <p:cNvSpPr>
            <a:spLocks noGrp="1"/>
          </p:cNvSpPr>
          <p:nvPr/>
        </p:nvSpPr>
        <p:spPr>
          <a:xfrm>
            <a:off x="628650" y="1847850"/>
            <a:ext cx="6667500" cy="1619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4350" b="1">
                <a:solidFill>
                  <a:srgbClr val="FFFFFF"/>
                </a:solidFill>
              </a:defRPr>
            </a:pPr>
            <a:r>
              <a:rPr sz="4350" b="1">
                <a:solidFill>
                  <a:srgbClr val="FFFFFF"/>
                </a:solidFill>
              </a:rPr>
              <a:t>Aprueba</a:t>
            </a:r>
          </a:p>
          <a:p>
            <a:pPr algn="l">
              <a:buNone/>
              <a:defRPr sz="4350" b="1">
                <a:solidFill>
                  <a:srgbClr val="FFFFFF"/>
                </a:solidFill>
              </a:defRPr>
            </a:pPr>
            <a:r>
              <a:rPr sz="4350" b="1">
                <a:solidFill>
                  <a:srgbClr val="FFFFFF"/>
                </a:solidFill>
              </a:rPr>
              <a:t>Administración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E880F36C-2FC1-4C96-8461-65128EE4F66C}"/>
              </a:ext>
            </a:extLst>
          </p:cNvPr>
          <p:cNvSpPr>
            <a:spLocks noGrp="1"/>
          </p:cNvSpPr>
          <p:nvPr/>
        </p:nvSpPr>
        <p:spPr>
          <a:xfrm>
            <a:off x="657225" y="3600450"/>
            <a:ext cx="65722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725" b="0">
                <a:solidFill>
                  <a:srgbClr val="E8EEF5"/>
                </a:solidFill>
              </a:defRPr>
            </a:pPr>
            <a:r>
              <a:rPr sz="1725" b="0">
                <a:solidFill>
                  <a:srgbClr val="E8EEF5"/>
                </a:solidFill>
              </a:rPr>
              <a:t>Fase 1 · Alcance, factibilidad y planificación ágil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E84938FD-F873-4EF9-8837-E7FFE9C3E82B}"/>
              </a:ext>
            </a:extLst>
          </p:cNvPr>
          <p:cNvSpPr>
            <a:spLocks noGrp="1"/>
          </p:cNvSpPr>
          <p:nvPr/>
        </p:nvSpPr>
        <p:spPr>
          <a:xfrm>
            <a:off x="657225" y="4514850"/>
            <a:ext cx="8382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Tsung-Hao Liu  ·  Catalina Yanara Padilla Astudillo  ·  Felipe Antonio Rojas Riffo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D622C41F-0E37-48B9-AFAC-83F3C34D52DF}"/>
              </a:ext>
            </a:extLst>
          </p:cNvPr>
          <p:cNvSpPr>
            <a:spLocks noGrp="1"/>
          </p:cNvSpPr>
          <p:nvPr/>
        </p:nvSpPr>
        <p:spPr>
          <a:xfrm>
            <a:off x="657225" y="5048250"/>
            <a:ext cx="171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1">
                <a:solidFill>
                  <a:srgbClr val="F5B041"/>
                </a:solidFill>
              </a:defRPr>
            </a:pPr>
            <a:r>
              <a:rPr sz="1275" b="1">
                <a:solidFill>
                  <a:srgbClr val="F5B041"/>
                </a:solidFill>
              </a:rPr>
              <a:t>2026</a:t>
            </a:r>
          </a:p>
        </p:txBody>
      </p:sp>
      <p:pic>
        <p:nvPicPr>
          <p:cNvPr id="22" name="Imagen 2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572500" y="2113643"/>
            <a:ext cx="2381250" cy="1582964"/>
          </a:xfrm>
          <a:prstGeom prst="rect">
            <a:avLst/>
          </a:prstGeom>
        </p:spPr>
      </p:pic>
      <p:sp>
        <p:nvSpPr>
          <p:cNvPr id="10" name="Rectángulo 9">
            <a:extLst>
              <a:ext uri="{FF2B5EF4-FFF2-40B4-BE49-F238E27FC236}">
                <a16:creationId xmlns:a16="http://schemas.microsoft.com/office/drawing/2014/main" id="{A7E3D014-6CB7-4D8B-A886-8D1ED3F973FD}"/>
              </a:ext>
            </a:extLst>
          </p:cNvPr>
          <p:cNvSpPr>
            <a:spLocks noGrp="1"/>
          </p:cNvSpPr>
          <p:nvPr/>
        </p:nvSpPr>
        <p:spPr>
          <a:xfrm>
            <a:off x="8791575" y="4305300"/>
            <a:ext cx="1905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900" b="1">
                <a:solidFill>
                  <a:srgbClr val="F5B041"/>
                </a:solidFill>
              </a:defRPr>
            </a:pPr>
            <a:r>
              <a:rPr sz="900" b="1">
                <a:solidFill>
                  <a:srgbClr val="F5B041"/>
                </a:solidFill>
              </a:rPr>
              <a:t>Decisión solicitada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D59B9ACA-0A36-437C-AAF9-08F56719756E}"/>
              </a:ext>
            </a:extLst>
          </p:cNvPr>
          <p:cNvSpPr>
            <a:spLocks noGrp="1"/>
          </p:cNvSpPr>
          <p:nvPr/>
        </p:nvSpPr>
        <p:spPr>
          <a:xfrm>
            <a:off x="8286750" y="4610100"/>
            <a:ext cx="2952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Aprobar la definición</a:t>
            </a:r>
          </a:p>
          <a:p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y habilitar la ejecución</a:t>
            </a:r>
          </a:p>
        </p:txBody>
      </p:sp>
    </p:spTree>
    <p:extLst>
      <p:ext uri="{BB962C8B-B14F-4D97-AF65-F5344CB8AC3E}">
        <p14:creationId xmlns:p14="http://schemas.microsoft.com/office/powerpoint/2010/main" val="10821413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ángulo 28">
            <a:extLst>
              <a:ext uri="{FF2B5EF4-FFF2-40B4-BE49-F238E27FC236}">
                <a16:creationId xmlns:a16="http://schemas.microsoft.com/office/drawing/2014/main" id="{9DBAAC22-EED6-4F1C-8EE4-406AA89AA4D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FA3CC0D0-CA8C-4450-AFFB-1AE78A9DFA5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5725"/>
          </a:xfrm>
          <a:prstGeom prst="rect">
            <a:avLst/>
          </a:prstGeom>
          <a:solidFill>
            <a:srgbClr val="1A365D"/>
          </a:solidFill>
          <a:ln w="0">
            <a:noFill/>
            <a:prstDash val="solid"/>
          </a:ln>
        </p:spPr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EF88BDD9-FB6E-4A02-B2E1-8B7B1B22DBBB}"/>
              </a:ext>
            </a:extLst>
          </p:cNvPr>
          <p:cNvSpPr>
            <a:spLocks noGrp="1"/>
          </p:cNvSpPr>
          <p:nvPr/>
        </p:nvSpPr>
        <p:spPr>
          <a:xfrm>
            <a:off x="628650" y="266700"/>
            <a:ext cx="4572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1A365D"/>
                </a:solidFill>
              </a:defRPr>
            </a:pPr>
            <a:r>
              <a:rPr sz="975" b="1">
                <a:solidFill>
                  <a:srgbClr val="1A365D"/>
                </a:solidFill>
              </a:rPr>
              <a:t>PROBLEMA Y OPORTUNIDAD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D3C6A3C0-2834-4A1A-91A6-623BDC4484BF}"/>
              </a:ext>
            </a:extLst>
          </p:cNvPr>
          <p:cNvSpPr>
            <a:spLocks noGrp="1"/>
          </p:cNvSpPr>
          <p:nvPr/>
        </p:nvSpPr>
        <p:spPr>
          <a:xfrm>
            <a:off x="11277600" y="26670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975" b="1">
                <a:solidFill>
                  <a:srgbClr val="64748B"/>
                </a:solidFill>
              </a:defRPr>
            </a:pPr>
            <a:r>
              <a:rPr sz="975" b="1">
                <a:solidFill>
                  <a:srgbClr val="64748B"/>
                </a:solidFill>
              </a:rPr>
              <a:t>02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B05A9ED6-9259-488B-A03C-2D05DFD95597}"/>
              </a:ext>
            </a:extLst>
          </p:cNvPr>
          <p:cNvSpPr>
            <a:spLocks noGrp="1"/>
          </p:cNvSpPr>
          <p:nvPr/>
        </p:nvSpPr>
        <p:spPr>
          <a:xfrm>
            <a:off x="628650" y="685800"/>
            <a:ext cx="106680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850" b="1">
                <a:solidFill>
                  <a:srgbClr val="1A365D"/>
                </a:solidFill>
              </a:defRPr>
            </a:pPr>
            <a:r>
              <a:rPr sz="2850" b="1">
                <a:solidFill>
                  <a:srgbClr val="1A365D"/>
                </a:solidFill>
              </a:rPr>
              <a:t>Administrar una plataforma freemium exige control operacional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38FB65AD-656D-4A75-9793-775F0AB7A2F5}"/>
              </a:ext>
            </a:extLst>
          </p:cNvPr>
          <p:cNvSpPr>
            <a:spLocks noGrp="1"/>
          </p:cNvSpPr>
          <p:nvPr/>
        </p:nvSpPr>
        <p:spPr>
          <a:xfrm>
            <a:off x="647700" y="1381125"/>
            <a:ext cx="10096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64748B"/>
                </a:solidFill>
              </a:defRPr>
            </a:pPr>
            <a:r>
              <a:rPr sz="1275" b="0">
                <a:solidFill>
                  <a:srgbClr val="64748B"/>
                </a:solidFill>
              </a:rPr>
              <a:t>Es un problema de ingeniería: centralizar operaciones, permisos y datos reduce errores y mejora la trazabilidad.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8B51C95A-FBDD-45C9-A04A-E15F82484F83}"/>
              </a:ext>
            </a:extLst>
          </p:cNvPr>
          <p:cNvSpPr>
            <a:spLocks noGrp="1"/>
          </p:cNvSpPr>
          <p:nvPr/>
        </p:nvSpPr>
        <p:spPr>
          <a:xfrm>
            <a:off x="628650" y="2038350"/>
            <a:ext cx="6762750" cy="3695700"/>
          </a:xfrm>
          <a:prstGeom prst="roundRect">
            <a:avLst>
              <a:gd name="adj" fmla="val 3093"/>
            </a:avLst>
          </a:prstGeom>
          <a:solidFill>
            <a:srgbClr val="1A365D"/>
          </a:solidFill>
          <a:ln w="9525">
            <a:solidFill>
              <a:srgbClr val="1A365D"/>
            </a:solidFill>
            <a:prstDash val="solid"/>
          </a:ln>
        </p:spPr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909CC5BF-50DF-40CB-A25B-F8B67C30E7F9}"/>
              </a:ext>
            </a:extLst>
          </p:cNvPr>
          <p:cNvSpPr>
            <a:spLocks noGrp="1"/>
          </p:cNvSpPr>
          <p:nvPr/>
        </p:nvSpPr>
        <p:spPr>
          <a:xfrm>
            <a:off x="990600" y="2324100"/>
            <a:ext cx="5429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75" b="1">
                <a:solidFill>
                  <a:srgbClr val="F5B041"/>
                </a:solidFill>
              </a:defRPr>
            </a:pPr>
            <a:r>
              <a:rPr sz="1875" b="1">
                <a:solidFill>
                  <a:srgbClr val="F5B041"/>
                </a:solidFill>
              </a:rPr>
              <a:t>Sin una consola integrada</a:t>
            </a:r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39CE28DB-4712-4303-B955-A6B5466BFF70}"/>
              </a:ext>
            </a:extLst>
          </p:cNvPr>
          <p:cNvSpPr>
            <a:spLocks noGrp="1"/>
          </p:cNvSpPr>
          <p:nvPr/>
        </p:nvSpPr>
        <p:spPr>
          <a:xfrm>
            <a:off x="990600" y="306705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2B3B8574-AFAE-45C3-96BC-DAE60E79B1EA}"/>
              </a:ext>
            </a:extLst>
          </p:cNvPr>
          <p:cNvSpPr>
            <a:spLocks noGrp="1"/>
          </p:cNvSpPr>
          <p:nvPr/>
        </p:nvSpPr>
        <p:spPr>
          <a:xfrm>
            <a:off x="1200150" y="2971800"/>
            <a:ext cx="56007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Las decisiones comerciales y operativas quedan fragmentadas.</a:t>
            </a:r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EE062A93-DC5A-4259-AD25-456E0784B2E8}"/>
              </a:ext>
            </a:extLst>
          </p:cNvPr>
          <p:cNvSpPr>
            <a:spLocks noGrp="1"/>
          </p:cNvSpPr>
          <p:nvPr/>
        </p:nvSpPr>
        <p:spPr>
          <a:xfrm>
            <a:off x="990600" y="369570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6D6C0217-1B82-48F9-9FCF-539E9A013B19}"/>
              </a:ext>
            </a:extLst>
          </p:cNvPr>
          <p:cNvSpPr>
            <a:spLocks noGrp="1"/>
          </p:cNvSpPr>
          <p:nvPr/>
        </p:nvSpPr>
        <p:spPr>
          <a:xfrm>
            <a:off x="1200150" y="3600450"/>
            <a:ext cx="56007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El soporte y la gestión de usuarios pierden trazabilidad.</a:t>
            </a:r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E4BBFFFB-6BBF-423D-8B7E-5D9BEEB329BB}"/>
              </a:ext>
            </a:extLst>
          </p:cNvPr>
          <p:cNvSpPr>
            <a:spLocks noGrp="1"/>
          </p:cNvSpPr>
          <p:nvPr/>
        </p:nvSpPr>
        <p:spPr>
          <a:xfrm>
            <a:off x="990600" y="432435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B2C64D53-39CB-4815-8CFD-07D134C1AD8D}"/>
              </a:ext>
            </a:extLst>
          </p:cNvPr>
          <p:cNvSpPr>
            <a:spLocks noGrp="1"/>
          </p:cNvSpPr>
          <p:nvPr/>
        </p:nvSpPr>
        <p:spPr>
          <a:xfrm>
            <a:off x="1200150" y="4229100"/>
            <a:ext cx="56007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Los cambios de contenido y planes aumentan el riesgo de error.</a:t>
            </a:r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id="{A6208B99-BFD2-440E-A0FE-199FCCC93DDE}"/>
              </a:ext>
            </a:extLst>
          </p:cNvPr>
          <p:cNvSpPr>
            <a:spLocks noGrp="1"/>
          </p:cNvSpPr>
          <p:nvPr/>
        </p:nvSpPr>
        <p:spPr>
          <a:xfrm>
            <a:off x="990600" y="495300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4667BC72-79D3-4F71-82DE-23A74EA8F694}"/>
              </a:ext>
            </a:extLst>
          </p:cNvPr>
          <p:cNvSpPr>
            <a:spLocks noGrp="1"/>
          </p:cNvSpPr>
          <p:nvPr/>
        </p:nvSpPr>
        <p:spPr>
          <a:xfrm>
            <a:off x="1200150" y="4857750"/>
            <a:ext cx="56007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La administración requiere permisos, auditoría y controles seguros.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48DDAEB5-8F95-4F2D-9619-8E47BC946899}"/>
              </a:ext>
            </a:extLst>
          </p:cNvPr>
          <p:cNvSpPr>
            <a:spLocks noGrp="1"/>
          </p:cNvSpPr>
          <p:nvPr/>
        </p:nvSpPr>
        <p:spPr>
          <a:xfrm>
            <a:off x="7848600" y="2286000"/>
            <a:ext cx="3143250" cy="106680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E8EEF5"/>
            </a:solidFill>
            <a:prstDash val="solid"/>
          </a:ln>
        </p:spPr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67AE9980-4D34-4AE2-A6E8-34AA5CD70E12}"/>
              </a:ext>
            </a:extLst>
          </p:cNvPr>
          <p:cNvSpPr>
            <a:spLocks noGrp="1"/>
          </p:cNvSpPr>
          <p:nvPr/>
        </p:nvSpPr>
        <p:spPr>
          <a:xfrm>
            <a:off x="7848600" y="2286000"/>
            <a:ext cx="76200" cy="1066800"/>
          </a:xfrm>
          <a:prstGeom prst="rect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C464D169-A655-45BC-A170-E01F98228DB9}"/>
              </a:ext>
            </a:extLst>
          </p:cNvPr>
          <p:cNvSpPr>
            <a:spLocks noGrp="1"/>
          </p:cNvSpPr>
          <p:nvPr/>
        </p:nvSpPr>
        <p:spPr>
          <a:xfrm>
            <a:off x="8086725" y="2419350"/>
            <a:ext cx="2781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400" b="1">
                <a:solidFill>
                  <a:srgbClr val="1A365D"/>
                </a:solidFill>
              </a:defRPr>
            </a:pPr>
            <a:r>
              <a:rPr sz="2400" b="1">
                <a:solidFill>
                  <a:srgbClr val="1A365D"/>
                </a:solidFill>
              </a:rPr>
              <a:t>8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42E7B2F9-EED3-430D-973F-8B1176AC6196}"/>
              </a:ext>
            </a:extLst>
          </p:cNvPr>
          <p:cNvSpPr>
            <a:spLocks noGrp="1"/>
          </p:cNvSpPr>
          <p:nvPr/>
        </p:nvSpPr>
        <p:spPr>
          <a:xfrm>
            <a:off x="8086725" y="2876550"/>
            <a:ext cx="2781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64748B"/>
                </a:solidFill>
              </a:defRPr>
            </a:pPr>
            <a:r>
              <a:rPr sz="1050" b="0">
                <a:solidFill>
                  <a:srgbClr val="64748B"/>
                </a:solidFill>
              </a:rPr>
              <a:t>vistas administrativas definidas</a:t>
            </a: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4060F8D6-0BF0-4904-AC9F-A926AAE7149E}"/>
              </a:ext>
            </a:extLst>
          </p:cNvPr>
          <p:cNvSpPr>
            <a:spLocks noGrp="1"/>
          </p:cNvSpPr>
          <p:nvPr/>
        </p:nvSpPr>
        <p:spPr>
          <a:xfrm>
            <a:off x="7848600" y="3676650"/>
            <a:ext cx="3143250" cy="106680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E8EEF5"/>
            </a:solidFill>
            <a:prstDash val="solid"/>
          </a:ln>
        </p:spPr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C8960EE4-A364-4811-8746-BADE3C102845}"/>
              </a:ext>
            </a:extLst>
          </p:cNvPr>
          <p:cNvSpPr>
            <a:spLocks noGrp="1"/>
          </p:cNvSpPr>
          <p:nvPr/>
        </p:nvSpPr>
        <p:spPr>
          <a:xfrm>
            <a:off x="7848600" y="3676650"/>
            <a:ext cx="76200" cy="1066800"/>
          </a:xfrm>
          <a:prstGeom prst="rect">
            <a:avLst/>
          </a:prstGeom>
          <a:solidFill>
            <a:srgbClr val="10B981"/>
          </a:solidFill>
          <a:ln w="0">
            <a:noFill/>
            <a:prstDash val="solid"/>
          </a:ln>
        </p:spPr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3C8580EE-43ED-4C4E-88DF-E6A654D28AB3}"/>
              </a:ext>
            </a:extLst>
          </p:cNvPr>
          <p:cNvSpPr>
            <a:spLocks noGrp="1"/>
          </p:cNvSpPr>
          <p:nvPr/>
        </p:nvSpPr>
        <p:spPr>
          <a:xfrm>
            <a:off x="8086725" y="3810000"/>
            <a:ext cx="2781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400" b="1">
                <a:solidFill>
                  <a:srgbClr val="1A365D"/>
                </a:solidFill>
              </a:defRPr>
            </a:pPr>
            <a:r>
              <a:rPr sz="2400" b="1">
                <a:solidFill>
                  <a:srgbClr val="1A365D"/>
                </a:solidFill>
              </a:rPr>
              <a:t>4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6E353E0A-A7AD-46EF-8390-CFF14B229543}"/>
              </a:ext>
            </a:extLst>
          </p:cNvPr>
          <p:cNvSpPr>
            <a:spLocks noGrp="1"/>
          </p:cNvSpPr>
          <p:nvPr/>
        </p:nvSpPr>
        <p:spPr>
          <a:xfrm>
            <a:off x="8086725" y="4267200"/>
            <a:ext cx="2781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64748B"/>
                </a:solidFill>
              </a:defRPr>
            </a:pPr>
            <a:r>
              <a:rPr sz="1050" b="0">
                <a:solidFill>
                  <a:srgbClr val="64748B"/>
                </a:solidFill>
              </a:rPr>
              <a:t>áreas usuarias beneficiadas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C2656A43-7D79-4D5D-9323-B19EB02AF0C8}"/>
              </a:ext>
            </a:extLst>
          </p:cNvPr>
          <p:cNvSpPr>
            <a:spLocks noGrp="1"/>
          </p:cNvSpPr>
          <p:nvPr/>
        </p:nvSpPr>
        <p:spPr>
          <a:xfrm>
            <a:off x="7848600" y="5067300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1">
                <a:solidFill>
                  <a:srgbClr val="1A365D"/>
                </a:solidFill>
              </a:defRPr>
            </a:pPr>
            <a:r>
              <a:rPr sz="1050" b="1">
                <a:solidFill>
                  <a:srgbClr val="1A365D"/>
                </a:solidFill>
              </a:rPr>
              <a:t>Oportunidad</a:t>
            </a:r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19389312-7AAE-4093-89BE-3F51C35F2CF2}"/>
              </a:ext>
            </a:extLst>
          </p:cNvPr>
          <p:cNvSpPr>
            <a:spLocks noGrp="1"/>
          </p:cNvSpPr>
          <p:nvPr/>
        </p:nvSpPr>
        <p:spPr>
          <a:xfrm>
            <a:off x="7848600" y="5353050"/>
            <a:ext cx="3143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425" b="1">
                <a:solidFill>
                  <a:srgbClr val="1E293B"/>
                </a:solidFill>
              </a:defRPr>
            </a:pPr>
            <a:r>
              <a:rPr sz="1425" b="1">
                <a:solidFill>
                  <a:srgbClr val="1E293B"/>
                </a:solidFill>
              </a:rPr>
              <a:t>Aporte: decisiones verificables y menor riesgo operativo.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4F5CA8D6-0C11-4A84-8E3D-D346BC299353}"/>
              </a:ext>
            </a:extLst>
          </p:cNvPr>
          <p:cNvSpPr>
            <a:spLocks noGrp="1"/>
          </p:cNvSpPr>
          <p:nvPr/>
        </p:nvSpPr>
        <p:spPr>
          <a:xfrm>
            <a:off x="628650" y="6438900"/>
            <a:ext cx="10858500" cy="9525"/>
          </a:xfrm>
          <a:prstGeom prst="rect">
            <a:avLst/>
          </a:prstGeom>
          <a:solidFill>
            <a:srgbClr val="E8EEF5"/>
          </a:solidFill>
          <a:ln w="0">
            <a:noFill/>
            <a:prstDash val="solid"/>
          </a:ln>
        </p:spPr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4E8B60B1-E31F-4DBB-86AA-3DA585337ECD}"/>
              </a:ext>
            </a:extLst>
          </p:cNvPr>
          <p:cNvSpPr>
            <a:spLocks noGrp="1"/>
          </p:cNvSpPr>
          <p:nvPr/>
        </p:nvSpPr>
        <p:spPr>
          <a:xfrm>
            <a:off x="628650" y="6515100"/>
            <a:ext cx="895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CAPSTONE 2026 · Ingeniería en Informática · Plaza Oeste</a:t>
            </a:r>
          </a:p>
        </p:txBody>
      </p:sp>
    </p:spTree>
    <p:extLst>
      <p:ext uri="{BB962C8B-B14F-4D97-AF65-F5344CB8AC3E}">
        <p14:creationId xmlns:p14="http://schemas.microsoft.com/office/powerpoint/2010/main" val="11819908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ángulo 40">
            <a:extLst>
              <a:ext uri="{FF2B5EF4-FFF2-40B4-BE49-F238E27FC236}">
                <a16:creationId xmlns:a16="http://schemas.microsoft.com/office/drawing/2014/main" id="{6FA4A935-D449-4FDB-A026-540A5004873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45A02D03-A378-4DFA-A323-1C29F3ECCCA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5725"/>
          </a:xfrm>
          <a:prstGeom prst="rect">
            <a:avLst/>
          </a:prstGeom>
          <a:solidFill>
            <a:srgbClr val="1A365D"/>
          </a:solidFill>
          <a:ln w="0">
            <a:noFill/>
            <a:prstDash val="solid"/>
          </a:ln>
        </p:spPr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F648FB90-1685-4BB2-96E5-CE4EA713965D}"/>
              </a:ext>
            </a:extLst>
          </p:cNvPr>
          <p:cNvSpPr>
            <a:spLocks noGrp="1"/>
          </p:cNvSpPr>
          <p:nvPr/>
        </p:nvSpPr>
        <p:spPr>
          <a:xfrm>
            <a:off x="628650" y="266700"/>
            <a:ext cx="4572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1A365D"/>
                </a:solidFill>
              </a:defRPr>
            </a:pPr>
            <a:r>
              <a:rPr sz="975" b="1">
                <a:solidFill>
                  <a:srgbClr val="1A365D"/>
                </a:solidFill>
              </a:rPr>
              <a:t>SOLUCIÓN PROPUESTA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C8826C80-BD7C-4F71-B68C-9CE111E34A3A}"/>
              </a:ext>
            </a:extLst>
          </p:cNvPr>
          <p:cNvSpPr>
            <a:spLocks noGrp="1"/>
          </p:cNvSpPr>
          <p:nvPr/>
        </p:nvSpPr>
        <p:spPr>
          <a:xfrm>
            <a:off x="11277600" y="26670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975" b="1">
                <a:solidFill>
                  <a:srgbClr val="64748B"/>
                </a:solidFill>
              </a:defRPr>
            </a:pPr>
            <a:r>
              <a:rPr sz="975" b="1">
                <a:solidFill>
                  <a:srgbClr val="64748B"/>
                </a:solidFill>
              </a:rPr>
              <a:t>03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64BF3E41-A589-420B-BAA0-D1892BDB59FE}"/>
              </a:ext>
            </a:extLst>
          </p:cNvPr>
          <p:cNvSpPr>
            <a:spLocks noGrp="1"/>
          </p:cNvSpPr>
          <p:nvPr/>
        </p:nvSpPr>
        <p:spPr>
          <a:xfrm>
            <a:off x="628650" y="685800"/>
            <a:ext cx="106680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850" b="1">
                <a:solidFill>
                  <a:srgbClr val="1A365D"/>
                </a:solidFill>
              </a:defRPr>
            </a:pPr>
            <a:r>
              <a:rPr sz="2850" b="1">
                <a:solidFill>
                  <a:srgbClr val="1A365D"/>
                </a:solidFill>
              </a:rPr>
              <a:t>Un MVP administrativo organizado en ocho dominios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0E011947-BEDB-400A-8F8F-69AB73AE1C90}"/>
              </a:ext>
            </a:extLst>
          </p:cNvPr>
          <p:cNvSpPr>
            <a:spLocks noGrp="1"/>
          </p:cNvSpPr>
          <p:nvPr/>
        </p:nvSpPr>
        <p:spPr>
          <a:xfrm>
            <a:off x="647700" y="1381125"/>
            <a:ext cx="10096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64748B"/>
                </a:solidFill>
              </a:defRPr>
            </a:pPr>
            <a:r>
              <a:rPr sz="1275" b="0">
                <a:solidFill>
                  <a:srgbClr val="64748B"/>
                </a:solidFill>
              </a:rPr>
              <a:t>El alcance se mantiene exclusivamente en Aprueba Administración.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721AB3AE-4123-4B50-9ECE-E9A00A1C757D}"/>
              </a:ext>
            </a:extLst>
          </p:cNvPr>
          <p:cNvSpPr>
            <a:spLocks noGrp="1"/>
          </p:cNvSpPr>
          <p:nvPr/>
        </p:nvSpPr>
        <p:spPr>
          <a:xfrm>
            <a:off x="628650" y="2076450"/>
            <a:ext cx="2400300" cy="135255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9525">
            <a:solidFill>
              <a:srgbClr val="E8EEF5"/>
            </a:solidFill>
            <a:prstDash val="solid"/>
          </a:ln>
        </p:spPr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F5B85B26-EDE1-4800-AD46-CA5616420189}"/>
              </a:ext>
            </a:extLst>
          </p:cNvPr>
          <p:cNvSpPr>
            <a:spLocks noGrp="1"/>
          </p:cNvSpPr>
          <p:nvPr/>
        </p:nvSpPr>
        <p:spPr>
          <a:xfrm>
            <a:off x="800100" y="2228850"/>
            <a:ext cx="438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F5B041"/>
                </a:solidFill>
              </a:defRPr>
            </a:pPr>
            <a:r>
              <a:rPr sz="1200" b="1">
                <a:solidFill>
                  <a:srgbClr val="F5B041"/>
                </a:solidFill>
              </a:rPr>
              <a:t>01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C2C9AD03-7286-4D03-8671-0FCE903EAD2A}"/>
              </a:ext>
            </a:extLst>
          </p:cNvPr>
          <p:cNvSpPr>
            <a:spLocks noGrp="1"/>
          </p:cNvSpPr>
          <p:nvPr/>
        </p:nvSpPr>
        <p:spPr>
          <a:xfrm>
            <a:off x="800100" y="2533650"/>
            <a:ext cx="20193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1">
                <a:solidFill>
                  <a:srgbClr val="1A365D"/>
                </a:solidFill>
              </a:defRPr>
            </a:pPr>
            <a:r>
              <a:rPr sz="1500" b="1">
                <a:solidFill>
                  <a:srgbClr val="1A365D"/>
                </a:solidFill>
              </a:rPr>
              <a:t>Resumen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23DCC8D0-0068-426F-9982-4B9B051AA722}"/>
              </a:ext>
            </a:extLst>
          </p:cNvPr>
          <p:cNvSpPr>
            <a:spLocks noGrp="1"/>
          </p:cNvSpPr>
          <p:nvPr/>
        </p:nvSpPr>
        <p:spPr>
          <a:xfrm>
            <a:off x="800100" y="2971800"/>
            <a:ext cx="2019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64748B"/>
                </a:solidFill>
              </a:defRPr>
            </a:pPr>
            <a:r>
              <a:rPr sz="1050" b="0">
                <a:solidFill>
                  <a:srgbClr val="64748B"/>
                </a:solidFill>
              </a:rPr>
              <a:t>Indicadores y estado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508DF432-B4A0-43CE-BE4A-41B5B42B39BF}"/>
              </a:ext>
            </a:extLst>
          </p:cNvPr>
          <p:cNvSpPr>
            <a:spLocks noGrp="1"/>
          </p:cNvSpPr>
          <p:nvPr/>
        </p:nvSpPr>
        <p:spPr>
          <a:xfrm>
            <a:off x="3352800" y="2076450"/>
            <a:ext cx="2400300" cy="135255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9525">
            <a:solidFill>
              <a:srgbClr val="E8EEF5"/>
            </a:solidFill>
            <a:prstDash val="solid"/>
          </a:ln>
        </p:spPr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47128AAF-8B67-4B46-B4AF-31B627DDB60E}"/>
              </a:ext>
            </a:extLst>
          </p:cNvPr>
          <p:cNvSpPr>
            <a:spLocks noGrp="1"/>
          </p:cNvSpPr>
          <p:nvPr/>
        </p:nvSpPr>
        <p:spPr>
          <a:xfrm>
            <a:off x="3524250" y="2228850"/>
            <a:ext cx="438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F5B041"/>
                </a:solidFill>
              </a:defRPr>
            </a:pPr>
            <a:r>
              <a:rPr sz="1200" b="1">
                <a:solidFill>
                  <a:srgbClr val="F5B041"/>
                </a:solidFill>
              </a:rPr>
              <a:t>02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3B6F750D-CB27-4786-B41F-9992F68F8E4E}"/>
              </a:ext>
            </a:extLst>
          </p:cNvPr>
          <p:cNvSpPr>
            <a:spLocks noGrp="1"/>
          </p:cNvSpPr>
          <p:nvPr/>
        </p:nvSpPr>
        <p:spPr>
          <a:xfrm>
            <a:off x="3524250" y="2533650"/>
            <a:ext cx="20193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1">
                <a:solidFill>
                  <a:srgbClr val="1A365D"/>
                </a:solidFill>
              </a:defRPr>
            </a:pPr>
            <a:r>
              <a:rPr sz="1500" b="1">
                <a:solidFill>
                  <a:srgbClr val="1A365D"/>
                </a:solidFill>
              </a:rPr>
              <a:t>Comercial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147C6405-B401-45D8-9743-318D0A0901E4}"/>
              </a:ext>
            </a:extLst>
          </p:cNvPr>
          <p:cNvSpPr>
            <a:spLocks noGrp="1"/>
          </p:cNvSpPr>
          <p:nvPr/>
        </p:nvSpPr>
        <p:spPr>
          <a:xfrm>
            <a:off x="3524250" y="2971800"/>
            <a:ext cx="2019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64748B"/>
                </a:solidFill>
              </a:defRPr>
            </a:pPr>
            <a:r>
              <a:rPr sz="1050" b="0">
                <a:solidFill>
                  <a:srgbClr val="64748B"/>
                </a:solidFill>
              </a:rPr>
              <a:t>Conversión e ingresos</a:t>
            </a:r>
          </a:p>
        </p:txBody>
      </p: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69AFE203-A219-406C-BF08-0CE5DB7A5102}"/>
              </a:ext>
            </a:extLst>
          </p:cNvPr>
          <p:cNvSpPr>
            <a:spLocks noGrp="1"/>
          </p:cNvSpPr>
          <p:nvPr/>
        </p:nvSpPr>
        <p:spPr>
          <a:xfrm>
            <a:off x="6076950" y="2076450"/>
            <a:ext cx="2400300" cy="135255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9525">
            <a:solidFill>
              <a:srgbClr val="E8EEF5"/>
            </a:solidFill>
            <a:prstDash val="solid"/>
          </a:ln>
        </p:spPr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116CB166-735C-44C4-96F1-20A199CEA763}"/>
              </a:ext>
            </a:extLst>
          </p:cNvPr>
          <p:cNvSpPr>
            <a:spLocks noGrp="1"/>
          </p:cNvSpPr>
          <p:nvPr/>
        </p:nvSpPr>
        <p:spPr>
          <a:xfrm>
            <a:off x="6248400" y="2228850"/>
            <a:ext cx="438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F5B041"/>
                </a:solidFill>
              </a:defRPr>
            </a:pPr>
            <a:r>
              <a:rPr sz="1200" b="1">
                <a:solidFill>
                  <a:srgbClr val="F5B041"/>
                </a:solidFill>
              </a:rPr>
              <a:t>03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85FBD002-5C5B-42BF-814A-CA1759872F14}"/>
              </a:ext>
            </a:extLst>
          </p:cNvPr>
          <p:cNvSpPr>
            <a:spLocks noGrp="1"/>
          </p:cNvSpPr>
          <p:nvPr/>
        </p:nvSpPr>
        <p:spPr>
          <a:xfrm>
            <a:off x="6248400" y="2533650"/>
            <a:ext cx="20193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1">
                <a:solidFill>
                  <a:srgbClr val="1A365D"/>
                </a:solidFill>
              </a:defRPr>
            </a:pPr>
            <a:r>
              <a:rPr sz="1500" b="1">
                <a:solidFill>
                  <a:srgbClr val="1A365D"/>
                </a:solidFill>
              </a:rPr>
              <a:t>Sponsors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5A6AF31E-719F-4DFC-8BAF-3197EE940D8D}"/>
              </a:ext>
            </a:extLst>
          </p:cNvPr>
          <p:cNvSpPr>
            <a:spLocks noGrp="1"/>
          </p:cNvSpPr>
          <p:nvPr/>
        </p:nvSpPr>
        <p:spPr>
          <a:xfrm>
            <a:off x="6248400" y="2971800"/>
            <a:ext cx="2019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64748B"/>
                </a:solidFill>
              </a:defRPr>
            </a:pPr>
            <a:r>
              <a:rPr sz="1050" b="0">
                <a:solidFill>
                  <a:srgbClr val="64748B"/>
                </a:solidFill>
              </a:rPr>
              <a:t>Alianzas y campañas</a:t>
            </a:r>
          </a:p>
        </p:txBody>
      </p:sp>
      <p:sp>
        <p:nvSpPr>
          <p:cNvPr id="19" name="Rectángulo: esquinas redondeadas 18">
            <a:extLst>
              <a:ext uri="{FF2B5EF4-FFF2-40B4-BE49-F238E27FC236}">
                <a16:creationId xmlns:a16="http://schemas.microsoft.com/office/drawing/2014/main" id="{2673B461-4E03-4F60-9D8E-372B8080E9BB}"/>
              </a:ext>
            </a:extLst>
          </p:cNvPr>
          <p:cNvSpPr>
            <a:spLocks noGrp="1"/>
          </p:cNvSpPr>
          <p:nvPr/>
        </p:nvSpPr>
        <p:spPr>
          <a:xfrm>
            <a:off x="8801100" y="2076450"/>
            <a:ext cx="2400300" cy="135255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9525">
            <a:solidFill>
              <a:srgbClr val="E8EEF5"/>
            </a:solidFill>
            <a:prstDash val="solid"/>
          </a:ln>
        </p:spPr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3C455640-B082-4A43-9C23-D8C2266483C9}"/>
              </a:ext>
            </a:extLst>
          </p:cNvPr>
          <p:cNvSpPr>
            <a:spLocks noGrp="1"/>
          </p:cNvSpPr>
          <p:nvPr/>
        </p:nvSpPr>
        <p:spPr>
          <a:xfrm>
            <a:off x="8972550" y="2228850"/>
            <a:ext cx="438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F5B041"/>
                </a:solidFill>
              </a:defRPr>
            </a:pPr>
            <a:r>
              <a:rPr sz="1200" b="1">
                <a:solidFill>
                  <a:srgbClr val="F5B041"/>
                </a:solidFill>
              </a:rPr>
              <a:t>04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22B494D7-ED67-467F-87EB-481C458779A9}"/>
              </a:ext>
            </a:extLst>
          </p:cNvPr>
          <p:cNvSpPr>
            <a:spLocks noGrp="1"/>
          </p:cNvSpPr>
          <p:nvPr/>
        </p:nvSpPr>
        <p:spPr>
          <a:xfrm>
            <a:off x="8972550" y="2533650"/>
            <a:ext cx="20193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1">
                <a:solidFill>
                  <a:srgbClr val="1A365D"/>
                </a:solidFill>
              </a:defRPr>
            </a:pPr>
            <a:r>
              <a:rPr sz="1500" b="1">
                <a:solidFill>
                  <a:srgbClr val="1A365D"/>
                </a:solidFill>
              </a:rPr>
              <a:t>Operativa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D192DCC9-1C33-4EAC-9372-9D8057A9B991}"/>
              </a:ext>
            </a:extLst>
          </p:cNvPr>
          <p:cNvSpPr>
            <a:spLocks noGrp="1"/>
          </p:cNvSpPr>
          <p:nvPr/>
        </p:nvSpPr>
        <p:spPr>
          <a:xfrm>
            <a:off x="8972550" y="2971800"/>
            <a:ext cx="2019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64748B"/>
                </a:solidFill>
              </a:defRPr>
            </a:pPr>
            <a:r>
              <a:rPr sz="1050" b="0">
                <a:solidFill>
                  <a:srgbClr val="64748B"/>
                </a:solidFill>
              </a:rPr>
              <a:t>Estado del servicio</a:t>
            </a:r>
          </a:p>
        </p:txBody>
      </p:sp>
      <p:sp>
        <p:nvSpPr>
          <p:cNvPr id="23" name="Rectángulo: esquinas redondeadas 22">
            <a:extLst>
              <a:ext uri="{FF2B5EF4-FFF2-40B4-BE49-F238E27FC236}">
                <a16:creationId xmlns:a16="http://schemas.microsoft.com/office/drawing/2014/main" id="{F97FD7E2-1678-4B15-9037-907ABE7AF365}"/>
              </a:ext>
            </a:extLst>
          </p:cNvPr>
          <p:cNvSpPr>
            <a:spLocks noGrp="1"/>
          </p:cNvSpPr>
          <p:nvPr/>
        </p:nvSpPr>
        <p:spPr>
          <a:xfrm>
            <a:off x="628650" y="3733800"/>
            <a:ext cx="2400300" cy="135255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9525">
            <a:solidFill>
              <a:srgbClr val="E8EEF5"/>
            </a:solidFill>
            <a:prstDash val="solid"/>
          </a:ln>
        </p:spPr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5347B021-5800-48E5-B090-6BBFF16FCCC8}"/>
              </a:ext>
            </a:extLst>
          </p:cNvPr>
          <p:cNvSpPr>
            <a:spLocks noGrp="1"/>
          </p:cNvSpPr>
          <p:nvPr/>
        </p:nvSpPr>
        <p:spPr>
          <a:xfrm>
            <a:off x="800100" y="3886200"/>
            <a:ext cx="438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F5B041"/>
                </a:solidFill>
              </a:defRPr>
            </a:pPr>
            <a:r>
              <a:rPr sz="1200" b="1">
                <a:solidFill>
                  <a:srgbClr val="F5B041"/>
                </a:solidFill>
              </a:rPr>
              <a:t>05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4491036B-BF00-4AF5-9EFC-0702C274C560}"/>
              </a:ext>
            </a:extLst>
          </p:cNvPr>
          <p:cNvSpPr>
            <a:spLocks noGrp="1"/>
          </p:cNvSpPr>
          <p:nvPr/>
        </p:nvSpPr>
        <p:spPr>
          <a:xfrm>
            <a:off x="800100" y="4191000"/>
            <a:ext cx="20193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1">
                <a:solidFill>
                  <a:srgbClr val="1A365D"/>
                </a:solidFill>
              </a:defRPr>
            </a:pPr>
            <a:r>
              <a:rPr sz="1500" b="1">
                <a:solidFill>
                  <a:srgbClr val="1A365D"/>
                </a:solidFill>
              </a:rPr>
              <a:t>Usuarios y soporte</a:t>
            </a:r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9ECD2F89-0EDA-495C-B44D-DEB2F8ED896B}"/>
              </a:ext>
            </a:extLst>
          </p:cNvPr>
          <p:cNvSpPr>
            <a:spLocks noGrp="1"/>
          </p:cNvSpPr>
          <p:nvPr/>
        </p:nvSpPr>
        <p:spPr>
          <a:xfrm>
            <a:off x="800100" y="4629150"/>
            <a:ext cx="2019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64748B"/>
                </a:solidFill>
              </a:defRPr>
            </a:pPr>
            <a:r>
              <a:rPr sz="1050" b="0">
                <a:solidFill>
                  <a:srgbClr val="64748B"/>
                </a:solidFill>
              </a:rPr>
              <a:t>Cuentas e incidencias</a:t>
            </a:r>
          </a:p>
        </p:txBody>
      </p:sp>
      <p:sp>
        <p:nvSpPr>
          <p:cNvPr id="27" name="Rectángulo: esquinas redondeadas 26">
            <a:extLst>
              <a:ext uri="{FF2B5EF4-FFF2-40B4-BE49-F238E27FC236}">
                <a16:creationId xmlns:a16="http://schemas.microsoft.com/office/drawing/2014/main" id="{EDEED007-D483-4FEE-8A8D-4273EBB03416}"/>
              </a:ext>
            </a:extLst>
          </p:cNvPr>
          <p:cNvSpPr>
            <a:spLocks noGrp="1"/>
          </p:cNvSpPr>
          <p:nvPr/>
        </p:nvSpPr>
        <p:spPr>
          <a:xfrm>
            <a:off x="3352800" y="3733800"/>
            <a:ext cx="2400300" cy="135255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9525">
            <a:solidFill>
              <a:srgbClr val="E8EEF5"/>
            </a:solidFill>
            <a:prstDash val="solid"/>
          </a:ln>
        </p:spPr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ABB43EB7-FA18-47E8-89DE-1E186B9128CB}"/>
              </a:ext>
            </a:extLst>
          </p:cNvPr>
          <p:cNvSpPr>
            <a:spLocks noGrp="1"/>
          </p:cNvSpPr>
          <p:nvPr/>
        </p:nvSpPr>
        <p:spPr>
          <a:xfrm>
            <a:off x="3524250" y="3886200"/>
            <a:ext cx="438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F5B041"/>
                </a:solidFill>
              </a:defRPr>
            </a:pPr>
            <a:r>
              <a:rPr sz="1200" b="1">
                <a:solidFill>
                  <a:srgbClr val="F5B041"/>
                </a:solidFill>
              </a:rPr>
              <a:t>06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37ED6741-71C9-479F-9AD6-A6D00DED8AE4}"/>
              </a:ext>
            </a:extLst>
          </p:cNvPr>
          <p:cNvSpPr>
            <a:spLocks noGrp="1"/>
          </p:cNvSpPr>
          <p:nvPr/>
        </p:nvSpPr>
        <p:spPr>
          <a:xfrm>
            <a:off x="3524250" y="4191000"/>
            <a:ext cx="20193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1">
                <a:solidFill>
                  <a:srgbClr val="1A365D"/>
                </a:solidFill>
              </a:defRPr>
            </a:pPr>
            <a:r>
              <a:rPr sz="1500" b="1">
                <a:solidFill>
                  <a:srgbClr val="1A365D"/>
                </a:solidFill>
              </a:rPr>
              <a:t>Tutores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64DFA804-2605-4090-A782-F71533BD6BE2}"/>
              </a:ext>
            </a:extLst>
          </p:cNvPr>
          <p:cNvSpPr>
            <a:spLocks noGrp="1"/>
          </p:cNvSpPr>
          <p:nvPr/>
        </p:nvSpPr>
        <p:spPr>
          <a:xfrm>
            <a:off x="3524250" y="4629150"/>
            <a:ext cx="2019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64748B"/>
                </a:solidFill>
              </a:defRPr>
            </a:pPr>
            <a:r>
              <a:rPr sz="1050" b="0">
                <a:solidFill>
                  <a:srgbClr val="64748B"/>
                </a:solidFill>
              </a:rPr>
              <a:t>Gestión de colaboradores</a:t>
            </a:r>
          </a:p>
        </p:txBody>
      </p:sp>
      <p:sp>
        <p:nvSpPr>
          <p:cNvPr id="31" name="Rectángulo: esquinas redondeadas 30">
            <a:extLst>
              <a:ext uri="{FF2B5EF4-FFF2-40B4-BE49-F238E27FC236}">
                <a16:creationId xmlns:a16="http://schemas.microsoft.com/office/drawing/2014/main" id="{D189DEEC-03EF-43F0-8BF7-0E8C59AE27C3}"/>
              </a:ext>
            </a:extLst>
          </p:cNvPr>
          <p:cNvSpPr>
            <a:spLocks noGrp="1"/>
          </p:cNvSpPr>
          <p:nvPr/>
        </p:nvSpPr>
        <p:spPr>
          <a:xfrm>
            <a:off x="6076950" y="3733800"/>
            <a:ext cx="2400300" cy="135255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9525">
            <a:solidFill>
              <a:srgbClr val="E8EEF5"/>
            </a:solidFill>
            <a:prstDash val="solid"/>
          </a:ln>
        </p:spPr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3EB7F2B8-8322-40E0-BD82-047B0686004E}"/>
              </a:ext>
            </a:extLst>
          </p:cNvPr>
          <p:cNvSpPr>
            <a:spLocks noGrp="1"/>
          </p:cNvSpPr>
          <p:nvPr/>
        </p:nvSpPr>
        <p:spPr>
          <a:xfrm>
            <a:off x="6248400" y="3886200"/>
            <a:ext cx="438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F5B041"/>
                </a:solidFill>
              </a:defRPr>
            </a:pPr>
            <a:r>
              <a:rPr sz="1200" b="1">
                <a:solidFill>
                  <a:srgbClr val="F5B041"/>
                </a:solidFill>
              </a:rPr>
              <a:t>07</a:t>
            </a:r>
          </a:p>
        </p:txBody>
      </p:sp>
      <p:sp>
        <p:nvSpPr>
          <p:cNvPr id="33" name="Rectángulo 32">
            <a:extLst>
              <a:ext uri="{FF2B5EF4-FFF2-40B4-BE49-F238E27FC236}">
                <a16:creationId xmlns:a16="http://schemas.microsoft.com/office/drawing/2014/main" id="{DDA7C070-C3ED-4856-B07B-201DD1F45F81}"/>
              </a:ext>
            </a:extLst>
          </p:cNvPr>
          <p:cNvSpPr>
            <a:spLocks noGrp="1"/>
          </p:cNvSpPr>
          <p:nvPr/>
        </p:nvSpPr>
        <p:spPr>
          <a:xfrm>
            <a:off x="6248400" y="4191000"/>
            <a:ext cx="20193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1">
                <a:solidFill>
                  <a:srgbClr val="1A365D"/>
                </a:solidFill>
              </a:defRPr>
            </a:pPr>
            <a:r>
              <a:rPr sz="1500" b="1">
                <a:solidFill>
                  <a:srgbClr val="1A365D"/>
                </a:solidFill>
              </a:rPr>
              <a:t>Contenido</a:t>
            </a:r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50905C88-ADC7-4E0A-912F-830B6569FA9B}"/>
              </a:ext>
            </a:extLst>
          </p:cNvPr>
          <p:cNvSpPr>
            <a:spLocks noGrp="1"/>
          </p:cNvSpPr>
          <p:nvPr/>
        </p:nvSpPr>
        <p:spPr>
          <a:xfrm>
            <a:off x="6248400" y="4629150"/>
            <a:ext cx="2019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64748B"/>
                </a:solidFill>
              </a:defRPr>
            </a:pPr>
            <a:r>
              <a:rPr sz="1050" b="0">
                <a:solidFill>
                  <a:srgbClr val="64748B"/>
                </a:solidFill>
              </a:rPr>
              <a:t>Ensayos y material</a:t>
            </a:r>
          </a:p>
        </p:txBody>
      </p:sp>
      <p:sp>
        <p:nvSpPr>
          <p:cNvPr id="35" name="Rectángulo: esquinas redondeadas 34">
            <a:extLst>
              <a:ext uri="{FF2B5EF4-FFF2-40B4-BE49-F238E27FC236}">
                <a16:creationId xmlns:a16="http://schemas.microsoft.com/office/drawing/2014/main" id="{8FFB7306-F9BA-4C51-8ABF-F803B85313E0}"/>
              </a:ext>
            </a:extLst>
          </p:cNvPr>
          <p:cNvSpPr>
            <a:spLocks noGrp="1"/>
          </p:cNvSpPr>
          <p:nvPr/>
        </p:nvSpPr>
        <p:spPr>
          <a:xfrm>
            <a:off x="8801100" y="3733800"/>
            <a:ext cx="2400300" cy="135255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9525">
            <a:solidFill>
              <a:srgbClr val="E8EEF5"/>
            </a:solidFill>
            <a:prstDash val="solid"/>
          </a:ln>
        </p:spPr>
      </p:sp>
      <p:sp>
        <p:nvSpPr>
          <p:cNvPr id="36" name="Rectángulo 35">
            <a:extLst>
              <a:ext uri="{FF2B5EF4-FFF2-40B4-BE49-F238E27FC236}">
                <a16:creationId xmlns:a16="http://schemas.microsoft.com/office/drawing/2014/main" id="{5C2F78F8-610B-49BA-836A-D480D9BC51D1}"/>
              </a:ext>
            </a:extLst>
          </p:cNvPr>
          <p:cNvSpPr>
            <a:spLocks noGrp="1"/>
          </p:cNvSpPr>
          <p:nvPr/>
        </p:nvSpPr>
        <p:spPr>
          <a:xfrm>
            <a:off x="8972550" y="3886200"/>
            <a:ext cx="438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F5B041"/>
                </a:solidFill>
              </a:defRPr>
            </a:pPr>
            <a:r>
              <a:rPr sz="1200" b="1">
                <a:solidFill>
                  <a:srgbClr val="F5B041"/>
                </a:solidFill>
              </a:rPr>
              <a:t>08</a:t>
            </a:r>
          </a:p>
        </p:txBody>
      </p:sp>
      <p:sp>
        <p:nvSpPr>
          <p:cNvPr id="37" name="Rectángulo 36">
            <a:extLst>
              <a:ext uri="{FF2B5EF4-FFF2-40B4-BE49-F238E27FC236}">
                <a16:creationId xmlns:a16="http://schemas.microsoft.com/office/drawing/2014/main" id="{E059E18B-CEBC-491D-B274-7555FBD5304B}"/>
              </a:ext>
            </a:extLst>
          </p:cNvPr>
          <p:cNvSpPr>
            <a:spLocks noGrp="1"/>
          </p:cNvSpPr>
          <p:nvPr/>
        </p:nvSpPr>
        <p:spPr>
          <a:xfrm>
            <a:off x="8972550" y="4191000"/>
            <a:ext cx="20193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1">
                <a:solidFill>
                  <a:srgbClr val="1A365D"/>
                </a:solidFill>
              </a:defRPr>
            </a:pPr>
            <a:r>
              <a:rPr sz="1500" b="1">
                <a:solidFill>
                  <a:srgbClr val="1A365D"/>
                </a:solidFill>
              </a:rPr>
              <a:t>Planes y productos</a:t>
            </a:r>
          </a:p>
        </p:txBody>
      </p:sp>
      <p:sp>
        <p:nvSpPr>
          <p:cNvPr id="38" name="Rectángulo 37">
            <a:extLst>
              <a:ext uri="{FF2B5EF4-FFF2-40B4-BE49-F238E27FC236}">
                <a16:creationId xmlns:a16="http://schemas.microsoft.com/office/drawing/2014/main" id="{31F247C2-6D85-40B2-8408-0A2E08F991C0}"/>
              </a:ext>
            </a:extLst>
          </p:cNvPr>
          <p:cNvSpPr>
            <a:spLocks noGrp="1"/>
          </p:cNvSpPr>
          <p:nvPr/>
        </p:nvSpPr>
        <p:spPr>
          <a:xfrm>
            <a:off x="8972550" y="4629150"/>
            <a:ext cx="2019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64748B"/>
                </a:solidFill>
              </a:defRPr>
            </a:pPr>
            <a:r>
              <a:rPr sz="1050" b="0">
                <a:solidFill>
                  <a:srgbClr val="64748B"/>
                </a:solidFill>
              </a:rPr>
              <a:t>Oferta freemium</a:t>
            </a:r>
          </a:p>
        </p:txBody>
      </p:sp>
      <p:sp>
        <p:nvSpPr>
          <p:cNvPr id="39" name="Rectángulo 38">
            <a:extLst>
              <a:ext uri="{FF2B5EF4-FFF2-40B4-BE49-F238E27FC236}">
                <a16:creationId xmlns:a16="http://schemas.microsoft.com/office/drawing/2014/main" id="{F40C3F46-0018-4BDE-8F95-93655DE069CF}"/>
              </a:ext>
            </a:extLst>
          </p:cNvPr>
          <p:cNvSpPr>
            <a:spLocks noGrp="1"/>
          </p:cNvSpPr>
          <p:nvPr/>
        </p:nvSpPr>
        <p:spPr>
          <a:xfrm>
            <a:off x="628650" y="6438900"/>
            <a:ext cx="10858500" cy="9525"/>
          </a:xfrm>
          <a:prstGeom prst="rect">
            <a:avLst/>
          </a:prstGeom>
          <a:solidFill>
            <a:srgbClr val="E8EEF5"/>
          </a:solidFill>
          <a:ln w="0">
            <a:noFill/>
            <a:prstDash val="solid"/>
          </a:ln>
        </p:spPr>
      </p:sp>
      <p:sp>
        <p:nvSpPr>
          <p:cNvPr id="40" name="Rectángulo 39">
            <a:extLst>
              <a:ext uri="{FF2B5EF4-FFF2-40B4-BE49-F238E27FC236}">
                <a16:creationId xmlns:a16="http://schemas.microsoft.com/office/drawing/2014/main" id="{A438E008-0ED1-430E-A4DE-EB6DF6132104}"/>
              </a:ext>
            </a:extLst>
          </p:cNvPr>
          <p:cNvSpPr>
            <a:spLocks noGrp="1"/>
          </p:cNvSpPr>
          <p:nvPr/>
        </p:nvSpPr>
        <p:spPr>
          <a:xfrm>
            <a:off x="628650" y="6515100"/>
            <a:ext cx="895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CAPSTONE 2026 · Ingeniería en Informática · Plaza Oeste</a:t>
            </a:r>
          </a:p>
        </p:txBody>
      </p:sp>
    </p:spTree>
    <p:extLst>
      <p:ext uri="{BB962C8B-B14F-4D97-AF65-F5344CB8AC3E}">
        <p14:creationId xmlns:p14="http://schemas.microsoft.com/office/powerpoint/2010/main" val="10983555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ángulo 38">
            <a:extLst>
              <a:ext uri="{FF2B5EF4-FFF2-40B4-BE49-F238E27FC236}">
                <a16:creationId xmlns:a16="http://schemas.microsoft.com/office/drawing/2014/main" id="{A84AE0BF-8BDE-4D38-BEA8-FE3B93B6FEA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F0CEE51B-6578-4769-9FBA-8861E8243FB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5725"/>
          </a:xfrm>
          <a:prstGeom prst="rect">
            <a:avLst/>
          </a:prstGeom>
          <a:solidFill>
            <a:srgbClr val="1A365D"/>
          </a:solidFill>
          <a:ln w="0">
            <a:noFill/>
            <a:prstDash val="solid"/>
          </a:ln>
        </p:spPr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3735E24A-4C1F-4FBA-9E65-5014CFB9C27D}"/>
              </a:ext>
            </a:extLst>
          </p:cNvPr>
          <p:cNvSpPr>
            <a:spLocks noGrp="1"/>
          </p:cNvSpPr>
          <p:nvPr/>
        </p:nvSpPr>
        <p:spPr>
          <a:xfrm>
            <a:off x="628650" y="266700"/>
            <a:ext cx="4572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1A365D"/>
                </a:solidFill>
              </a:defRPr>
            </a:pPr>
            <a:r>
              <a:rPr sz="975" b="1">
                <a:solidFill>
                  <a:srgbClr val="1A365D"/>
                </a:solidFill>
              </a:rPr>
              <a:t>EQUIPO Y APORTES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B982FB47-02B6-422F-9142-2FECFC583DCA}"/>
              </a:ext>
            </a:extLst>
          </p:cNvPr>
          <p:cNvSpPr>
            <a:spLocks noGrp="1"/>
          </p:cNvSpPr>
          <p:nvPr/>
        </p:nvSpPr>
        <p:spPr>
          <a:xfrm>
            <a:off x="11277600" y="26670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975" b="1">
                <a:solidFill>
                  <a:srgbClr val="64748B"/>
                </a:solidFill>
              </a:defRPr>
            </a:pPr>
            <a:r>
              <a:rPr sz="975" b="1">
                <a:solidFill>
                  <a:srgbClr val="64748B"/>
                </a:solidFill>
              </a:rPr>
              <a:t>04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D9A6F98B-33F7-43B1-920D-A13BC4B1CFCF}"/>
              </a:ext>
            </a:extLst>
          </p:cNvPr>
          <p:cNvSpPr>
            <a:spLocks noGrp="1"/>
          </p:cNvSpPr>
          <p:nvPr/>
        </p:nvSpPr>
        <p:spPr>
          <a:xfrm>
            <a:off x="628650" y="685800"/>
            <a:ext cx="106680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850" b="1">
                <a:solidFill>
                  <a:srgbClr val="1A365D"/>
                </a:solidFill>
              </a:defRPr>
            </a:pPr>
            <a:r>
              <a:rPr sz="2850" b="1">
                <a:solidFill>
                  <a:srgbClr val="1A365D"/>
                </a:solidFill>
              </a:rPr>
              <a:t>Tres integrantes, roles e intereses profesionales complementarios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11848CF2-5ABE-484C-BB30-330FFA05A377}"/>
              </a:ext>
            </a:extLst>
          </p:cNvPr>
          <p:cNvSpPr>
            <a:spLocks noGrp="1"/>
          </p:cNvSpPr>
          <p:nvPr/>
        </p:nvSpPr>
        <p:spPr>
          <a:xfrm>
            <a:off x="647700" y="1381125"/>
            <a:ext cx="10096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64748B"/>
                </a:solidFill>
              </a:defRPr>
            </a:pPr>
            <a:r>
              <a:rPr sz="1275" b="0">
                <a:solidFill>
                  <a:srgbClr val="64748B"/>
                </a:solidFill>
              </a:rPr>
              <a:t>Cada integrante conecta sus intereses con responsabilidades verificables.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949996EA-1692-43EE-979C-6DCF277CF250}"/>
              </a:ext>
            </a:extLst>
          </p:cNvPr>
          <p:cNvSpPr>
            <a:spLocks noGrp="1"/>
          </p:cNvSpPr>
          <p:nvPr/>
        </p:nvSpPr>
        <p:spPr>
          <a:xfrm>
            <a:off x="628650" y="2190750"/>
            <a:ext cx="3295650" cy="3333750"/>
          </a:xfrm>
          <a:prstGeom prst="roundRect">
            <a:avLst>
              <a:gd name="adj" fmla="val 3468"/>
            </a:avLst>
          </a:prstGeom>
          <a:solidFill>
            <a:srgbClr val="FFFFFF"/>
          </a:solidFill>
          <a:ln w="9525">
            <a:solidFill>
              <a:srgbClr val="E8EEF5"/>
            </a:solidFill>
            <a:prstDash val="solid"/>
          </a:ln>
        </p:spPr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7D6DCD99-932C-4FFD-A866-F02917D986EB}"/>
              </a:ext>
            </a:extLst>
          </p:cNvPr>
          <p:cNvSpPr>
            <a:spLocks noGrp="1"/>
          </p:cNvSpPr>
          <p:nvPr/>
        </p:nvSpPr>
        <p:spPr>
          <a:xfrm>
            <a:off x="628650" y="2190750"/>
            <a:ext cx="3295650" cy="95250"/>
          </a:xfrm>
          <a:prstGeom prst="rect">
            <a:avLst/>
          </a:prstGeom>
          <a:solidFill>
            <a:srgbClr val="DC2626"/>
          </a:solidFill>
          <a:ln w="0">
            <a:noFill/>
            <a:prstDash val="solid"/>
          </a:ln>
        </p:spPr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92E56C67-FF04-4631-A979-B0347D4B6B2D}"/>
              </a:ext>
            </a:extLst>
          </p:cNvPr>
          <p:cNvSpPr>
            <a:spLocks noGrp="1"/>
          </p:cNvSpPr>
          <p:nvPr/>
        </p:nvSpPr>
        <p:spPr>
          <a:xfrm>
            <a:off x="857250" y="2505075"/>
            <a:ext cx="27622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75" b="1">
                <a:solidFill>
                  <a:srgbClr val="1A365D"/>
                </a:solidFill>
              </a:defRPr>
            </a:pPr>
            <a:r>
              <a:rPr sz="1575" b="1">
                <a:solidFill>
                  <a:srgbClr val="1A365D"/>
                </a:solidFill>
              </a:rPr>
              <a:t>TSUNG-HAO LIU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6CAD224B-7CD8-4254-8A6E-56298B6752EB}"/>
              </a:ext>
            </a:extLst>
          </p:cNvPr>
          <p:cNvSpPr>
            <a:spLocks noGrp="1"/>
          </p:cNvSpPr>
          <p:nvPr/>
        </p:nvSpPr>
        <p:spPr>
          <a:xfrm>
            <a:off x="857250" y="2895600"/>
            <a:ext cx="2762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0">
                <a:solidFill>
                  <a:srgbClr val="64748B"/>
                </a:solidFill>
              </a:defRPr>
            </a:pPr>
            <a:r>
              <a:rPr sz="1200" b="0">
                <a:solidFill>
                  <a:srgbClr val="64748B"/>
                </a:solidFill>
              </a:rPr>
              <a:t>Backend · cloud · seguridad</a:t>
            </a:r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B87AD476-4947-4859-997D-C1EEED2C2531}"/>
              </a:ext>
            </a:extLst>
          </p:cNvPr>
          <p:cNvSpPr>
            <a:spLocks noGrp="1"/>
          </p:cNvSpPr>
          <p:nvPr/>
        </p:nvSpPr>
        <p:spPr>
          <a:xfrm>
            <a:off x="857250" y="358140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F73626CA-09BB-4079-AC64-B69872BF7379}"/>
              </a:ext>
            </a:extLst>
          </p:cNvPr>
          <p:cNvSpPr>
            <a:spLocks noGrp="1"/>
          </p:cNvSpPr>
          <p:nvPr/>
        </p:nvSpPr>
        <p:spPr>
          <a:xfrm>
            <a:off x="1066800" y="3486150"/>
            <a:ext cx="2514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1E293B"/>
                </a:solidFill>
              </a:defRPr>
            </a:pPr>
            <a:r>
              <a:rPr sz="1275" b="0">
                <a:solidFill>
                  <a:srgbClr val="1E293B"/>
                </a:solidFill>
              </a:rPr>
              <a:t>API y autenticación</a:t>
            </a:r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95D86036-22CC-498A-AB5F-9F27FDAC6C8B}"/>
              </a:ext>
            </a:extLst>
          </p:cNvPr>
          <p:cNvSpPr>
            <a:spLocks noGrp="1"/>
          </p:cNvSpPr>
          <p:nvPr/>
        </p:nvSpPr>
        <p:spPr>
          <a:xfrm>
            <a:off x="857250" y="413385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0F935733-90B5-4B85-A036-3C9428A40FBE}"/>
              </a:ext>
            </a:extLst>
          </p:cNvPr>
          <p:cNvSpPr>
            <a:spLocks noGrp="1"/>
          </p:cNvSpPr>
          <p:nvPr/>
        </p:nvSpPr>
        <p:spPr>
          <a:xfrm>
            <a:off x="1066800" y="4038600"/>
            <a:ext cx="2514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1E293B"/>
                </a:solidFill>
              </a:defRPr>
            </a:pPr>
            <a:r>
              <a:rPr sz="1275" b="0">
                <a:solidFill>
                  <a:srgbClr val="1E293B"/>
                </a:solidFill>
              </a:rPr>
              <a:t>Integración y despliegue</a:t>
            </a:r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id="{CCAFCEEB-B62B-4218-9CFD-5313DA198FA4}"/>
              </a:ext>
            </a:extLst>
          </p:cNvPr>
          <p:cNvSpPr>
            <a:spLocks noGrp="1"/>
          </p:cNvSpPr>
          <p:nvPr/>
        </p:nvSpPr>
        <p:spPr>
          <a:xfrm>
            <a:off x="857250" y="468630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C2CB4A71-7C8A-4A37-9DB2-28A70EDC2916}"/>
              </a:ext>
            </a:extLst>
          </p:cNvPr>
          <p:cNvSpPr>
            <a:spLocks noGrp="1"/>
          </p:cNvSpPr>
          <p:nvPr/>
        </p:nvSpPr>
        <p:spPr>
          <a:xfrm>
            <a:off x="1066800" y="4591050"/>
            <a:ext cx="2514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1E293B"/>
                </a:solidFill>
              </a:defRPr>
            </a:pPr>
            <a:r>
              <a:rPr sz="1275" b="0">
                <a:solidFill>
                  <a:srgbClr val="1E293B"/>
                </a:solidFill>
              </a:rPr>
              <a:t>Machine learning futuro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3008A983-3151-4C0B-A3A4-0B119E3001C9}"/>
              </a:ext>
            </a:extLst>
          </p:cNvPr>
          <p:cNvSpPr>
            <a:spLocks noGrp="1"/>
          </p:cNvSpPr>
          <p:nvPr/>
        </p:nvSpPr>
        <p:spPr>
          <a:xfrm>
            <a:off x="4267200" y="2190750"/>
            <a:ext cx="3295650" cy="3333750"/>
          </a:xfrm>
          <a:prstGeom prst="roundRect">
            <a:avLst>
              <a:gd name="adj" fmla="val 3468"/>
            </a:avLst>
          </a:prstGeom>
          <a:solidFill>
            <a:srgbClr val="FFFFFF"/>
          </a:solidFill>
          <a:ln w="9525">
            <a:solidFill>
              <a:srgbClr val="E8EEF5"/>
            </a:solidFill>
            <a:prstDash val="solid"/>
          </a:ln>
        </p:spPr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5355C8E0-42D5-4013-ABCC-3A8FAEFDD5E0}"/>
              </a:ext>
            </a:extLst>
          </p:cNvPr>
          <p:cNvSpPr>
            <a:spLocks noGrp="1"/>
          </p:cNvSpPr>
          <p:nvPr/>
        </p:nvSpPr>
        <p:spPr>
          <a:xfrm>
            <a:off x="4267200" y="2190750"/>
            <a:ext cx="3295650" cy="95250"/>
          </a:xfrm>
          <a:prstGeom prst="rect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DE3A9833-E1FF-4F33-B7D4-5001E4FFA073}"/>
              </a:ext>
            </a:extLst>
          </p:cNvPr>
          <p:cNvSpPr>
            <a:spLocks noGrp="1"/>
          </p:cNvSpPr>
          <p:nvPr/>
        </p:nvSpPr>
        <p:spPr>
          <a:xfrm>
            <a:off x="4495800" y="2505075"/>
            <a:ext cx="27622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75" b="1">
                <a:solidFill>
                  <a:srgbClr val="1A365D"/>
                </a:solidFill>
              </a:defRPr>
            </a:pPr>
            <a:r>
              <a:rPr sz="1575" b="1">
                <a:solidFill>
                  <a:srgbClr val="1A365D"/>
                </a:solidFill>
              </a:rPr>
              <a:t>CATALINA PADILLA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2EA87AC0-54EC-4FB2-B300-45B54B067D1E}"/>
              </a:ext>
            </a:extLst>
          </p:cNvPr>
          <p:cNvSpPr>
            <a:spLocks noGrp="1"/>
          </p:cNvSpPr>
          <p:nvPr/>
        </p:nvSpPr>
        <p:spPr>
          <a:xfrm>
            <a:off x="4495800" y="2895600"/>
            <a:ext cx="2762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0">
                <a:solidFill>
                  <a:srgbClr val="64748B"/>
                </a:solidFill>
              </a:defRPr>
            </a:pPr>
            <a:r>
              <a:rPr sz="1200" b="0">
                <a:solidFill>
                  <a:srgbClr val="64748B"/>
                </a:solidFill>
              </a:rPr>
              <a:t>Datos · analítica · producto</a:t>
            </a:r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3F3137A2-A169-43FA-BA83-BAB839ADDDE7}"/>
              </a:ext>
            </a:extLst>
          </p:cNvPr>
          <p:cNvSpPr>
            <a:spLocks noGrp="1"/>
          </p:cNvSpPr>
          <p:nvPr/>
        </p:nvSpPr>
        <p:spPr>
          <a:xfrm>
            <a:off x="4495800" y="358140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1D55EBB0-D1E0-4F06-9910-E1D85C7856DC}"/>
              </a:ext>
            </a:extLst>
          </p:cNvPr>
          <p:cNvSpPr>
            <a:spLocks noGrp="1"/>
          </p:cNvSpPr>
          <p:nvPr/>
        </p:nvSpPr>
        <p:spPr>
          <a:xfrm>
            <a:off x="4705350" y="3486150"/>
            <a:ext cx="2514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1E293B"/>
                </a:solidFill>
              </a:defRPr>
            </a:pPr>
            <a:r>
              <a:rPr sz="1275" b="0">
                <a:solidFill>
                  <a:srgbClr val="1E293B"/>
                </a:solidFill>
              </a:rPr>
              <a:t>Modelo Firestore</a:t>
            </a:r>
          </a:p>
        </p:txBody>
      </p:sp>
      <p:sp>
        <p:nvSpPr>
          <p:cNvPr id="23" name="Elipse 22">
            <a:extLst>
              <a:ext uri="{FF2B5EF4-FFF2-40B4-BE49-F238E27FC236}">
                <a16:creationId xmlns:a16="http://schemas.microsoft.com/office/drawing/2014/main" id="{BD52816B-68A5-4B9A-9FAA-277E46460E1F}"/>
              </a:ext>
            </a:extLst>
          </p:cNvPr>
          <p:cNvSpPr>
            <a:spLocks noGrp="1"/>
          </p:cNvSpPr>
          <p:nvPr/>
        </p:nvSpPr>
        <p:spPr>
          <a:xfrm>
            <a:off x="4495800" y="413385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24959B76-CB52-465D-B23D-88EF54036B56}"/>
              </a:ext>
            </a:extLst>
          </p:cNvPr>
          <p:cNvSpPr>
            <a:spLocks noGrp="1"/>
          </p:cNvSpPr>
          <p:nvPr/>
        </p:nvSpPr>
        <p:spPr>
          <a:xfrm>
            <a:off x="4705350" y="4038600"/>
            <a:ext cx="2514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1E293B"/>
                </a:solidFill>
              </a:defRPr>
            </a:pPr>
            <a:r>
              <a:rPr sz="1275" b="0">
                <a:solidFill>
                  <a:srgbClr val="1E293B"/>
                </a:solidFill>
              </a:rPr>
              <a:t>Indicadores de negocio</a:t>
            </a:r>
          </a:p>
        </p:txBody>
      </p:sp>
      <p:sp>
        <p:nvSpPr>
          <p:cNvPr id="25" name="Elipse 24">
            <a:extLst>
              <a:ext uri="{FF2B5EF4-FFF2-40B4-BE49-F238E27FC236}">
                <a16:creationId xmlns:a16="http://schemas.microsoft.com/office/drawing/2014/main" id="{92BB115D-E751-4BDA-B713-49BD3935491E}"/>
              </a:ext>
            </a:extLst>
          </p:cNvPr>
          <p:cNvSpPr>
            <a:spLocks noGrp="1"/>
          </p:cNvSpPr>
          <p:nvPr/>
        </p:nvSpPr>
        <p:spPr>
          <a:xfrm>
            <a:off x="4495800" y="468630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F0E9D414-1778-481C-9133-35A5E70CD5E7}"/>
              </a:ext>
            </a:extLst>
          </p:cNvPr>
          <p:cNvSpPr>
            <a:spLocks noGrp="1"/>
          </p:cNvSpPr>
          <p:nvPr/>
        </p:nvSpPr>
        <p:spPr>
          <a:xfrm>
            <a:off x="4705350" y="4591050"/>
            <a:ext cx="2514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1E293B"/>
                </a:solidFill>
              </a:defRPr>
            </a:pPr>
            <a:r>
              <a:rPr sz="1275" b="0">
                <a:solidFill>
                  <a:srgbClr val="1E293B"/>
                </a:solidFill>
              </a:rPr>
              <a:t>Machine learning futuro</a:t>
            </a:r>
          </a:p>
        </p:txBody>
      </p:sp>
      <p:sp>
        <p:nvSpPr>
          <p:cNvPr id="27" name="Rectángulo: esquinas redondeadas 26">
            <a:extLst>
              <a:ext uri="{FF2B5EF4-FFF2-40B4-BE49-F238E27FC236}">
                <a16:creationId xmlns:a16="http://schemas.microsoft.com/office/drawing/2014/main" id="{D51722B7-B2D8-4254-84FE-A3E55656857C}"/>
              </a:ext>
            </a:extLst>
          </p:cNvPr>
          <p:cNvSpPr>
            <a:spLocks noGrp="1"/>
          </p:cNvSpPr>
          <p:nvPr/>
        </p:nvSpPr>
        <p:spPr>
          <a:xfrm>
            <a:off x="7905750" y="2190750"/>
            <a:ext cx="3295650" cy="3333750"/>
          </a:xfrm>
          <a:prstGeom prst="roundRect">
            <a:avLst>
              <a:gd name="adj" fmla="val 3468"/>
            </a:avLst>
          </a:prstGeom>
          <a:solidFill>
            <a:srgbClr val="FFFFFF"/>
          </a:solidFill>
          <a:ln w="9525">
            <a:solidFill>
              <a:srgbClr val="E8EEF5"/>
            </a:solidFill>
            <a:prstDash val="solid"/>
          </a:ln>
        </p:spPr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2917C00E-95DD-441C-AD47-372D14A2871B}"/>
              </a:ext>
            </a:extLst>
          </p:cNvPr>
          <p:cNvSpPr>
            <a:spLocks noGrp="1"/>
          </p:cNvSpPr>
          <p:nvPr/>
        </p:nvSpPr>
        <p:spPr>
          <a:xfrm>
            <a:off x="7905750" y="2190750"/>
            <a:ext cx="3295650" cy="95250"/>
          </a:xfrm>
          <a:prstGeom prst="rect">
            <a:avLst/>
          </a:prstGeom>
          <a:solidFill>
            <a:srgbClr val="10B981"/>
          </a:solidFill>
          <a:ln w="0">
            <a:noFill/>
            <a:prstDash val="solid"/>
          </a:ln>
        </p:spPr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BED125AB-2F2E-4F40-8A51-B8827F14568A}"/>
              </a:ext>
            </a:extLst>
          </p:cNvPr>
          <p:cNvSpPr>
            <a:spLocks noGrp="1"/>
          </p:cNvSpPr>
          <p:nvPr/>
        </p:nvSpPr>
        <p:spPr>
          <a:xfrm>
            <a:off x="8134350" y="2505075"/>
            <a:ext cx="27622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75" b="1">
                <a:solidFill>
                  <a:srgbClr val="1A365D"/>
                </a:solidFill>
              </a:defRPr>
            </a:pPr>
            <a:r>
              <a:rPr sz="1575" b="1">
                <a:solidFill>
                  <a:srgbClr val="1A365D"/>
                </a:solidFill>
              </a:rPr>
              <a:t>FELIPE ROJAS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8EF5BB60-49B1-4656-A53D-7CC0E07DA06F}"/>
              </a:ext>
            </a:extLst>
          </p:cNvPr>
          <p:cNvSpPr>
            <a:spLocks noGrp="1"/>
          </p:cNvSpPr>
          <p:nvPr/>
        </p:nvSpPr>
        <p:spPr>
          <a:xfrm>
            <a:off x="8134350" y="2895600"/>
            <a:ext cx="2762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0">
                <a:solidFill>
                  <a:srgbClr val="64748B"/>
                </a:solidFill>
              </a:defRPr>
            </a:pPr>
            <a:r>
              <a:rPr sz="1200" b="0">
                <a:solidFill>
                  <a:srgbClr val="64748B"/>
                </a:solidFill>
              </a:rPr>
              <a:t>Arquitectura · QA · DevOps</a:t>
            </a:r>
          </a:p>
        </p:txBody>
      </p:sp>
      <p:sp>
        <p:nvSpPr>
          <p:cNvPr id="31" name="Elipse 30">
            <a:extLst>
              <a:ext uri="{FF2B5EF4-FFF2-40B4-BE49-F238E27FC236}">
                <a16:creationId xmlns:a16="http://schemas.microsoft.com/office/drawing/2014/main" id="{28062754-62E6-4874-8363-E3F6DDA19A26}"/>
              </a:ext>
            </a:extLst>
          </p:cNvPr>
          <p:cNvSpPr>
            <a:spLocks noGrp="1"/>
          </p:cNvSpPr>
          <p:nvPr/>
        </p:nvSpPr>
        <p:spPr>
          <a:xfrm>
            <a:off x="8134350" y="358140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56376C5A-1F38-4537-B976-1EC4BBD7F531}"/>
              </a:ext>
            </a:extLst>
          </p:cNvPr>
          <p:cNvSpPr>
            <a:spLocks noGrp="1"/>
          </p:cNvSpPr>
          <p:nvPr/>
        </p:nvSpPr>
        <p:spPr>
          <a:xfrm>
            <a:off x="8343900" y="3486150"/>
            <a:ext cx="2514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1E293B"/>
                </a:solidFill>
              </a:defRPr>
            </a:pPr>
            <a:r>
              <a:rPr sz="1275" b="0">
                <a:solidFill>
                  <a:srgbClr val="1E293B"/>
                </a:solidFill>
              </a:rPr>
              <a:t>Pruebas y seguridad</a:t>
            </a:r>
          </a:p>
        </p:txBody>
      </p:sp>
      <p:sp>
        <p:nvSpPr>
          <p:cNvPr id="33" name="Elipse 32">
            <a:extLst>
              <a:ext uri="{FF2B5EF4-FFF2-40B4-BE49-F238E27FC236}">
                <a16:creationId xmlns:a16="http://schemas.microsoft.com/office/drawing/2014/main" id="{D6E81EE4-BB4D-4C23-AA97-E2D5EC96C921}"/>
              </a:ext>
            </a:extLst>
          </p:cNvPr>
          <p:cNvSpPr>
            <a:spLocks noGrp="1"/>
          </p:cNvSpPr>
          <p:nvPr/>
        </p:nvSpPr>
        <p:spPr>
          <a:xfrm>
            <a:off x="8134350" y="413385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83704AA9-157C-4B67-BECC-B347F55C7D39}"/>
              </a:ext>
            </a:extLst>
          </p:cNvPr>
          <p:cNvSpPr>
            <a:spLocks noGrp="1"/>
          </p:cNvSpPr>
          <p:nvPr/>
        </p:nvSpPr>
        <p:spPr>
          <a:xfrm>
            <a:off x="8343900" y="4038600"/>
            <a:ext cx="2514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1E293B"/>
                </a:solidFill>
              </a:defRPr>
            </a:pPr>
            <a:r>
              <a:rPr sz="1275" b="0">
                <a:solidFill>
                  <a:srgbClr val="1E293B"/>
                </a:solidFill>
              </a:rPr>
              <a:t>Docker y CI/CD</a:t>
            </a:r>
          </a:p>
        </p:txBody>
      </p:sp>
      <p:sp>
        <p:nvSpPr>
          <p:cNvPr id="35" name="Elipse 34">
            <a:extLst>
              <a:ext uri="{FF2B5EF4-FFF2-40B4-BE49-F238E27FC236}">
                <a16:creationId xmlns:a16="http://schemas.microsoft.com/office/drawing/2014/main" id="{CCCA8858-6974-4116-AB1E-5D2CDBF013E3}"/>
              </a:ext>
            </a:extLst>
          </p:cNvPr>
          <p:cNvSpPr>
            <a:spLocks noGrp="1"/>
          </p:cNvSpPr>
          <p:nvPr/>
        </p:nvSpPr>
        <p:spPr>
          <a:xfrm>
            <a:off x="8134350" y="468630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36" name="Rectángulo 35">
            <a:extLst>
              <a:ext uri="{FF2B5EF4-FFF2-40B4-BE49-F238E27FC236}">
                <a16:creationId xmlns:a16="http://schemas.microsoft.com/office/drawing/2014/main" id="{95145C2F-5F04-463A-85B4-B2A946BBFFBE}"/>
              </a:ext>
            </a:extLst>
          </p:cNvPr>
          <p:cNvSpPr>
            <a:spLocks noGrp="1"/>
          </p:cNvSpPr>
          <p:nvPr/>
        </p:nvSpPr>
        <p:spPr>
          <a:xfrm>
            <a:off x="8343900" y="4591050"/>
            <a:ext cx="2514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1E293B"/>
                </a:solidFill>
              </a:defRPr>
            </a:pPr>
            <a:r>
              <a:rPr sz="1275" b="0">
                <a:solidFill>
                  <a:srgbClr val="1E293B"/>
                </a:solidFill>
              </a:rPr>
              <a:t>Automatización futura</a:t>
            </a:r>
          </a:p>
        </p:txBody>
      </p:sp>
      <p:sp>
        <p:nvSpPr>
          <p:cNvPr id="37" name="Rectángulo 36">
            <a:extLst>
              <a:ext uri="{FF2B5EF4-FFF2-40B4-BE49-F238E27FC236}">
                <a16:creationId xmlns:a16="http://schemas.microsoft.com/office/drawing/2014/main" id="{09E3B544-110E-49CB-9895-7C5340C61356}"/>
              </a:ext>
            </a:extLst>
          </p:cNvPr>
          <p:cNvSpPr>
            <a:spLocks noGrp="1"/>
          </p:cNvSpPr>
          <p:nvPr/>
        </p:nvSpPr>
        <p:spPr>
          <a:xfrm>
            <a:off x="628650" y="6438900"/>
            <a:ext cx="10858500" cy="9525"/>
          </a:xfrm>
          <a:prstGeom prst="rect">
            <a:avLst/>
          </a:prstGeom>
          <a:solidFill>
            <a:srgbClr val="E8EEF5"/>
          </a:solidFill>
          <a:ln w="0">
            <a:noFill/>
            <a:prstDash val="solid"/>
          </a:ln>
        </p:spPr>
      </p:sp>
      <p:sp>
        <p:nvSpPr>
          <p:cNvPr id="38" name="Rectángulo 37">
            <a:extLst>
              <a:ext uri="{FF2B5EF4-FFF2-40B4-BE49-F238E27FC236}">
                <a16:creationId xmlns:a16="http://schemas.microsoft.com/office/drawing/2014/main" id="{DCCF9CB0-CBCE-43D1-AEBD-FA85BF2278EE}"/>
              </a:ext>
            </a:extLst>
          </p:cNvPr>
          <p:cNvSpPr>
            <a:spLocks noGrp="1"/>
          </p:cNvSpPr>
          <p:nvPr/>
        </p:nvSpPr>
        <p:spPr>
          <a:xfrm>
            <a:off x="628650" y="6515100"/>
            <a:ext cx="895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Distribución inicial sujeta a ajuste durante la planificación de cada sprint.</a:t>
            </a:r>
          </a:p>
        </p:txBody>
      </p:sp>
    </p:spTree>
    <p:extLst>
      <p:ext uri="{BB962C8B-B14F-4D97-AF65-F5344CB8AC3E}">
        <p14:creationId xmlns:p14="http://schemas.microsoft.com/office/powerpoint/2010/main" val="11568078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ángulo 28">
            <a:extLst>
              <a:ext uri="{FF2B5EF4-FFF2-40B4-BE49-F238E27FC236}">
                <a16:creationId xmlns:a16="http://schemas.microsoft.com/office/drawing/2014/main" id="{F2DE72DC-49BE-48E3-847B-95A3872147F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C132BB12-BEB5-4AF5-8F84-3ECC6D136F5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5725"/>
          </a:xfrm>
          <a:prstGeom prst="rect">
            <a:avLst/>
          </a:prstGeom>
          <a:solidFill>
            <a:srgbClr val="1A365D"/>
          </a:solidFill>
          <a:ln w="0">
            <a:noFill/>
            <a:prstDash val="solid"/>
          </a:ln>
        </p:spPr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6AB8A4C6-14E6-4DE1-8D76-CE25CE488D9D}"/>
              </a:ext>
            </a:extLst>
          </p:cNvPr>
          <p:cNvSpPr>
            <a:spLocks noGrp="1"/>
          </p:cNvSpPr>
          <p:nvPr/>
        </p:nvSpPr>
        <p:spPr>
          <a:xfrm>
            <a:off x="628650" y="266700"/>
            <a:ext cx="4572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1A365D"/>
                </a:solidFill>
              </a:defRPr>
            </a:pPr>
            <a:r>
              <a:rPr sz="975" b="1">
                <a:solidFill>
                  <a:srgbClr val="1A365D"/>
                </a:solidFill>
              </a:rPr>
              <a:t>PERFIL DE EGRESO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B9DDFF1E-7925-4990-A40B-49AB2CDC0F2D}"/>
              </a:ext>
            </a:extLst>
          </p:cNvPr>
          <p:cNvSpPr>
            <a:spLocks noGrp="1"/>
          </p:cNvSpPr>
          <p:nvPr/>
        </p:nvSpPr>
        <p:spPr>
          <a:xfrm>
            <a:off x="11277600" y="26670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975" b="1">
                <a:solidFill>
                  <a:srgbClr val="64748B"/>
                </a:solidFill>
              </a:defRPr>
            </a:pPr>
            <a:r>
              <a:rPr sz="975" b="1">
                <a:solidFill>
                  <a:srgbClr val="64748B"/>
                </a:solidFill>
              </a:rPr>
              <a:t>05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C9BAFE28-7DBC-4201-8EB6-EA77EB169814}"/>
              </a:ext>
            </a:extLst>
          </p:cNvPr>
          <p:cNvSpPr>
            <a:spLocks noGrp="1"/>
          </p:cNvSpPr>
          <p:nvPr/>
        </p:nvSpPr>
        <p:spPr>
          <a:xfrm>
            <a:off x="628650" y="685800"/>
            <a:ext cx="106680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850" b="1">
                <a:solidFill>
                  <a:srgbClr val="1A365D"/>
                </a:solidFill>
              </a:defRPr>
            </a:pPr>
            <a:r>
              <a:rPr sz="2850" b="1">
                <a:solidFill>
                  <a:srgbClr val="1A365D"/>
                </a:solidFill>
              </a:rPr>
              <a:t>La solución permite evidenciar competencias de ingeniería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4F7FCA85-2C53-4942-8AD9-88BA902021E8}"/>
              </a:ext>
            </a:extLst>
          </p:cNvPr>
          <p:cNvSpPr>
            <a:spLocks noGrp="1"/>
          </p:cNvSpPr>
          <p:nvPr/>
        </p:nvSpPr>
        <p:spPr>
          <a:xfrm>
            <a:off x="647700" y="1381125"/>
            <a:ext cx="10096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64748B"/>
                </a:solidFill>
              </a:defRPr>
            </a:pPr>
            <a:r>
              <a:rPr sz="1275" b="0">
                <a:solidFill>
                  <a:srgbClr val="64748B"/>
                </a:solidFill>
              </a:rPr>
              <a:t>Cada competencia se vincula con un artefacto verificable.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23A26FD9-62F2-4596-A2FC-295805B69855}"/>
              </a:ext>
            </a:extLst>
          </p:cNvPr>
          <p:cNvSpPr>
            <a:spLocks noGrp="1"/>
          </p:cNvSpPr>
          <p:nvPr/>
        </p:nvSpPr>
        <p:spPr>
          <a:xfrm>
            <a:off x="685800" y="2038350"/>
            <a:ext cx="4286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F5B041"/>
                </a:solidFill>
              </a:defRPr>
            </a:pPr>
            <a:r>
              <a:rPr sz="1200" b="1">
                <a:solidFill>
                  <a:srgbClr val="F5B041"/>
                </a:solidFill>
              </a:rPr>
              <a:t>01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80923064-8D22-4D66-87AB-5AAD0EF5A534}"/>
              </a:ext>
            </a:extLst>
          </p:cNvPr>
          <p:cNvSpPr>
            <a:spLocks noGrp="1"/>
          </p:cNvSpPr>
          <p:nvPr/>
        </p:nvSpPr>
        <p:spPr>
          <a:xfrm>
            <a:off x="1200150" y="2076450"/>
            <a:ext cx="38100" cy="514350"/>
          </a:xfrm>
          <a:prstGeom prst="rect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B307313E-8A15-4F0F-A368-E6519F4F7D3F}"/>
              </a:ext>
            </a:extLst>
          </p:cNvPr>
          <p:cNvSpPr>
            <a:spLocks noGrp="1"/>
          </p:cNvSpPr>
          <p:nvPr/>
        </p:nvSpPr>
        <p:spPr>
          <a:xfrm>
            <a:off x="1466850" y="2038350"/>
            <a:ext cx="2952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1">
                <a:solidFill>
                  <a:srgbClr val="1A365D"/>
                </a:solidFill>
              </a:defRPr>
            </a:pPr>
            <a:r>
              <a:rPr sz="1500" b="1">
                <a:solidFill>
                  <a:srgbClr val="1A365D"/>
                </a:solidFill>
              </a:rPr>
              <a:t>Diseño de soluciones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EC82AA0E-F5CE-44D1-9474-DAFFDA87B661}"/>
              </a:ext>
            </a:extLst>
          </p:cNvPr>
          <p:cNvSpPr>
            <a:spLocks noGrp="1"/>
          </p:cNvSpPr>
          <p:nvPr/>
        </p:nvSpPr>
        <p:spPr>
          <a:xfrm>
            <a:off x="4552950" y="2038350"/>
            <a:ext cx="6438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0">
                <a:solidFill>
                  <a:srgbClr val="1E293B"/>
                </a:solidFill>
              </a:defRPr>
            </a:pPr>
            <a:r>
              <a:rPr sz="1350" b="0">
                <a:solidFill>
                  <a:srgbClr val="1E293B"/>
                </a:solidFill>
              </a:rPr>
              <a:t>Requisitos, arquitectura y modelo de datos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A186A2B8-F902-45E4-9202-084DFA5DAAF4}"/>
              </a:ext>
            </a:extLst>
          </p:cNvPr>
          <p:cNvSpPr>
            <a:spLocks noGrp="1"/>
          </p:cNvSpPr>
          <p:nvPr/>
        </p:nvSpPr>
        <p:spPr>
          <a:xfrm>
            <a:off x="685800" y="2828925"/>
            <a:ext cx="4286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F5B041"/>
                </a:solidFill>
              </a:defRPr>
            </a:pPr>
            <a:r>
              <a:rPr sz="1200" b="1">
                <a:solidFill>
                  <a:srgbClr val="F5B041"/>
                </a:solidFill>
              </a:rPr>
              <a:t>02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775D39CE-9BE2-49F0-ACEE-2B6106EBDA2B}"/>
              </a:ext>
            </a:extLst>
          </p:cNvPr>
          <p:cNvSpPr>
            <a:spLocks noGrp="1"/>
          </p:cNvSpPr>
          <p:nvPr/>
        </p:nvSpPr>
        <p:spPr>
          <a:xfrm>
            <a:off x="1200150" y="2867025"/>
            <a:ext cx="38100" cy="514350"/>
          </a:xfrm>
          <a:prstGeom prst="rect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A8FFC58F-ABA6-4DE6-BC14-F958CAEF20EC}"/>
              </a:ext>
            </a:extLst>
          </p:cNvPr>
          <p:cNvSpPr>
            <a:spLocks noGrp="1"/>
          </p:cNvSpPr>
          <p:nvPr/>
        </p:nvSpPr>
        <p:spPr>
          <a:xfrm>
            <a:off x="1466850" y="2828925"/>
            <a:ext cx="2952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1">
                <a:solidFill>
                  <a:srgbClr val="1A365D"/>
                </a:solidFill>
              </a:defRPr>
            </a:pPr>
            <a:r>
              <a:rPr sz="1500" b="1">
                <a:solidFill>
                  <a:srgbClr val="1A365D"/>
                </a:solidFill>
              </a:rPr>
              <a:t>Desarrollo de software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BE733FF7-582E-418C-84F0-2B3066C1B970}"/>
              </a:ext>
            </a:extLst>
          </p:cNvPr>
          <p:cNvSpPr>
            <a:spLocks noGrp="1"/>
          </p:cNvSpPr>
          <p:nvPr/>
        </p:nvSpPr>
        <p:spPr>
          <a:xfrm>
            <a:off x="4552950" y="2828925"/>
            <a:ext cx="6438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0">
                <a:solidFill>
                  <a:srgbClr val="1E293B"/>
                </a:solidFill>
              </a:defRPr>
            </a:pPr>
            <a:r>
              <a:rPr sz="1350" b="0">
                <a:solidFill>
                  <a:srgbClr val="1E293B"/>
                </a:solidFill>
              </a:rPr>
              <a:t>React, Express y contratos de API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BD601C79-ABFB-416C-AAE2-77559817C9E2}"/>
              </a:ext>
            </a:extLst>
          </p:cNvPr>
          <p:cNvSpPr>
            <a:spLocks noGrp="1"/>
          </p:cNvSpPr>
          <p:nvPr/>
        </p:nvSpPr>
        <p:spPr>
          <a:xfrm>
            <a:off x="685800" y="3619500"/>
            <a:ext cx="4286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F5B041"/>
                </a:solidFill>
              </a:defRPr>
            </a:pPr>
            <a:r>
              <a:rPr sz="1200" b="1">
                <a:solidFill>
                  <a:srgbClr val="F5B041"/>
                </a:solidFill>
              </a:rPr>
              <a:t>03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DE9209FB-3489-48F1-811F-2AB93E5BE0BC}"/>
              </a:ext>
            </a:extLst>
          </p:cNvPr>
          <p:cNvSpPr>
            <a:spLocks noGrp="1"/>
          </p:cNvSpPr>
          <p:nvPr/>
        </p:nvSpPr>
        <p:spPr>
          <a:xfrm>
            <a:off x="1200150" y="3657600"/>
            <a:ext cx="38100" cy="514350"/>
          </a:xfrm>
          <a:prstGeom prst="rect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B9CFF5DD-B6CE-438D-9558-13ACE5B50E22}"/>
              </a:ext>
            </a:extLst>
          </p:cNvPr>
          <p:cNvSpPr>
            <a:spLocks noGrp="1"/>
          </p:cNvSpPr>
          <p:nvPr/>
        </p:nvSpPr>
        <p:spPr>
          <a:xfrm>
            <a:off x="1466850" y="3619500"/>
            <a:ext cx="2952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1">
                <a:solidFill>
                  <a:srgbClr val="1A365D"/>
                </a:solidFill>
              </a:defRPr>
            </a:pPr>
            <a:r>
              <a:rPr sz="1500" b="1">
                <a:solidFill>
                  <a:srgbClr val="1A365D"/>
                </a:solidFill>
              </a:rPr>
              <a:t>Gestión de proyectos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4FC294AE-6417-4DF1-B473-2ECC4D3A76CA}"/>
              </a:ext>
            </a:extLst>
          </p:cNvPr>
          <p:cNvSpPr>
            <a:spLocks noGrp="1"/>
          </p:cNvSpPr>
          <p:nvPr/>
        </p:nvSpPr>
        <p:spPr>
          <a:xfrm>
            <a:off x="4552950" y="3619500"/>
            <a:ext cx="6438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0">
                <a:solidFill>
                  <a:srgbClr val="1E293B"/>
                </a:solidFill>
              </a:defRPr>
            </a:pPr>
            <a:r>
              <a:rPr sz="1350" b="0">
                <a:solidFill>
                  <a:srgbClr val="1E293B"/>
                </a:solidFill>
              </a:rPr>
              <a:t>Backlogs, RACI, Gantt y riesgos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B7604AFF-43AD-4C89-8B0E-D28FBECB3B6B}"/>
              </a:ext>
            </a:extLst>
          </p:cNvPr>
          <p:cNvSpPr>
            <a:spLocks noGrp="1"/>
          </p:cNvSpPr>
          <p:nvPr/>
        </p:nvSpPr>
        <p:spPr>
          <a:xfrm>
            <a:off x="685800" y="4410075"/>
            <a:ext cx="4286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F5B041"/>
                </a:solidFill>
              </a:defRPr>
            </a:pPr>
            <a:r>
              <a:rPr sz="1200" b="1">
                <a:solidFill>
                  <a:srgbClr val="F5B041"/>
                </a:solidFill>
              </a:rPr>
              <a:t>04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4A3D9576-55FD-4067-A8FE-F276B0A3BA0A}"/>
              </a:ext>
            </a:extLst>
          </p:cNvPr>
          <p:cNvSpPr>
            <a:spLocks noGrp="1"/>
          </p:cNvSpPr>
          <p:nvPr/>
        </p:nvSpPr>
        <p:spPr>
          <a:xfrm>
            <a:off x="1200150" y="4448175"/>
            <a:ext cx="38100" cy="514350"/>
          </a:xfrm>
          <a:prstGeom prst="rect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AE4D8E0C-0F47-4CCA-86E7-90FB6A9DEF3A}"/>
              </a:ext>
            </a:extLst>
          </p:cNvPr>
          <p:cNvSpPr>
            <a:spLocks noGrp="1"/>
          </p:cNvSpPr>
          <p:nvPr/>
        </p:nvSpPr>
        <p:spPr>
          <a:xfrm>
            <a:off x="1466850" y="4410075"/>
            <a:ext cx="2952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1">
                <a:solidFill>
                  <a:srgbClr val="1A365D"/>
                </a:solidFill>
              </a:defRPr>
            </a:pPr>
            <a:r>
              <a:rPr sz="1500" b="1">
                <a:solidFill>
                  <a:srgbClr val="1A365D"/>
                </a:solidFill>
              </a:rPr>
              <a:t>Calidad y seguridad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E1A3427A-9AE0-4F00-84B1-FFB1144A8482}"/>
              </a:ext>
            </a:extLst>
          </p:cNvPr>
          <p:cNvSpPr>
            <a:spLocks noGrp="1"/>
          </p:cNvSpPr>
          <p:nvPr/>
        </p:nvSpPr>
        <p:spPr>
          <a:xfrm>
            <a:off x="4552950" y="4410075"/>
            <a:ext cx="6438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0">
                <a:solidFill>
                  <a:srgbClr val="1E293B"/>
                </a:solidFill>
              </a:defRPr>
            </a:pPr>
            <a:r>
              <a:rPr sz="1350" b="0">
                <a:solidFill>
                  <a:srgbClr val="1E293B"/>
                </a:solidFill>
              </a:rPr>
              <a:t>Casos de prueba, controles y trazabilidad</a:t>
            </a: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E52E35DE-5003-4955-9875-5A453ADDEDCC}"/>
              </a:ext>
            </a:extLst>
          </p:cNvPr>
          <p:cNvSpPr>
            <a:spLocks noGrp="1"/>
          </p:cNvSpPr>
          <p:nvPr/>
        </p:nvSpPr>
        <p:spPr>
          <a:xfrm>
            <a:off x="685800" y="5200650"/>
            <a:ext cx="4286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F5B041"/>
                </a:solidFill>
              </a:defRPr>
            </a:pPr>
            <a:r>
              <a:rPr sz="1200" b="1">
                <a:solidFill>
                  <a:srgbClr val="F5B041"/>
                </a:solidFill>
              </a:rPr>
              <a:t>05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0181694A-6F05-46E9-9F83-CDE0BDBF32DE}"/>
              </a:ext>
            </a:extLst>
          </p:cNvPr>
          <p:cNvSpPr>
            <a:spLocks noGrp="1"/>
          </p:cNvSpPr>
          <p:nvPr/>
        </p:nvSpPr>
        <p:spPr>
          <a:xfrm>
            <a:off x="1200150" y="5238750"/>
            <a:ext cx="38100" cy="514350"/>
          </a:xfrm>
          <a:prstGeom prst="rect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C71CD3B3-017F-47B6-B7DC-9E5BC08AB092}"/>
              </a:ext>
            </a:extLst>
          </p:cNvPr>
          <p:cNvSpPr>
            <a:spLocks noGrp="1"/>
          </p:cNvSpPr>
          <p:nvPr/>
        </p:nvSpPr>
        <p:spPr>
          <a:xfrm>
            <a:off x="1466850" y="5200650"/>
            <a:ext cx="2952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1">
                <a:solidFill>
                  <a:srgbClr val="1A365D"/>
                </a:solidFill>
              </a:defRPr>
            </a:pPr>
            <a:r>
              <a:rPr sz="1500" b="1">
                <a:solidFill>
                  <a:srgbClr val="1A365D"/>
                </a:solidFill>
              </a:rPr>
              <a:t>Comunicación profesional</a:t>
            </a:r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5F94D814-3118-43E2-A74D-498129A8247A}"/>
              </a:ext>
            </a:extLst>
          </p:cNvPr>
          <p:cNvSpPr>
            <a:spLocks noGrp="1"/>
          </p:cNvSpPr>
          <p:nvPr/>
        </p:nvSpPr>
        <p:spPr>
          <a:xfrm>
            <a:off x="4552950" y="5200650"/>
            <a:ext cx="6438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0">
                <a:solidFill>
                  <a:srgbClr val="1E293B"/>
                </a:solidFill>
              </a:defRPr>
            </a:pPr>
            <a:r>
              <a:rPr sz="1350" b="0">
                <a:solidFill>
                  <a:srgbClr val="1E293B"/>
                </a:solidFill>
              </a:rPr>
              <a:t>Informe, abstract y presentación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6BE7FD4B-6CD6-4CE0-A9DF-F5742436AF98}"/>
              </a:ext>
            </a:extLst>
          </p:cNvPr>
          <p:cNvSpPr>
            <a:spLocks noGrp="1"/>
          </p:cNvSpPr>
          <p:nvPr/>
        </p:nvSpPr>
        <p:spPr>
          <a:xfrm>
            <a:off x="628650" y="6438900"/>
            <a:ext cx="10858500" cy="9525"/>
          </a:xfrm>
          <a:prstGeom prst="rect">
            <a:avLst/>
          </a:prstGeom>
          <a:solidFill>
            <a:srgbClr val="E8EEF5"/>
          </a:solidFill>
          <a:ln w="0">
            <a:noFill/>
            <a:prstDash val="solid"/>
          </a:ln>
        </p:spPr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DA05A1F2-F528-44D3-BA4F-F634F4E19C2D}"/>
              </a:ext>
            </a:extLst>
          </p:cNvPr>
          <p:cNvSpPr>
            <a:spLocks noGrp="1"/>
          </p:cNvSpPr>
          <p:nvPr/>
        </p:nvSpPr>
        <p:spPr>
          <a:xfrm>
            <a:off x="628650" y="6515100"/>
            <a:ext cx="895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CAPSTONE 2026 · Ingeniería en Informática · Plaza Oeste</a:t>
            </a:r>
          </a:p>
        </p:txBody>
      </p:sp>
    </p:spTree>
    <p:extLst>
      <p:ext uri="{BB962C8B-B14F-4D97-AF65-F5344CB8AC3E}">
        <p14:creationId xmlns:p14="http://schemas.microsoft.com/office/powerpoint/2010/main" val="9495353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ángulo 18">
            <a:extLst>
              <a:ext uri="{FF2B5EF4-FFF2-40B4-BE49-F238E27FC236}">
                <a16:creationId xmlns:a16="http://schemas.microsoft.com/office/drawing/2014/main" id="{2164B7FE-E98E-4988-8628-0DFFBE14CB9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A2A74108-5A8D-4786-BFF6-8A7A252727F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5725"/>
          </a:xfrm>
          <a:prstGeom prst="rect">
            <a:avLst/>
          </a:prstGeom>
          <a:solidFill>
            <a:srgbClr val="1A365D"/>
          </a:solidFill>
          <a:ln w="0">
            <a:noFill/>
            <a:prstDash val="solid"/>
          </a:ln>
        </p:spPr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A892672A-7BC3-4A65-8CF6-4C3FB9C65853}"/>
              </a:ext>
            </a:extLst>
          </p:cNvPr>
          <p:cNvSpPr>
            <a:spLocks noGrp="1"/>
          </p:cNvSpPr>
          <p:nvPr/>
        </p:nvSpPr>
        <p:spPr>
          <a:xfrm>
            <a:off x="628650" y="266700"/>
            <a:ext cx="4572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1A365D"/>
                </a:solidFill>
              </a:defRPr>
            </a:pPr>
            <a:r>
              <a:rPr sz="975" b="1">
                <a:solidFill>
                  <a:srgbClr val="1A365D"/>
                </a:solidFill>
              </a:rPr>
              <a:t>OBJETIVOS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C810F631-B1E6-4376-8602-673903A38F1C}"/>
              </a:ext>
            </a:extLst>
          </p:cNvPr>
          <p:cNvSpPr>
            <a:spLocks noGrp="1"/>
          </p:cNvSpPr>
          <p:nvPr/>
        </p:nvSpPr>
        <p:spPr>
          <a:xfrm>
            <a:off x="11277600" y="26670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975" b="1">
                <a:solidFill>
                  <a:srgbClr val="64748B"/>
                </a:solidFill>
              </a:defRPr>
            </a:pPr>
            <a:r>
              <a:rPr sz="975" b="1">
                <a:solidFill>
                  <a:srgbClr val="64748B"/>
                </a:solidFill>
              </a:rPr>
              <a:t>06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8729E138-9F33-4296-A64E-4E3B0CA827A5}"/>
              </a:ext>
            </a:extLst>
          </p:cNvPr>
          <p:cNvSpPr>
            <a:spLocks noGrp="1"/>
          </p:cNvSpPr>
          <p:nvPr/>
        </p:nvSpPr>
        <p:spPr>
          <a:xfrm>
            <a:off x="628650" y="685800"/>
            <a:ext cx="106680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850" b="1">
                <a:solidFill>
                  <a:srgbClr val="1A365D"/>
                </a:solidFill>
              </a:defRPr>
            </a:pPr>
            <a:r>
              <a:rPr sz="2850" b="1">
                <a:solidFill>
                  <a:srgbClr val="1A365D"/>
                </a:solidFill>
              </a:rPr>
              <a:t>Objetivo general: desarrollar y validar la consola administrativa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BCF58E72-9100-4EDE-8CFD-A2B76F8D34A2}"/>
              </a:ext>
            </a:extLst>
          </p:cNvPr>
          <p:cNvSpPr>
            <a:spLocks noGrp="1"/>
          </p:cNvSpPr>
          <p:nvPr/>
        </p:nvSpPr>
        <p:spPr>
          <a:xfrm>
            <a:off x="647700" y="1381125"/>
            <a:ext cx="10096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64748B"/>
                </a:solidFill>
              </a:defRPr>
            </a:pPr>
            <a:r>
              <a:rPr sz="1275" b="0">
                <a:solidFill>
                  <a:srgbClr val="64748B"/>
                </a:solidFill>
              </a:rPr>
              <a:t>Los objetivos conectan la problemática con un resultado verificable en 18 semanas.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378A554A-D91A-4E99-AE71-7E81E4B497D6}"/>
              </a:ext>
            </a:extLst>
          </p:cNvPr>
          <p:cNvSpPr>
            <a:spLocks noGrp="1"/>
          </p:cNvSpPr>
          <p:nvPr/>
        </p:nvSpPr>
        <p:spPr>
          <a:xfrm>
            <a:off x="628650" y="2076450"/>
            <a:ext cx="10668000" cy="1000125"/>
          </a:xfrm>
          <a:prstGeom prst="roundRect">
            <a:avLst>
              <a:gd name="adj" fmla="val 11429"/>
            </a:avLst>
          </a:prstGeom>
          <a:solidFill>
            <a:srgbClr val="1A365D"/>
          </a:solidFill>
          <a:ln w="9525">
            <a:solidFill>
              <a:srgbClr val="1A365D"/>
            </a:solidFill>
            <a:prstDash val="solid"/>
          </a:ln>
        </p:spPr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405DCF66-72ED-4932-B967-B65534A4CB5B}"/>
              </a:ext>
            </a:extLst>
          </p:cNvPr>
          <p:cNvSpPr>
            <a:spLocks noGrp="1"/>
          </p:cNvSpPr>
          <p:nvPr/>
        </p:nvSpPr>
        <p:spPr>
          <a:xfrm>
            <a:off x="1000125" y="2266950"/>
            <a:ext cx="990600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Desarrollar y validar una consola web que centralice la gestión administrativa de Aprueba con seguridad, trazabilidad y calidad.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DE2AF972-749D-49B6-9AB6-952CE8C186EB}"/>
              </a:ext>
            </a:extLst>
          </p:cNvPr>
          <p:cNvSpPr>
            <a:spLocks noGrp="1"/>
          </p:cNvSpPr>
          <p:nvPr/>
        </p:nvSpPr>
        <p:spPr>
          <a:xfrm>
            <a:off x="628650" y="3676650"/>
            <a:ext cx="2400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125" b="1">
                <a:solidFill>
                  <a:srgbClr val="F5B041"/>
                </a:solidFill>
              </a:defRPr>
            </a:pPr>
            <a:r>
              <a:rPr sz="1125" b="1">
                <a:solidFill>
                  <a:srgbClr val="F5B041"/>
                </a:solidFill>
              </a:rPr>
              <a:t>DEFINIR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C27190F1-ABAD-4F24-A72D-83912B0EED56}"/>
              </a:ext>
            </a:extLst>
          </p:cNvPr>
          <p:cNvSpPr>
            <a:spLocks noGrp="1"/>
          </p:cNvSpPr>
          <p:nvPr/>
        </p:nvSpPr>
        <p:spPr>
          <a:xfrm>
            <a:off x="742950" y="4095750"/>
            <a:ext cx="21717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350" b="1">
                <a:solidFill>
                  <a:srgbClr val="1E293B"/>
                </a:solidFill>
              </a:defRPr>
            </a:pPr>
            <a:r>
              <a:rPr sz="1350" b="1">
                <a:solidFill>
                  <a:srgbClr val="1E293B"/>
                </a:solidFill>
              </a:rPr>
              <a:t>alcance, actores, requisitos y criterios de aceptación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A8774BAC-046A-4A21-A01F-E12679617E30}"/>
              </a:ext>
            </a:extLst>
          </p:cNvPr>
          <p:cNvSpPr>
            <a:spLocks noGrp="1"/>
          </p:cNvSpPr>
          <p:nvPr/>
        </p:nvSpPr>
        <p:spPr>
          <a:xfrm>
            <a:off x="3352800" y="3676650"/>
            <a:ext cx="2400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125" b="1">
                <a:solidFill>
                  <a:srgbClr val="F5B041"/>
                </a:solidFill>
              </a:defRPr>
            </a:pPr>
            <a:r>
              <a:rPr sz="1125" b="1">
                <a:solidFill>
                  <a:srgbClr val="F5B041"/>
                </a:solidFill>
              </a:rPr>
              <a:t>MODELAR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94A6D0C4-44D6-478D-96DB-7F8BF8375406}"/>
              </a:ext>
            </a:extLst>
          </p:cNvPr>
          <p:cNvSpPr>
            <a:spLocks noGrp="1"/>
          </p:cNvSpPr>
          <p:nvPr/>
        </p:nvSpPr>
        <p:spPr>
          <a:xfrm>
            <a:off x="3467100" y="4095750"/>
            <a:ext cx="21717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350" b="1">
                <a:solidFill>
                  <a:srgbClr val="1E293B"/>
                </a:solidFill>
              </a:defRPr>
            </a:pPr>
            <a:r>
              <a:rPr sz="1350" b="1">
                <a:solidFill>
                  <a:srgbClr val="1E293B"/>
                </a:solidFill>
              </a:rPr>
              <a:t>arquitectura, datos, APIs y flujos principales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A9C7D751-7945-440D-BEC5-4253AD7D740D}"/>
              </a:ext>
            </a:extLst>
          </p:cNvPr>
          <p:cNvSpPr>
            <a:spLocks noGrp="1"/>
          </p:cNvSpPr>
          <p:nvPr/>
        </p:nvSpPr>
        <p:spPr>
          <a:xfrm>
            <a:off x="6076950" y="3676650"/>
            <a:ext cx="2400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125" b="1">
                <a:solidFill>
                  <a:srgbClr val="F5B041"/>
                </a:solidFill>
              </a:defRPr>
            </a:pPr>
            <a:r>
              <a:rPr sz="1125" b="1">
                <a:solidFill>
                  <a:srgbClr val="F5B041"/>
                </a:solidFill>
              </a:rPr>
              <a:t>PLANIFICAR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3A0F6ABD-6C51-4702-A942-998E31FB097B}"/>
              </a:ext>
            </a:extLst>
          </p:cNvPr>
          <p:cNvSpPr>
            <a:spLocks noGrp="1"/>
          </p:cNvSpPr>
          <p:nvPr/>
        </p:nvSpPr>
        <p:spPr>
          <a:xfrm>
            <a:off x="6191250" y="4095750"/>
            <a:ext cx="21717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350" b="1">
                <a:solidFill>
                  <a:srgbClr val="1E293B"/>
                </a:solidFill>
              </a:defRPr>
            </a:pPr>
            <a:r>
              <a:rPr sz="1350" b="1">
                <a:solidFill>
                  <a:srgbClr val="1E293B"/>
                </a:solidFill>
              </a:rPr>
              <a:t>18 semanas con Scrum, hitos, riesgos y responsables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97FA8A0F-5FCE-4070-8F4A-46D43B59143F}"/>
              </a:ext>
            </a:extLst>
          </p:cNvPr>
          <p:cNvSpPr>
            <a:spLocks noGrp="1"/>
          </p:cNvSpPr>
          <p:nvPr/>
        </p:nvSpPr>
        <p:spPr>
          <a:xfrm>
            <a:off x="8801100" y="3676650"/>
            <a:ext cx="2400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125" b="1">
                <a:solidFill>
                  <a:srgbClr val="F5B041"/>
                </a:solidFill>
              </a:defRPr>
            </a:pPr>
            <a:r>
              <a:rPr sz="1125" b="1">
                <a:solidFill>
                  <a:srgbClr val="F5B041"/>
                </a:solidFill>
              </a:rPr>
              <a:t>VERIFICAR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7854FB5A-D752-48F8-9D88-05D6E1D824B3}"/>
              </a:ext>
            </a:extLst>
          </p:cNvPr>
          <p:cNvSpPr>
            <a:spLocks noGrp="1"/>
          </p:cNvSpPr>
          <p:nvPr/>
        </p:nvSpPr>
        <p:spPr>
          <a:xfrm>
            <a:off x="8915400" y="4095750"/>
            <a:ext cx="21717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350" b="1">
                <a:solidFill>
                  <a:srgbClr val="1E293B"/>
                </a:solidFill>
              </a:defRPr>
            </a:pPr>
            <a:r>
              <a:rPr sz="1350" b="1">
                <a:solidFill>
                  <a:srgbClr val="1E293B"/>
                </a:solidFill>
              </a:rPr>
              <a:t>calidad, seguridad, accesibilidad y preparación del repositorio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B45779E7-FBCD-4B87-82DC-30A8E00CD02B}"/>
              </a:ext>
            </a:extLst>
          </p:cNvPr>
          <p:cNvSpPr>
            <a:spLocks noGrp="1"/>
          </p:cNvSpPr>
          <p:nvPr/>
        </p:nvSpPr>
        <p:spPr>
          <a:xfrm>
            <a:off x="628650" y="6438900"/>
            <a:ext cx="10858500" cy="9525"/>
          </a:xfrm>
          <a:prstGeom prst="rect">
            <a:avLst/>
          </a:prstGeom>
          <a:solidFill>
            <a:srgbClr val="E8EEF5"/>
          </a:solidFill>
          <a:ln w="0">
            <a:noFill/>
            <a:prstDash val="solid"/>
          </a:ln>
        </p:spPr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4BF73FB0-AA83-4A4E-9545-A799D19672AC}"/>
              </a:ext>
            </a:extLst>
          </p:cNvPr>
          <p:cNvSpPr>
            <a:spLocks noGrp="1"/>
          </p:cNvSpPr>
          <p:nvPr/>
        </p:nvSpPr>
        <p:spPr>
          <a:xfrm>
            <a:off x="628650" y="6515100"/>
            <a:ext cx="895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CAPSTONE 2026 · Ingeniería en Informática · Plaza Oeste</a:t>
            </a:r>
          </a:p>
        </p:txBody>
      </p:sp>
    </p:spTree>
    <p:extLst>
      <p:ext uri="{BB962C8B-B14F-4D97-AF65-F5344CB8AC3E}">
        <p14:creationId xmlns:p14="http://schemas.microsoft.com/office/powerpoint/2010/main" val="8332138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ángulo 25">
            <a:extLst>
              <a:ext uri="{FF2B5EF4-FFF2-40B4-BE49-F238E27FC236}">
                <a16:creationId xmlns:a16="http://schemas.microsoft.com/office/drawing/2014/main" id="{E74AD044-8ECB-484E-B391-6DF69B599B8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C84D2A90-17EF-440F-B8CE-2B7B802895E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5725"/>
          </a:xfrm>
          <a:prstGeom prst="rect">
            <a:avLst/>
          </a:prstGeom>
          <a:solidFill>
            <a:srgbClr val="1A365D"/>
          </a:solidFill>
          <a:ln w="0">
            <a:noFill/>
            <a:prstDash val="solid"/>
          </a:ln>
        </p:spPr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754E968D-2773-4411-B531-46FCA9CD8A5D}"/>
              </a:ext>
            </a:extLst>
          </p:cNvPr>
          <p:cNvSpPr>
            <a:spLocks noGrp="1"/>
          </p:cNvSpPr>
          <p:nvPr/>
        </p:nvSpPr>
        <p:spPr>
          <a:xfrm>
            <a:off x="628650" y="266700"/>
            <a:ext cx="4572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1A365D"/>
                </a:solidFill>
              </a:defRPr>
            </a:pPr>
            <a:r>
              <a:rPr sz="975" b="1">
                <a:solidFill>
                  <a:srgbClr val="1A365D"/>
                </a:solidFill>
              </a:rPr>
              <a:t>ARQUITECTURA PROPUESTA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01A13638-0327-4A71-B146-978E1A8E92C9}"/>
              </a:ext>
            </a:extLst>
          </p:cNvPr>
          <p:cNvSpPr>
            <a:spLocks noGrp="1"/>
          </p:cNvSpPr>
          <p:nvPr/>
        </p:nvSpPr>
        <p:spPr>
          <a:xfrm>
            <a:off x="11277600" y="26670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975" b="1">
                <a:solidFill>
                  <a:srgbClr val="64748B"/>
                </a:solidFill>
              </a:defRPr>
            </a:pPr>
            <a:r>
              <a:rPr sz="975" b="1">
                <a:solidFill>
                  <a:srgbClr val="64748B"/>
                </a:solidFill>
              </a:rPr>
              <a:t>07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5D786CB8-7377-4F77-A19A-56A08B166062}"/>
              </a:ext>
            </a:extLst>
          </p:cNvPr>
          <p:cNvSpPr>
            <a:spLocks noGrp="1"/>
          </p:cNvSpPr>
          <p:nvPr/>
        </p:nvSpPr>
        <p:spPr>
          <a:xfrm>
            <a:off x="628650" y="685800"/>
            <a:ext cx="106680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850" b="1">
                <a:solidFill>
                  <a:srgbClr val="1A365D"/>
                </a:solidFill>
              </a:defRPr>
            </a:pPr>
            <a:r>
              <a:rPr sz="2850" b="1">
                <a:solidFill>
                  <a:srgbClr val="1A365D"/>
                </a:solidFill>
              </a:rPr>
              <a:t>Arquitectura propuesta: tres capas y controles transversales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131C8A05-5E0A-43F4-A1F2-84FA5DFEE5FE}"/>
              </a:ext>
            </a:extLst>
          </p:cNvPr>
          <p:cNvSpPr>
            <a:spLocks noGrp="1"/>
          </p:cNvSpPr>
          <p:nvPr/>
        </p:nvSpPr>
        <p:spPr>
          <a:xfrm>
            <a:off x="647700" y="1381125"/>
            <a:ext cx="10096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64748B"/>
                </a:solidFill>
              </a:defRPr>
            </a:pPr>
            <a:r>
              <a:rPr sz="1275" b="0">
                <a:solidFill>
                  <a:srgbClr val="64748B"/>
                </a:solidFill>
              </a:rPr>
              <a:t>La base de código permite reconocer componentes; la integración funcional aún debe validarse.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58730991-C0D6-4776-B49D-5684EEE0246D}"/>
              </a:ext>
            </a:extLst>
          </p:cNvPr>
          <p:cNvSpPr>
            <a:spLocks noGrp="1"/>
          </p:cNvSpPr>
          <p:nvPr/>
        </p:nvSpPr>
        <p:spPr>
          <a:xfrm>
            <a:off x="1638300" y="2152650"/>
            <a:ext cx="78105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8EEF5"/>
            </a:solidFill>
            <a:prstDash val="solid"/>
          </a:ln>
        </p:spPr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6EC269BF-4AAA-42EE-A6A3-55FEC7F2CFBF}"/>
              </a:ext>
            </a:extLst>
          </p:cNvPr>
          <p:cNvSpPr>
            <a:spLocks noGrp="1"/>
          </p:cNvSpPr>
          <p:nvPr/>
        </p:nvSpPr>
        <p:spPr>
          <a:xfrm>
            <a:off x="1638300" y="2152650"/>
            <a:ext cx="123825" cy="838200"/>
          </a:xfrm>
          <a:prstGeom prst="rect">
            <a:avLst/>
          </a:prstGeom>
          <a:solidFill>
            <a:srgbClr val="2563EB"/>
          </a:solidFill>
          <a:ln w="0">
            <a:noFill/>
            <a:prstDash val="solid"/>
          </a:ln>
        </p:spPr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A3055624-D830-4030-81DC-62482483B2E8}"/>
              </a:ext>
            </a:extLst>
          </p:cNvPr>
          <p:cNvSpPr>
            <a:spLocks noGrp="1"/>
          </p:cNvSpPr>
          <p:nvPr/>
        </p:nvSpPr>
        <p:spPr>
          <a:xfrm>
            <a:off x="2057400" y="2295525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INTERFAZ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9005C48C-2FE5-4D9D-B258-408B00536F41}"/>
              </a:ext>
            </a:extLst>
          </p:cNvPr>
          <p:cNvSpPr>
            <a:spLocks noGrp="1"/>
          </p:cNvSpPr>
          <p:nvPr/>
        </p:nvSpPr>
        <p:spPr>
          <a:xfrm>
            <a:off x="3829050" y="2276475"/>
            <a:ext cx="519112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650" b="1">
                <a:solidFill>
                  <a:srgbClr val="1A365D"/>
                </a:solidFill>
              </a:defRPr>
            </a:pPr>
            <a:r>
              <a:rPr sz="1650" b="1">
                <a:solidFill>
                  <a:srgbClr val="1A365D"/>
                </a:solidFill>
              </a:rPr>
              <a:t>React 18 · Vite · React Router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D154D5CE-E894-44FF-A549-F4A9ABF3AA13}"/>
              </a:ext>
            </a:extLst>
          </p:cNvPr>
          <p:cNvSpPr>
            <a:spLocks noGrp="1"/>
          </p:cNvSpPr>
          <p:nvPr/>
        </p:nvSpPr>
        <p:spPr>
          <a:xfrm>
            <a:off x="9696450" y="3009900"/>
            <a:ext cx="666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875" b="1">
                <a:solidFill>
                  <a:srgbClr val="F5B041"/>
                </a:solidFill>
              </a:defRPr>
            </a:pPr>
            <a:r>
              <a:rPr sz="1875" b="1">
                <a:solidFill>
                  <a:srgbClr val="F5B041"/>
                </a:solidFill>
              </a:rPr>
              <a:t>↓</a:t>
            </a: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F99A39C3-57B6-41C8-B008-BC59ECE38D9F}"/>
              </a:ext>
            </a:extLst>
          </p:cNvPr>
          <p:cNvSpPr>
            <a:spLocks noGrp="1"/>
          </p:cNvSpPr>
          <p:nvPr/>
        </p:nvSpPr>
        <p:spPr>
          <a:xfrm>
            <a:off x="1638300" y="3371850"/>
            <a:ext cx="78105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8EEF5"/>
            </a:solidFill>
            <a:prstDash val="solid"/>
          </a:ln>
        </p:spPr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9B45DFDC-28D8-4058-BAB7-F0F4FA4A79F3}"/>
              </a:ext>
            </a:extLst>
          </p:cNvPr>
          <p:cNvSpPr>
            <a:spLocks noGrp="1"/>
          </p:cNvSpPr>
          <p:nvPr/>
        </p:nvSpPr>
        <p:spPr>
          <a:xfrm>
            <a:off x="1638300" y="3371850"/>
            <a:ext cx="123825" cy="838200"/>
          </a:xfrm>
          <a:prstGeom prst="rect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10C364A1-3A81-4999-AF99-B766BB6514FA}"/>
              </a:ext>
            </a:extLst>
          </p:cNvPr>
          <p:cNvSpPr>
            <a:spLocks noGrp="1"/>
          </p:cNvSpPr>
          <p:nvPr/>
        </p:nvSpPr>
        <p:spPr>
          <a:xfrm>
            <a:off x="2057400" y="3514725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F5B041"/>
                </a:solidFill>
              </a:defRPr>
            </a:pPr>
            <a:r>
              <a:rPr sz="1200" b="1">
                <a:solidFill>
                  <a:srgbClr val="F5B041"/>
                </a:solidFill>
              </a:rPr>
              <a:t>SERVICIOS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28AC8942-C4EE-43DF-8E5A-3281E64ACA30}"/>
              </a:ext>
            </a:extLst>
          </p:cNvPr>
          <p:cNvSpPr>
            <a:spLocks noGrp="1"/>
          </p:cNvSpPr>
          <p:nvPr/>
        </p:nvSpPr>
        <p:spPr>
          <a:xfrm>
            <a:off x="3829050" y="3495675"/>
            <a:ext cx="519112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650" b="1">
                <a:solidFill>
                  <a:srgbClr val="1A365D"/>
                </a:solidFill>
              </a:defRPr>
            </a:pPr>
            <a:r>
              <a:rPr sz="1650" b="1">
                <a:solidFill>
                  <a:srgbClr val="1A365D"/>
                </a:solidFill>
              </a:rPr>
              <a:t>Node.js · Express · JWT · middleware RBAC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606D265E-CAD3-42B9-8C3D-AE545FE70150}"/>
              </a:ext>
            </a:extLst>
          </p:cNvPr>
          <p:cNvSpPr>
            <a:spLocks noGrp="1"/>
          </p:cNvSpPr>
          <p:nvPr/>
        </p:nvSpPr>
        <p:spPr>
          <a:xfrm>
            <a:off x="9696450" y="4229100"/>
            <a:ext cx="666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875" b="1">
                <a:solidFill>
                  <a:srgbClr val="F5B041"/>
                </a:solidFill>
              </a:defRPr>
            </a:pPr>
            <a:r>
              <a:rPr sz="1875" b="1">
                <a:solidFill>
                  <a:srgbClr val="F5B041"/>
                </a:solidFill>
              </a:rPr>
              <a:t>↓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67122BF6-2CD4-403F-9F49-8472673A0C56}"/>
              </a:ext>
            </a:extLst>
          </p:cNvPr>
          <p:cNvSpPr>
            <a:spLocks noGrp="1"/>
          </p:cNvSpPr>
          <p:nvPr/>
        </p:nvSpPr>
        <p:spPr>
          <a:xfrm>
            <a:off x="1638300" y="4591050"/>
            <a:ext cx="78105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8EEF5"/>
            </a:solidFill>
            <a:prstDash val="solid"/>
          </a:ln>
        </p:spPr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6FAD6F35-646C-44A2-BF8A-CB6BA1833DA3}"/>
              </a:ext>
            </a:extLst>
          </p:cNvPr>
          <p:cNvSpPr>
            <a:spLocks noGrp="1"/>
          </p:cNvSpPr>
          <p:nvPr/>
        </p:nvSpPr>
        <p:spPr>
          <a:xfrm>
            <a:off x="1638300" y="4591050"/>
            <a:ext cx="123825" cy="838200"/>
          </a:xfrm>
          <a:prstGeom prst="rect">
            <a:avLst/>
          </a:prstGeom>
          <a:solidFill>
            <a:srgbClr val="10B981"/>
          </a:solidFill>
          <a:ln w="0">
            <a:noFill/>
            <a:prstDash val="solid"/>
          </a:ln>
        </p:spPr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387D53BD-7F95-4EC9-817D-659D3754168F}"/>
              </a:ext>
            </a:extLst>
          </p:cNvPr>
          <p:cNvSpPr>
            <a:spLocks noGrp="1"/>
          </p:cNvSpPr>
          <p:nvPr/>
        </p:nvSpPr>
        <p:spPr>
          <a:xfrm>
            <a:off x="2057400" y="4733925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10B981"/>
                </a:solidFill>
              </a:defRPr>
            </a:pPr>
            <a:r>
              <a:rPr sz="1200" b="1">
                <a:solidFill>
                  <a:srgbClr val="10B981"/>
                </a:solidFill>
              </a:rPr>
              <a:t>DATOS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2075EEBF-67EA-412D-8C85-D6D90C6EF947}"/>
              </a:ext>
            </a:extLst>
          </p:cNvPr>
          <p:cNvSpPr>
            <a:spLocks noGrp="1"/>
          </p:cNvSpPr>
          <p:nvPr/>
        </p:nvSpPr>
        <p:spPr>
          <a:xfrm>
            <a:off x="3829050" y="4714875"/>
            <a:ext cx="519112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650" b="1">
                <a:solidFill>
                  <a:srgbClr val="1A365D"/>
                </a:solidFill>
              </a:defRPr>
            </a:pPr>
            <a:r>
              <a:rPr sz="1650" b="1">
                <a:solidFill>
                  <a:srgbClr val="1A365D"/>
                </a:solidFill>
              </a:rPr>
              <a:t>Firebase Admin · Firestore</a:t>
            </a: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A80018B5-CFC3-4935-96B2-C8BF306F55CB}"/>
              </a:ext>
            </a:extLst>
          </p:cNvPr>
          <p:cNvSpPr>
            <a:spLocks noGrp="1"/>
          </p:cNvSpPr>
          <p:nvPr/>
        </p:nvSpPr>
        <p:spPr>
          <a:xfrm>
            <a:off x="9696450" y="2343150"/>
            <a:ext cx="1571625" cy="2895600"/>
          </a:xfrm>
          <a:prstGeom prst="roundRect">
            <a:avLst>
              <a:gd name="adj" fmla="val 7273"/>
            </a:avLst>
          </a:prstGeom>
          <a:solidFill>
            <a:srgbClr val="1A365D"/>
          </a:solidFill>
          <a:ln w="9525">
            <a:solidFill>
              <a:srgbClr val="1A365D"/>
            </a:solidFill>
            <a:prstDash val="solid"/>
          </a:ln>
        </p:spPr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44E9CA4C-7EA6-4F3D-A9EF-5F1C4A12A2F7}"/>
              </a:ext>
            </a:extLst>
          </p:cNvPr>
          <p:cNvSpPr>
            <a:spLocks noGrp="1"/>
          </p:cNvSpPr>
          <p:nvPr/>
        </p:nvSpPr>
        <p:spPr>
          <a:xfrm>
            <a:off x="9867900" y="2571750"/>
            <a:ext cx="1238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975" b="1">
                <a:solidFill>
                  <a:srgbClr val="F5B041"/>
                </a:solidFill>
              </a:defRPr>
            </a:pPr>
            <a:r>
              <a:rPr sz="975" b="1">
                <a:solidFill>
                  <a:srgbClr val="F5B041"/>
                </a:solidFill>
              </a:rPr>
              <a:t>TRANSVERSAL</a:t>
            </a: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232E3DED-1EEC-4279-9B9E-1921944D0474}"/>
              </a:ext>
            </a:extLst>
          </p:cNvPr>
          <p:cNvSpPr>
            <a:spLocks noGrp="1"/>
          </p:cNvSpPr>
          <p:nvPr/>
        </p:nvSpPr>
        <p:spPr>
          <a:xfrm>
            <a:off x="9867900" y="3009900"/>
            <a:ext cx="1238250" cy="1905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Roles</a:t>
            </a:r>
          </a:p>
          <a:p>
            <a:endParaRPr sz="1350" b="1">
              <a:solidFill>
                <a:srgbClr val="FFFFFF"/>
              </a:solidFill>
            </a:endParaRPr>
          </a:p>
          <a:p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Validación</a:t>
            </a:r>
          </a:p>
          <a:p>
            <a:endParaRPr sz="1350" b="1">
              <a:solidFill>
                <a:srgbClr val="FFFFFF"/>
              </a:solidFill>
            </a:endParaRPr>
          </a:p>
          <a:p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Auditoría</a:t>
            </a:r>
          </a:p>
          <a:p>
            <a:endParaRPr sz="1350" b="1">
              <a:solidFill>
                <a:srgbClr val="FFFFFF"/>
              </a:solidFill>
            </a:endParaRPr>
          </a:p>
          <a:p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Secretos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6025FAE0-EC87-4C83-A7E5-C60530643711}"/>
              </a:ext>
            </a:extLst>
          </p:cNvPr>
          <p:cNvSpPr>
            <a:spLocks noGrp="1"/>
          </p:cNvSpPr>
          <p:nvPr/>
        </p:nvSpPr>
        <p:spPr>
          <a:xfrm>
            <a:off x="628650" y="6438900"/>
            <a:ext cx="10858500" cy="9525"/>
          </a:xfrm>
          <a:prstGeom prst="rect">
            <a:avLst/>
          </a:prstGeom>
          <a:solidFill>
            <a:srgbClr val="E8EEF5"/>
          </a:solidFill>
          <a:ln w="0">
            <a:noFill/>
            <a:prstDash val="solid"/>
          </a:ln>
        </p:spPr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8BF5C2B9-6AD9-4BF6-A535-8F2B5F3DE803}"/>
              </a:ext>
            </a:extLst>
          </p:cNvPr>
          <p:cNvSpPr>
            <a:spLocks noGrp="1"/>
          </p:cNvSpPr>
          <p:nvPr/>
        </p:nvSpPr>
        <p:spPr>
          <a:xfrm>
            <a:off x="628650" y="6515100"/>
            <a:ext cx="895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CAPSTONE 2026 · Ingeniería en Informática · Plaza Oeste</a:t>
            </a:r>
          </a:p>
        </p:txBody>
      </p:sp>
    </p:spTree>
    <p:extLst>
      <p:ext uri="{BB962C8B-B14F-4D97-AF65-F5344CB8AC3E}">
        <p14:creationId xmlns:p14="http://schemas.microsoft.com/office/powerpoint/2010/main" val="10707226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ángulo 32">
            <a:extLst>
              <a:ext uri="{FF2B5EF4-FFF2-40B4-BE49-F238E27FC236}">
                <a16:creationId xmlns:a16="http://schemas.microsoft.com/office/drawing/2014/main" id="{C01E629B-128E-4F65-8CC2-7CD75F06B1E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13BF9A88-6028-4BA1-AE34-6486F48A2E6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5725"/>
          </a:xfrm>
          <a:prstGeom prst="rect">
            <a:avLst/>
          </a:prstGeom>
          <a:solidFill>
            <a:srgbClr val="1A365D"/>
          </a:solidFill>
          <a:ln w="0">
            <a:noFill/>
            <a:prstDash val="solid"/>
          </a:ln>
        </p:spPr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2E0B512D-2F41-4614-922F-2176A2A5E094}"/>
              </a:ext>
            </a:extLst>
          </p:cNvPr>
          <p:cNvSpPr>
            <a:spLocks noGrp="1"/>
          </p:cNvSpPr>
          <p:nvPr/>
        </p:nvSpPr>
        <p:spPr>
          <a:xfrm>
            <a:off x="628650" y="266700"/>
            <a:ext cx="4572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1A365D"/>
                </a:solidFill>
              </a:defRPr>
            </a:pPr>
            <a:r>
              <a:rPr sz="975" b="1">
                <a:solidFill>
                  <a:srgbClr val="1A365D"/>
                </a:solidFill>
              </a:rPr>
              <a:t>FACTIBILIDAD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5D6605E6-EB03-4088-A90D-D0CCCBE7468B}"/>
              </a:ext>
            </a:extLst>
          </p:cNvPr>
          <p:cNvSpPr>
            <a:spLocks noGrp="1"/>
          </p:cNvSpPr>
          <p:nvPr/>
        </p:nvSpPr>
        <p:spPr>
          <a:xfrm>
            <a:off x="11277600" y="26670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975" b="1">
                <a:solidFill>
                  <a:srgbClr val="64748B"/>
                </a:solidFill>
              </a:defRPr>
            </a:pPr>
            <a:r>
              <a:rPr sz="975" b="1">
                <a:solidFill>
                  <a:srgbClr val="64748B"/>
                </a:solidFill>
              </a:rPr>
              <a:t>08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9AD6A316-3534-4449-8999-B76462C57494}"/>
              </a:ext>
            </a:extLst>
          </p:cNvPr>
          <p:cNvSpPr>
            <a:spLocks noGrp="1"/>
          </p:cNvSpPr>
          <p:nvPr/>
        </p:nvSpPr>
        <p:spPr>
          <a:xfrm>
            <a:off x="628650" y="685800"/>
            <a:ext cx="106680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850" b="1">
                <a:solidFill>
                  <a:srgbClr val="1A365D"/>
                </a:solidFill>
              </a:defRPr>
            </a:pPr>
            <a:r>
              <a:rPr sz="2850" b="1">
                <a:solidFill>
                  <a:srgbClr val="1A365D"/>
                </a:solidFill>
              </a:rPr>
              <a:t>El proyecto es factible si se controla alcance y dependencias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74A4E1CE-B3B4-4AD4-A28A-DFD02C59AE5E}"/>
              </a:ext>
            </a:extLst>
          </p:cNvPr>
          <p:cNvSpPr>
            <a:spLocks noGrp="1"/>
          </p:cNvSpPr>
          <p:nvPr/>
        </p:nvSpPr>
        <p:spPr>
          <a:xfrm>
            <a:off x="647700" y="1381125"/>
            <a:ext cx="10096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64748B"/>
                </a:solidFill>
              </a:defRPr>
            </a:pPr>
            <a:r>
              <a:rPr sz="1275" b="0">
                <a:solidFill>
                  <a:srgbClr val="64748B"/>
                </a:solidFill>
              </a:rPr>
              <a:t>Se consideran tiempo, recursos, factores externos y respuestas concretas.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362B43A5-B171-4C89-9B7A-231553B38E1C}"/>
              </a:ext>
            </a:extLst>
          </p:cNvPr>
          <p:cNvSpPr>
            <a:spLocks noGrp="1"/>
          </p:cNvSpPr>
          <p:nvPr/>
        </p:nvSpPr>
        <p:spPr>
          <a:xfrm>
            <a:off x="628650" y="2076450"/>
            <a:ext cx="5000625" cy="3733800"/>
          </a:xfrm>
          <a:prstGeom prst="roundRect">
            <a:avLst>
              <a:gd name="adj" fmla="val 3061"/>
            </a:avLst>
          </a:prstGeom>
          <a:solidFill>
            <a:srgbClr val="FFFFFF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EE563F29-9AD3-4C2B-AA63-0FD5E6F7F187}"/>
              </a:ext>
            </a:extLst>
          </p:cNvPr>
          <p:cNvSpPr>
            <a:spLocks noGrp="1"/>
          </p:cNvSpPr>
          <p:nvPr/>
        </p:nvSpPr>
        <p:spPr>
          <a:xfrm>
            <a:off x="933450" y="2343150"/>
            <a:ext cx="2000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1">
                <a:solidFill>
                  <a:srgbClr val="10B981"/>
                </a:solidFill>
              </a:defRPr>
            </a:pPr>
            <a:r>
              <a:rPr sz="1275" b="1">
                <a:solidFill>
                  <a:srgbClr val="10B981"/>
                </a:solidFill>
              </a:rPr>
              <a:t>FACILITADORES</a:t>
            </a:r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3341D053-C08E-4D88-9C6F-B4CE01A7B23B}"/>
              </a:ext>
            </a:extLst>
          </p:cNvPr>
          <p:cNvSpPr>
            <a:spLocks noGrp="1"/>
          </p:cNvSpPr>
          <p:nvPr/>
        </p:nvSpPr>
        <p:spPr>
          <a:xfrm>
            <a:off x="933450" y="299085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3B0C1E2B-0961-4466-AF63-0EB41EBB7B89}"/>
              </a:ext>
            </a:extLst>
          </p:cNvPr>
          <p:cNvSpPr>
            <a:spLocks noGrp="1"/>
          </p:cNvSpPr>
          <p:nvPr/>
        </p:nvSpPr>
        <p:spPr>
          <a:xfrm>
            <a:off x="1143000" y="2895600"/>
            <a:ext cx="3981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0">
                <a:solidFill>
                  <a:srgbClr val="1E293B"/>
                </a:solidFill>
              </a:defRPr>
            </a:pPr>
            <a:r>
              <a:rPr sz="1350" b="0">
                <a:solidFill>
                  <a:srgbClr val="1E293B"/>
                </a:solidFill>
              </a:rPr>
              <a:t>Base React, Express y Firestore disponible.</a:t>
            </a:r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3A62B766-60A3-4B84-9C4E-D41396D3844B}"/>
              </a:ext>
            </a:extLst>
          </p:cNvPr>
          <p:cNvSpPr>
            <a:spLocks noGrp="1"/>
          </p:cNvSpPr>
          <p:nvPr/>
        </p:nvSpPr>
        <p:spPr>
          <a:xfrm>
            <a:off x="933450" y="354330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EE99BE23-38AE-417E-A4D2-B3493A231FD9}"/>
              </a:ext>
            </a:extLst>
          </p:cNvPr>
          <p:cNvSpPr>
            <a:spLocks noGrp="1"/>
          </p:cNvSpPr>
          <p:nvPr/>
        </p:nvSpPr>
        <p:spPr>
          <a:xfrm>
            <a:off x="1143000" y="3448050"/>
            <a:ext cx="3981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0">
                <a:solidFill>
                  <a:srgbClr val="1E293B"/>
                </a:solidFill>
              </a:defRPr>
            </a:pPr>
            <a:r>
              <a:rPr sz="1350" b="0">
                <a:solidFill>
                  <a:srgbClr val="1E293B"/>
                </a:solidFill>
              </a:rPr>
              <a:t>Contrato API y documentación técnica existentes.</a:t>
            </a:r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E4FEDED8-F5E1-41CC-B79E-BF04EDB6A115}"/>
              </a:ext>
            </a:extLst>
          </p:cNvPr>
          <p:cNvSpPr>
            <a:spLocks noGrp="1"/>
          </p:cNvSpPr>
          <p:nvPr/>
        </p:nvSpPr>
        <p:spPr>
          <a:xfrm>
            <a:off x="933450" y="409575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8B9FDC68-6115-4D59-A5C5-C34D6CDB5C1C}"/>
              </a:ext>
            </a:extLst>
          </p:cNvPr>
          <p:cNvSpPr>
            <a:spLocks noGrp="1"/>
          </p:cNvSpPr>
          <p:nvPr/>
        </p:nvSpPr>
        <p:spPr>
          <a:xfrm>
            <a:off x="1143000" y="4000500"/>
            <a:ext cx="3981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0">
                <a:solidFill>
                  <a:srgbClr val="1E293B"/>
                </a:solidFill>
              </a:defRPr>
            </a:pPr>
            <a:r>
              <a:rPr sz="1350" b="0">
                <a:solidFill>
                  <a:srgbClr val="1E293B"/>
                </a:solidFill>
              </a:rPr>
              <a:t>18 semanas con trabajo incremental.</a:t>
            </a:r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id="{AFE2636F-EA18-436C-B373-A6BE1CF84863}"/>
              </a:ext>
            </a:extLst>
          </p:cNvPr>
          <p:cNvSpPr>
            <a:spLocks noGrp="1"/>
          </p:cNvSpPr>
          <p:nvPr/>
        </p:nvSpPr>
        <p:spPr>
          <a:xfrm>
            <a:off x="933450" y="464820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4E971E07-2196-4F0E-A63B-46B7E66C53A7}"/>
              </a:ext>
            </a:extLst>
          </p:cNvPr>
          <p:cNvSpPr>
            <a:spLocks noGrp="1"/>
          </p:cNvSpPr>
          <p:nvPr/>
        </p:nvSpPr>
        <p:spPr>
          <a:xfrm>
            <a:off x="1143000" y="4552950"/>
            <a:ext cx="3981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0">
                <a:solidFill>
                  <a:srgbClr val="1E293B"/>
                </a:solidFill>
              </a:defRPr>
            </a:pPr>
            <a:r>
              <a:rPr sz="1350" b="0">
                <a:solidFill>
                  <a:srgbClr val="1E293B"/>
                </a:solidFill>
              </a:rPr>
              <a:t>Tres integrantes con roles complementarios.</a:t>
            </a:r>
          </a:p>
        </p:txBody>
      </p:sp>
      <p:sp>
        <p:nvSpPr>
          <p:cNvPr id="17" name="Elipse 16">
            <a:extLst>
              <a:ext uri="{FF2B5EF4-FFF2-40B4-BE49-F238E27FC236}">
                <a16:creationId xmlns:a16="http://schemas.microsoft.com/office/drawing/2014/main" id="{E8104C50-1C96-4A16-AAB4-13C2A7CDFBF4}"/>
              </a:ext>
            </a:extLst>
          </p:cNvPr>
          <p:cNvSpPr>
            <a:spLocks noGrp="1"/>
          </p:cNvSpPr>
          <p:nvPr/>
        </p:nvSpPr>
        <p:spPr>
          <a:xfrm>
            <a:off x="933450" y="520065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7154ED0A-99A5-4179-A3B4-752FEC575234}"/>
              </a:ext>
            </a:extLst>
          </p:cNvPr>
          <p:cNvSpPr>
            <a:spLocks noGrp="1"/>
          </p:cNvSpPr>
          <p:nvPr/>
        </p:nvSpPr>
        <p:spPr>
          <a:xfrm>
            <a:off x="1143000" y="5105400"/>
            <a:ext cx="3981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0">
                <a:solidFill>
                  <a:srgbClr val="1E293B"/>
                </a:solidFill>
              </a:defRPr>
            </a:pPr>
            <a:r>
              <a:rPr sz="1350" b="0">
                <a:solidFill>
                  <a:srgbClr val="1E293B"/>
                </a:solidFill>
              </a:rPr>
              <a:t>Herramientas de desarrollo ya disponibles.</a:t>
            </a:r>
          </a:p>
        </p:txBody>
      </p:sp>
      <p:sp>
        <p:nvSpPr>
          <p:cNvPr id="19" name="Rectángulo: esquinas redondeadas 18">
            <a:extLst>
              <a:ext uri="{FF2B5EF4-FFF2-40B4-BE49-F238E27FC236}">
                <a16:creationId xmlns:a16="http://schemas.microsoft.com/office/drawing/2014/main" id="{A1906D87-717D-4503-A871-9C6A3EC6D907}"/>
              </a:ext>
            </a:extLst>
          </p:cNvPr>
          <p:cNvSpPr>
            <a:spLocks noGrp="1"/>
          </p:cNvSpPr>
          <p:nvPr/>
        </p:nvSpPr>
        <p:spPr>
          <a:xfrm>
            <a:off x="5972175" y="2076450"/>
            <a:ext cx="5324475" cy="3733800"/>
          </a:xfrm>
          <a:prstGeom prst="roundRect">
            <a:avLst>
              <a:gd name="adj" fmla="val 3061"/>
            </a:avLst>
          </a:prstGeom>
          <a:solidFill>
            <a:srgbClr val="1A365D"/>
          </a:solidFill>
          <a:ln w="9525">
            <a:solidFill>
              <a:srgbClr val="1A365D"/>
            </a:solidFill>
            <a:prstDash val="solid"/>
          </a:ln>
        </p:spPr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01927E07-1218-4BAD-91CB-58231F5E0016}"/>
              </a:ext>
            </a:extLst>
          </p:cNvPr>
          <p:cNvSpPr>
            <a:spLocks noGrp="1"/>
          </p:cNvSpPr>
          <p:nvPr/>
        </p:nvSpPr>
        <p:spPr>
          <a:xfrm>
            <a:off x="6305550" y="2343150"/>
            <a:ext cx="4286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1">
                <a:solidFill>
                  <a:srgbClr val="F5B041"/>
                </a:solidFill>
              </a:defRPr>
            </a:pPr>
            <a:r>
              <a:rPr sz="1275" b="1">
                <a:solidFill>
                  <a:srgbClr val="F5B041"/>
                </a:solidFill>
              </a:rPr>
              <a:t>DIFICULTADES Y RESPUESTA</a:t>
            </a:r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45D6F2F2-A0EA-4C82-BA93-90844649967D}"/>
              </a:ext>
            </a:extLst>
          </p:cNvPr>
          <p:cNvSpPr>
            <a:spLocks noGrp="1"/>
          </p:cNvSpPr>
          <p:nvPr/>
        </p:nvSpPr>
        <p:spPr>
          <a:xfrm>
            <a:off x="6305550" y="299085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2DE8203E-39D9-4076-AD51-973AA26F45A6}"/>
              </a:ext>
            </a:extLst>
          </p:cNvPr>
          <p:cNvSpPr>
            <a:spLocks noGrp="1"/>
          </p:cNvSpPr>
          <p:nvPr/>
        </p:nvSpPr>
        <p:spPr>
          <a:xfrm>
            <a:off x="6515100" y="2895600"/>
            <a:ext cx="4286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MFA demostrativo → TOTP/IdP y pruebas negativas.</a:t>
            </a:r>
          </a:p>
        </p:txBody>
      </p:sp>
      <p:sp>
        <p:nvSpPr>
          <p:cNvPr id="23" name="Elipse 22">
            <a:extLst>
              <a:ext uri="{FF2B5EF4-FFF2-40B4-BE49-F238E27FC236}">
                <a16:creationId xmlns:a16="http://schemas.microsoft.com/office/drawing/2014/main" id="{550388C3-7322-4FD4-82BE-1920D526F984}"/>
              </a:ext>
            </a:extLst>
          </p:cNvPr>
          <p:cNvSpPr>
            <a:spLocks noGrp="1"/>
          </p:cNvSpPr>
          <p:nvPr/>
        </p:nvSpPr>
        <p:spPr>
          <a:xfrm>
            <a:off x="6305550" y="354330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11CBA255-4BDE-40BF-BF6C-90C556375191}"/>
              </a:ext>
            </a:extLst>
          </p:cNvPr>
          <p:cNvSpPr>
            <a:spLocks noGrp="1"/>
          </p:cNvSpPr>
          <p:nvPr/>
        </p:nvSpPr>
        <p:spPr>
          <a:xfrm>
            <a:off x="6515100" y="3448050"/>
            <a:ext cx="4286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Flujos simulados → integración y criterios de aceptación.</a:t>
            </a:r>
          </a:p>
        </p:txBody>
      </p:sp>
      <p:sp>
        <p:nvSpPr>
          <p:cNvPr id="25" name="Elipse 24">
            <a:extLst>
              <a:ext uri="{FF2B5EF4-FFF2-40B4-BE49-F238E27FC236}">
                <a16:creationId xmlns:a16="http://schemas.microsoft.com/office/drawing/2014/main" id="{63F86A5D-8CC9-40C8-8C31-6847BC8E78A6}"/>
              </a:ext>
            </a:extLst>
          </p:cNvPr>
          <p:cNvSpPr>
            <a:spLocks noGrp="1"/>
          </p:cNvSpPr>
          <p:nvPr/>
        </p:nvSpPr>
        <p:spPr>
          <a:xfrm>
            <a:off x="6305550" y="409575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323F49CE-4E4E-436C-A4EA-52508DCAB06C}"/>
              </a:ext>
            </a:extLst>
          </p:cNvPr>
          <p:cNvSpPr>
            <a:spLocks noGrp="1"/>
          </p:cNvSpPr>
          <p:nvPr/>
        </p:nvSpPr>
        <p:spPr>
          <a:xfrm>
            <a:off x="6515100" y="4000500"/>
            <a:ext cx="4286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Sin pruebas/CI → pipeline y pruebas por sprint.</a:t>
            </a:r>
          </a:p>
        </p:txBody>
      </p:sp>
      <p:sp>
        <p:nvSpPr>
          <p:cNvPr id="27" name="Elipse 26">
            <a:extLst>
              <a:ext uri="{FF2B5EF4-FFF2-40B4-BE49-F238E27FC236}">
                <a16:creationId xmlns:a16="http://schemas.microsoft.com/office/drawing/2014/main" id="{1258294C-3DA7-4AAA-905F-6C809BE3EDBC}"/>
              </a:ext>
            </a:extLst>
          </p:cNvPr>
          <p:cNvSpPr>
            <a:spLocks noGrp="1"/>
          </p:cNvSpPr>
          <p:nvPr/>
        </p:nvSpPr>
        <p:spPr>
          <a:xfrm>
            <a:off x="6305550" y="464820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4C8DCD53-7C90-48EF-8CA2-21CCAF1165AB}"/>
              </a:ext>
            </a:extLst>
          </p:cNvPr>
          <p:cNvSpPr>
            <a:spLocks noGrp="1"/>
          </p:cNvSpPr>
          <p:nvPr/>
        </p:nvSpPr>
        <p:spPr>
          <a:xfrm>
            <a:off x="6515100" y="4552950"/>
            <a:ext cx="4286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Sin contenedores → Docker y ejecución reproducible.</a:t>
            </a:r>
          </a:p>
        </p:txBody>
      </p:sp>
      <p:sp>
        <p:nvSpPr>
          <p:cNvPr id="29" name="Elipse 28">
            <a:extLst>
              <a:ext uri="{FF2B5EF4-FFF2-40B4-BE49-F238E27FC236}">
                <a16:creationId xmlns:a16="http://schemas.microsoft.com/office/drawing/2014/main" id="{EFA8E94D-B7D9-4959-B3CC-2E981856FC4A}"/>
              </a:ext>
            </a:extLst>
          </p:cNvPr>
          <p:cNvSpPr>
            <a:spLocks noGrp="1"/>
          </p:cNvSpPr>
          <p:nvPr/>
        </p:nvSpPr>
        <p:spPr>
          <a:xfrm>
            <a:off x="6305550" y="520065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3DD53C23-17F9-4EFE-8062-4EFAD96C13F7}"/>
              </a:ext>
            </a:extLst>
          </p:cNvPr>
          <p:cNvSpPr>
            <a:spLocks noGrp="1"/>
          </p:cNvSpPr>
          <p:nvPr/>
        </p:nvSpPr>
        <p:spPr>
          <a:xfrm>
            <a:off x="6515100" y="5105400"/>
            <a:ext cx="4286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Credenciales → secretos gestionados y rotación.</a:t>
            </a:r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118161FE-DE4A-42F2-BAE4-1CE938729C52}"/>
              </a:ext>
            </a:extLst>
          </p:cNvPr>
          <p:cNvSpPr>
            <a:spLocks noGrp="1"/>
          </p:cNvSpPr>
          <p:nvPr/>
        </p:nvSpPr>
        <p:spPr>
          <a:xfrm>
            <a:off x="628650" y="6438900"/>
            <a:ext cx="10858500" cy="9525"/>
          </a:xfrm>
          <a:prstGeom prst="rect">
            <a:avLst/>
          </a:prstGeom>
          <a:solidFill>
            <a:srgbClr val="E8EEF5"/>
          </a:solidFill>
          <a:ln w="0">
            <a:noFill/>
            <a:prstDash val="solid"/>
          </a:ln>
        </p:spPr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8623A854-67D1-47F6-B4FF-CD893211F1DF}"/>
              </a:ext>
            </a:extLst>
          </p:cNvPr>
          <p:cNvSpPr>
            <a:spLocks noGrp="1"/>
          </p:cNvSpPr>
          <p:nvPr/>
        </p:nvSpPr>
        <p:spPr>
          <a:xfrm>
            <a:off x="628650" y="6515100"/>
            <a:ext cx="895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CAPSTONE 2026 · Ingeniería en Informática · Plaza Oeste</a:t>
            </a:r>
          </a:p>
        </p:txBody>
      </p:sp>
    </p:spTree>
    <p:extLst>
      <p:ext uri="{BB962C8B-B14F-4D97-AF65-F5344CB8AC3E}">
        <p14:creationId xmlns:p14="http://schemas.microsoft.com/office/powerpoint/2010/main" val="4875776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ángulo 37">
            <a:extLst>
              <a:ext uri="{FF2B5EF4-FFF2-40B4-BE49-F238E27FC236}">
                <a16:creationId xmlns:a16="http://schemas.microsoft.com/office/drawing/2014/main" id="{2DF34486-EAA1-4608-9116-A1BEB2B06CE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96D2B2DD-C5DE-4C89-9184-CC19BB12A79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5725"/>
          </a:xfrm>
          <a:prstGeom prst="rect">
            <a:avLst/>
          </a:prstGeom>
          <a:solidFill>
            <a:srgbClr val="1A365D"/>
          </a:solidFill>
          <a:ln w="0">
            <a:noFill/>
            <a:prstDash val="solid"/>
          </a:ln>
        </p:spPr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1B5C83D8-799F-48C6-AB7D-CDC280DB0E0A}"/>
              </a:ext>
            </a:extLst>
          </p:cNvPr>
          <p:cNvSpPr>
            <a:spLocks noGrp="1"/>
          </p:cNvSpPr>
          <p:nvPr/>
        </p:nvSpPr>
        <p:spPr>
          <a:xfrm>
            <a:off x="628650" y="266700"/>
            <a:ext cx="4572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1A365D"/>
                </a:solidFill>
              </a:defRPr>
            </a:pPr>
            <a:r>
              <a:rPr sz="975" b="1">
                <a:solidFill>
                  <a:srgbClr val="1A365D"/>
                </a:solidFill>
              </a:rPr>
              <a:t>PLAN DEL PROYECTO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FE8666EC-B656-400E-A22E-A5EA2172129E}"/>
              </a:ext>
            </a:extLst>
          </p:cNvPr>
          <p:cNvSpPr>
            <a:spLocks noGrp="1"/>
          </p:cNvSpPr>
          <p:nvPr/>
        </p:nvSpPr>
        <p:spPr>
          <a:xfrm>
            <a:off x="11277600" y="26670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975" b="1">
                <a:solidFill>
                  <a:srgbClr val="64748B"/>
                </a:solidFill>
              </a:defRPr>
            </a:pPr>
            <a:r>
              <a:rPr sz="975" b="1">
                <a:solidFill>
                  <a:srgbClr val="64748B"/>
                </a:solidFill>
              </a:rPr>
              <a:t>09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B66B955C-DC44-418B-B23B-AD2F0768A718}"/>
              </a:ext>
            </a:extLst>
          </p:cNvPr>
          <p:cNvSpPr>
            <a:spLocks noGrp="1"/>
          </p:cNvSpPr>
          <p:nvPr/>
        </p:nvSpPr>
        <p:spPr>
          <a:xfrm>
            <a:off x="628650" y="685800"/>
            <a:ext cx="106680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850" b="1">
                <a:solidFill>
                  <a:srgbClr val="1A365D"/>
                </a:solidFill>
              </a:defRPr>
            </a:pPr>
            <a:r>
              <a:rPr sz="2850" b="1">
                <a:solidFill>
                  <a:srgbClr val="1A365D"/>
                </a:solidFill>
              </a:rPr>
              <a:t>Dieciocho semanas, siete bloques y control transversal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791CDA69-A67B-4CF0-8712-D4584DFB7735}"/>
              </a:ext>
            </a:extLst>
          </p:cNvPr>
          <p:cNvSpPr>
            <a:spLocks noGrp="1"/>
          </p:cNvSpPr>
          <p:nvPr/>
        </p:nvSpPr>
        <p:spPr>
          <a:xfrm>
            <a:off x="647700" y="1381125"/>
            <a:ext cx="10096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64748B"/>
                </a:solidFill>
              </a:defRPr>
            </a:pPr>
            <a:r>
              <a:rPr sz="1275" b="0">
                <a:solidFill>
                  <a:srgbClr val="64748B"/>
                </a:solidFill>
              </a:rPr>
              <a:t>Scrum organiza el trabajo; calidad, riesgos, cambios y documentación se controlan durante todo el proyecto.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020E1B42-6F06-4144-B96E-C7DEB89BF1D0}"/>
              </a:ext>
            </a:extLst>
          </p:cNvPr>
          <p:cNvSpPr>
            <a:spLocks noGrp="1"/>
          </p:cNvSpPr>
          <p:nvPr/>
        </p:nvSpPr>
        <p:spPr>
          <a:xfrm>
            <a:off x="628650" y="2324100"/>
            <a:ext cx="2324100" cy="1104900"/>
          </a:xfrm>
          <a:prstGeom prst="roundRect">
            <a:avLst>
              <a:gd name="adj" fmla="val 6897"/>
            </a:avLst>
          </a:prstGeom>
          <a:solidFill>
            <a:srgbClr val="F5B041"/>
          </a:solidFill>
          <a:ln w="9525">
            <a:solidFill>
              <a:srgbClr val="F5B041"/>
            </a:solidFill>
            <a:prstDash val="solid"/>
          </a:ln>
        </p:spPr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C816E3F0-CC51-4F3B-B3EC-3698D78C1DED}"/>
              </a:ext>
            </a:extLst>
          </p:cNvPr>
          <p:cNvSpPr>
            <a:spLocks noGrp="1"/>
          </p:cNvSpPr>
          <p:nvPr/>
        </p:nvSpPr>
        <p:spPr>
          <a:xfrm>
            <a:off x="781050" y="2476500"/>
            <a:ext cx="2019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INICIO Y DISEÑO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E09B16C5-8D44-4057-87F0-69964B3F5314}"/>
              </a:ext>
            </a:extLst>
          </p:cNvPr>
          <p:cNvSpPr>
            <a:spLocks noGrp="1"/>
          </p:cNvSpPr>
          <p:nvPr/>
        </p:nvSpPr>
        <p:spPr>
          <a:xfrm>
            <a:off x="781050" y="2781300"/>
            <a:ext cx="2019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Semanas 1–4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044EA082-0CBC-4F69-AEE3-D92731BD8589}"/>
              </a:ext>
            </a:extLst>
          </p:cNvPr>
          <p:cNvSpPr>
            <a:spLocks noGrp="1"/>
          </p:cNvSpPr>
          <p:nvPr/>
        </p:nvSpPr>
        <p:spPr>
          <a:xfrm>
            <a:off x="742950" y="304800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975" b="0">
                <a:solidFill>
                  <a:srgbClr val="FFFFFF"/>
                </a:solidFill>
              </a:defRPr>
            </a:pPr>
            <a:r>
              <a:rPr sz="975" b="0">
                <a:solidFill>
                  <a:srgbClr val="FFFFFF"/>
                </a:solidFill>
              </a:rPr>
              <a:t>Definición y línea base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2D00B60C-E07B-4170-AEE8-4527FA0923D6}"/>
              </a:ext>
            </a:extLst>
          </p:cNvPr>
          <p:cNvSpPr>
            <a:spLocks noGrp="1"/>
          </p:cNvSpPr>
          <p:nvPr/>
        </p:nvSpPr>
        <p:spPr>
          <a:xfrm>
            <a:off x="3028950" y="2324100"/>
            <a:ext cx="6391275" cy="1104900"/>
          </a:xfrm>
          <a:prstGeom prst="roundRect">
            <a:avLst>
              <a:gd name="adj" fmla="val 6897"/>
            </a:avLst>
          </a:prstGeom>
          <a:solidFill>
            <a:srgbClr val="2563EB"/>
          </a:solidFill>
          <a:ln w="9525">
            <a:solidFill>
              <a:srgbClr val="2563EB"/>
            </a:solidFill>
            <a:prstDash val="solid"/>
          </a:ln>
        </p:spPr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B6CC4903-6DFF-49AA-808F-CE3655AEDAA8}"/>
              </a:ext>
            </a:extLst>
          </p:cNvPr>
          <p:cNvSpPr>
            <a:spLocks noGrp="1"/>
          </p:cNvSpPr>
          <p:nvPr/>
        </p:nvSpPr>
        <p:spPr>
          <a:xfrm>
            <a:off x="3181350" y="2476500"/>
            <a:ext cx="60864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DESARROLLO INCREMENTAL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AC8072B4-7D6E-476B-8315-D952E71E6647}"/>
              </a:ext>
            </a:extLst>
          </p:cNvPr>
          <p:cNvSpPr>
            <a:spLocks noGrp="1"/>
          </p:cNvSpPr>
          <p:nvPr/>
        </p:nvSpPr>
        <p:spPr>
          <a:xfrm>
            <a:off x="3181350" y="2781300"/>
            <a:ext cx="60864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Semanas 5–15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7CE64457-23E4-4BA8-9E67-2AC1E8EF49A8}"/>
              </a:ext>
            </a:extLst>
          </p:cNvPr>
          <p:cNvSpPr>
            <a:spLocks noGrp="1"/>
          </p:cNvSpPr>
          <p:nvPr/>
        </p:nvSpPr>
        <p:spPr>
          <a:xfrm>
            <a:off x="3143250" y="3048000"/>
            <a:ext cx="61626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975" b="0">
                <a:solidFill>
                  <a:srgbClr val="FFFFFF"/>
                </a:solidFill>
              </a:defRPr>
            </a:pPr>
            <a:r>
              <a:rPr sz="975" b="0">
                <a:solidFill>
                  <a:srgbClr val="FFFFFF"/>
                </a:solidFill>
              </a:rPr>
              <a:t>Sprints 1–5 y validación</a:t>
            </a:r>
          </a:p>
        </p:txBody>
      </p: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B087082F-2D22-4732-8492-053847595A6A}"/>
              </a:ext>
            </a:extLst>
          </p:cNvPr>
          <p:cNvSpPr>
            <a:spLocks noGrp="1"/>
          </p:cNvSpPr>
          <p:nvPr/>
        </p:nvSpPr>
        <p:spPr>
          <a:xfrm>
            <a:off x="9496425" y="2324100"/>
            <a:ext cx="1743075" cy="1104900"/>
          </a:xfrm>
          <a:prstGeom prst="roundRect">
            <a:avLst>
              <a:gd name="adj" fmla="val 6897"/>
            </a:avLst>
          </a:prstGeom>
          <a:solidFill>
            <a:srgbClr val="10B981"/>
          </a:solidFill>
          <a:ln w="9525">
            <a:solidFill>
              <a:srgbClr val="10B981"/>
            </a:solidFill>
            <a:prstDash val="solid"/>
          </a:ln>
        </p:spPr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BFB40F2D-74E8-4DF5-BD73-C7FDC9260FE3}"/>
              </a:ext>
            </a:extLst>
          </p:cNvPr>
          <p:cNvSpPr>
            <a:spLocks noGrp="1"/>
          </p:cNvSpPr>
          <p:nvPr/>
        </p:nvSpPr>
        <p:spPr>
          <a:xfrm>
            <a:off x="9648825" y="2476500"/>
            <a:ext cx="14382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RELEASE Y CIERRE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E508E428-F7CE-4078-BA43-88BFBFB86ACB}"/>
              </a:ext>
            </a:extLst>
          </p:cNvPr>
          <p:cNvSpPr>
            <a:spLocks noGrp="1"/>
          </p:cNvSpPr>
          <p:nvPr/>
        </p:nvSpPr>
        <p:spPr>
          <a:xfrm>
            <a:off x="9648825" y="2781300"/>
            <a:ext cx="14382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Semanas 16–18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52A8860C-9135-401A-BF88-DBD7D5576679}"/>
              </a:ext>
            </a:extLst>
          </p:cNvPr>
          <p:cNvSpPr>
            <a:spLocks noGrp="1"/>
          </p:cNvSpPr>
          <p:nvPr/>
        </p:nvSpPr>
        <p:spPr>
          <a:xfrm>
            <a:off x="9610725" y="3048000"/>
            <a:ext cx="15144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975" b="0">
                <a:solidFill>
                  <a:srgbClr val="FFFFFF"/>
                </a:solidFill>
              </a:defRPr>
            </a:pPr>
            <a:r>
              <a:rPr sz="975" b="0">
                <a:solidFill>
                  <a:srgbClr val="FFFFFF"/>
                </a:solidFill>
              </a:rPr>
              <a:t>Despliegue, transición y defensa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09AFC59E-6D96-44AA-AB8B-11AD9BF33449}"/>
              </a:ext>
            </a:extLst>
          </p:cNvPr>
          <p:cNvSpPr>
            <a:spLocks noGrp="1"/>
          </p:cNvSpPr>
          <p:nvPr/>
        </p:nvSpPr>
        <p:spPr>
          <a:xfrm>
            <a:off x="628650" y="3905250"/>
            <a:ext cx="2190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1">
                <a:solidFill>
                  <a:srgbClr val="1A365D"/>
                </a:solidFill>
              </a:defRPr>
            </a:pPr>
            <a:r>
              <a:rPr sz="1350" b="1">
                <a:solidFill>
                  <a:srgbClr val="1A365D"/>
                </a:solidFill>
              </a:rPr>
              <a:t>Bloques de ejecución</a:t>
            </a:r>
          </a:p>
        </p:txBody>
      </p:sp>
      <p:sp>
        <p:nvSpPr>
          <p:cNvPr id="20" name="Elipse 19">
            <a:extLst>
              <a:ext uri="{FF2B5EF4-FFF2-40B4-BE49-F238E27FC236}">
                <a16:creationId xmlns:a16="http://schemas.microsoft.com/office/drawing/2014/main" id="{173F396C-E75D-48E2-A4F4-3CF6C3BE75E9}"/>
              </a:ext>
            </a:extLst>
          </p:cNvPr>
          <p:cNvSpPr>
            <a:spLocks noGrp="1"/>
          </p:cNvSpPr>
          <p:nvPr/>
        </p:nvSpPr>
        <p:spPr>
          <a:xfrm>
            <a:off x="628650" y="4476750"/>
            <a:ext cx="476250" cy="476250"/>
          </a:xfrm>
          <a:prstGeom prst="ellipse">
            <a:avLst/>
          </a:prstGeom>
          <a:solidFill>
            <a:srgbClr val="1A365D"/>
          </a:solidFill>
          <a:ln w="0">
            <a:noFill/>
            <a:prstDash val="solid"/>
          </a:ln>
        </p:spPr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DEC9E7F4-CB2F-4063-A8F7-E10C253E1E33}"/>
              </a:ext>
            </a:extLst>
          </p:cNvPr>
          <p:cNvSpPr>
            <a:spLocks noGrp="1"/>
          </p:cNvSpPr>
          <p:nvPr/>
        </p:nvSpPr>
        <p:spPr>
          <a:xfrm>
            <a:off x="628650" y="4533900"/>
            <a:ext cx="476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1B018951-1ADE-4B5A-AEB4-AF78F1089BBB}"/>
              </a:ext>
            </a:extLst>
          </p:cNvPr>
          <p:cNvSpPr>
            <a:spLocks noGrp="1"/>
          </p:cNvSpPr>
          <p:nvPr/>
        </p:nvSpPr>
        <p:spPr>
          <a:xfrm>
            <a:off x="1219200" y="4476750"/>
            <a:ext cx="13525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1E293B"/>
                </a:solidFill>
              </a:defRPr>
            </a:pPr>
            <a:r>
              <a:rPr sz="1200" b="1">
                <a:solidFill>
                  <a:srgbClr val="1E293B"/>
                </a:solidFill>
              </a:rPr>
              <a:t>Sprint 1 · Cimientos</a:t>
            </a:r>
          </a:p>
        </p:txBody>
      </p:sp>
      <p:sp>
        <p:nvSpPr>
          <p:cNvPr id="23" name="Elipse 22">
            <a:extLst>
              <a:ext uri="{FF2B5EF4-FFF2-40B4-BE49-F238E27FC236}">
                <a16:creationId xmlns:a16="http://schemas.microsoft.com/office/drawing/2014/main" id="{0DDB3353-A638-4647-97A4-DC91B5350BA0}"/>
              </a:ext>
            </a:extLst>
          </p:cNvPr>
          <p:cNvSpPr>
            <a:spLocks noGrp="1"/>
          </p:cNvSpPr>
          <p:nvPr/>
        </p:nvSpPr>
        <p:spPr>
          <a:xfrm>
            <a:off x="2705100" y="4476750"/>
            <a:ext cx="476250" cy="476250"/>
          </a:xfrm>
          <a:prstGeom prst="ellipse">
            <a:avLst/>
          </a:prstGeom>
          <a:solidFill>
            <a:srgbClr val="1A365D"/>
          </a:solidFill>
          <a:ln w="0">
            <a:noFill/>
            <a:prstDash val="solid"/>
          </a:ln>
        </p:spPr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52664AEE-9D16-4B3D-BEF8-BCBCF700AEAC}"/>
              </a:ext>
            </a:extLst>
          </p:cNvPr>
          <p:cNvSpPr>
            <a:spLocks noGrp="1"/>
          </p:cNvSpPr>
          <p:nvPr/>
        </p:nvSpPr>
        <p:spPr>
          <a:xfrm>
            <a:off x="2705100" y="4533900"/>
            <a:ext cx="476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F0D9C7DA-12AA-463E-929B-EC7B2F40D3C7}"/>
              </a:ext>
            </a:extLst>
          </p:cNvPr>
          <p:cNvSpPr>
            <a:spLocks noGrp="1"/>
          </p:cNvSpPr>
          <p:nvPr/>
        </p:nvSpPr>
        <p:spPr>
          <a:xfrm>
            <a:off x="3295650" y="4476750"/>
            <a:ext cx="13525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1E293B"/>
                </a:solidFill>
              </a:defRPr>
            </a:pPr>
            <a:r>
              <a:rPr sz="1200" b="1">
                <a:solidFill>
                  <a:srgbClr val="1E293B"/>
                </a:solidFill>
              </a:rPr>
              <a:t>Sprint 2 · Negocio</a:t>
            </a:r>
          </a:p>
        </p:txBody>
      </p:sp>
      <p:sp>
        <p:nvSpPr>
          <p:cNvPr id="26" name="Elipse 25">
            <a:extLst>
              <a:ext uri="{FF2B5EF4-FFF2-40B4-BE49-F238E27FC236}">
                <a16:creationId xmlns:a16="http://schemas.microsoft.com/office/drawing/2014/main" id="{7679A09D-A42E-4585-A454-5EFE474934F5}"/>
              </a:ext>
            </a:extLst>
          </p:cNvPr>
          <p:cNvSpPr>
            <a:spLocks noGrp="1"/>
          </p:cNvSpPr>
          <p:nvPr/>
        </p:nvSpPr>
        <p:spPr>
          <a:xfrm>
            <a:off x="4781550" y="4476750"/>
            <a:ext cx="476250" cy="476250"/>
          </a:xfrm>
          <a:prstGeom prst="ellipse">
            <a:avLst/>
          </a:prstGeom>
          <a:solidFill>
            <a:srgbClr val="1A365D"/>
          </a:solidFill>
          <a:ln w="0">
            <a:noFill/>
            <a:prstDash val="solid"/>
          </a:ln>
        </p:spPr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5DF96A11-C279-4D25-A043-83758C4D70B2}"/>
              </a:ext>
            </a:extLst>
          </p:cNvPr>
          <p:cNvSpPr>
            <a:spLocks noGrp="1"/>
          </p:cNvSpPr>
          <p:nvPr/>
        </p:nvSpPr>
        <p:spPr>
          <a:xfrm>
            <a:off x="4781550" y="4533900"/>
            <a:ext cx="476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AED1A58C-21A3-4974-9421-3AAF68D91D13}"/>
              </a:ext>
            </a:extLst>
          </p:cNvPr>
          <p:cNvSpPr>
            <a:spLocks noGrp="1"/>
          </p:cNvSpPr>
          <p:nvPr/>
        </p:nvSpPr>
        <p:spPr>
          <a:xfrm>
            <a:off x="5372100" y="4476750"/>
            <a:ext cx="13525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1E293B"/>
                </a:solidFill>
              </a:defRPr>
            </a:pPr>
            <a:r>
              <a:rPr sz="1200" b="1">
                <a:solidFill>
                  <a:srgbClr val="1E293B"/>
                </a:solidFill>
              </a:rPr>
              <a:t>Sprint 3 · Operación</a:t>
            </a:r>
          </a:p>
        </p:txBody>
      </p:sp>
      <p:sp>
        <p:nvSpPr>
          <p:cNvPr id="29" name="Elipse 28">
            <a:extLst>
              <a:ext uri="{FF2B5EF4-FFF2-40B4-BE49-F238E27FC236}">
                <a16:creationId xmlns:a16="http://schemas.microsoft.com/office/drawing/2014/main" id="{91AB7973-88D1-4486-9953-B58701AB3231}"/>
              </a:ext>
            </a:extLst>
          </p:cNvPr>
          <p:cNvSpPr>
            <a:spLocks noGrp="1"/>
          </p:cNvSpPr>
          <p:nvPr/>
        </p:nvSpPr>
        <p:spPr>
          <a:xfrm>
            <a:off x="6858000" y="4476750"/>
            <a:ext cx="476250" cy="476250"/>
          </a:xfrm>
          <a:prstGeom prst="ellipse">
            <a:avLst/>
          </a:prstGeom>
          <a:solidFill>
            <a:srgbClr val="1A365D"/>
          </a:solidFill>
          <a:ln w="0">
            <a:noFill/>
            <a:prstDash val="solid"/>
          </a:ln>
        </p:spPr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7BF3FBAF-08D5-421F-8687-8A98ABBA4BAE}"/>
              </a:ext>
            </a:extLst>
          </p:cNvPr>
          <p:cNvSpPr>
            <a:spLocks noGrp="1"/>
          </p:cNvSpPr>
          <p:nvPr/>
        </p:nvSpPr>
        <p:spPr>
          <a:xfrm>
            <a:off x="6858000" y="4533900"/>
            <a:ext cx="476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873A1B44-E1F9-4543-AACD-4A50DE20E5F3}"/>
              </a:ext>
            </a:extLst>
          </p:cNvPr>
          <p:cNvSpPr>
            <a:spLocks noGrp="1"/>
          </p:cNvSpPr>
          <p:nvPr/>
        </p:nvSpPr>
        <p:spPr>
          <a:xfrm>
            <a:off x="7448550" y="4476750"/>
            <a:ext cx="13525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1E293B"/>
                </a:solidFill>
              </a:defRPr>
            </a:pPr>
            <a:r>
              <a:rPr sz="1200" b="1">
                <a:solidFill>
                  <a:srgbClr val="1E293B"/>
                </a:solidFill>
              </a:rPr>
              <a:t>Sprint 4 · Datos</a:t>
            </a:r>
          </a:p>
        </p:txBody>
      </p:sp>
      <p:sp>
        <p:nvSpPr>
          <p:cNvPr id="32" name="Elipse 31">
            <a:extLst>
              <a:ext uri="{FF2B5EF4-FFF2-40B4-BE49-F238E27FC236}">
                <a16:creationId xmlns:a16="http://schemas.microsoft.com/office/drawing/2014/main" id="{EC2B148C-F673-40DB-8EE7-E16EC663A3A9}"/>
              </a:ext>
            </a:extLst>
          </p:cNvPr>
          <p:cNvSpPr>
            <a:spLocks noGrp="1"/>
          </p:cNvSpPr>
          <p:nvPr/>
        </p:nvSpPr>
        <p:spPr>
          <a:xfrm>
            <a:off x="8934450" y="4476750"/>
            <a:ext cx="476250" cy="476250"/>
          </a:xfrm>
          <a:prstGeom prst="ellipse">
            <a:avLst/>
          </a:prstGeom>
          <a:solidFill>
            <a:srgbClr val="10B981"/>
          </a:solidFill>
          <a:ln w="0">
            <a:noFill/>
            <a:prstDash val="solid"/>
          </a:ln>
        </p:spPr>
      </p:sp>
      <p:sp>
        <p:nvSpPr>
          <p:cNvPr id="33" name="Rectángulo 32">
            <a:extLst>
              <a:ext uri="{FF2B5EF4-FFF2-40B4-BE49-F238E27FC236}">
                <a16:creationId xmlns:a16="http://schemas.microsoft.com/office/drawing/2014/main" id="{C8C2153D-E0B3-4940-9484-D992526BB77B}"/>
              </a:ext>
            </a:extLst>
          </p:cNvPr>
          <p:cNvSpPr>
            <a:spLocks noGrp="1"/>
          </p:cNvSpPr>
          <p:nvPr/>
        </p:nvSpPr>
        <p:spPr>
          <a:xfrm>
            <a:off x="8934450" y="4533900"/>
            <a:ext cx="476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D99F5D6B-B750-4B1F-8504-B74C3CE19D9C}"/>
              </a:ext>
            </a:extLst>
          </p:cNvPr>
          <p:cNvSpPr>
            <a:spLocks noGrp="1"/>
          </p:cNvSpPr>
          <p:nvPr/>
        </p:nvSpPr>
        <p:spPr>
          <a:xfrm>
            <a:off x="9525000" y="4476750"/>
            <a:ext cx="13525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1E293B"/>
                </a:solidFill>
              </a:defRPr>
            </a:pPr>
            <a:r>
              <a:rPr sz="1200" b="1">
                <a:solidFill>
                  <a:srgbClr val="1E293B"/>
                </a:solidFill>
              </a:rPr>
              <a:t>Sprint 5 · Integración/QA</a:t>
            </a:r>
          </a:p>
        </p:txBody>
      </p:sp>
      <p:sp>
        <p:nvSpPr>
          <p:cNvPr id="35" name="Rectángulo 34">
            <a:extLst>
              <a:ext uri="{FF2B5EF4-FFF2-40B4-BE49-F238E27FC236}">
                <a16:creationId xmlns:a16="http://schemas.microsoft.com/office/drawing/2014/main" id="{6EC03292-4CA3-4AF3-BCF3-32B624229492}"/>
              </a:ext>
            </a:extLst>
          </p:cNvPr>
          <p:cNvSpPr>
            <a:spLocks noGrp="1"/>
          </p:cNvSpPr>
          <p:nvPr/>
        </p:nvSpPr>
        <p:spPr>
          <a:xfrm>
            <a:off x="628650" y="5495925"/>
            <a:ext cx="1066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350" b="1">
                <a:solidFill>
                  <a:srgbClr val="64748B"/>
                </a:solidFill>
              </a:defRPr>
            </a:pPr>
            <a:r>
              <a:rPr sz="1350" b="1">
                <a:solidFill>
                  <a:srgbClr val="64748B"/>
                </a:solidFill>
              </a:rPr>
              <a:t>Hitos: línea base · cimientos · MVP integrado · pruebas · release final</a:t>
            </a:r>
          </a:p>
        </p:txBody>
      </p:sp>
      <p:sp>
        <p:nvSpPr>
          <p:cNvPr id="36" name="Rectángulo 35">
            <a:extLst>
              <a:ext uri="{FF2B5EF4-FFF2-40B4-BE49-F238E27FC236}">
                <a16:creationId xmlns:a16="http://schemas.microsoft.com/office/drawing/2014/main" id="{325A2135-68D5-42B2-B695-EAB947C6440F}"/>
              </a:ext>
            </a:extLst>
          </p:cNvPr>
          <p:cNvSpPr>
            <a:spLocks noGrp="1"/>
          </p:cNvSpPr>
          <p:nvPr/>
        </p:nvSpPr>
        <p:spPr>
          <a:xfrm>
            <a:off x="628650" y="6438900"/>
            <a:ext cx="10858500" cy="9525"/>
          </a:xfrm>
          <a:prstGeom prst="rect">
            <a:avLst/>
          </a:prstGeom>
          <a:solidFill>
            <a:srgbClr val="E8EEF5"/>
          </a:solidFill>
          <a:ln w="0">
            <a:noFill/>
            <a:prstDash val="solid"/>
          </a:ln>
        </p:spPr>
      </p:sp>
      <p:sp>
        <p:nvSpPr>
          <p:cNvPr id="37" name="Rectángulo 36">
            <a:extLst>
              <a:ext uri="{FF2B5EF4-FFF2-40B4-BE49-F238E27FC236}">
                <a16:creationId xmlns:a16="http://schemas.microsoft.com/office/drawing/2014/main" id="{DE1F2E20-BBCA-4242-8C87-99481EA18EE9}"/>
              </a:ext>
            </a:extLst>
          </p:cNvPr>
          <p:cNvSpPr>
            <a:spLocks noGrp="1"/>
          </p:cNvSpPr>
          <p:nvPr/>
        </p:nvSpPr>
        <p:spPr>
          <a:xfrm>
            <a:off x="628650" y="6515100"/>
            <a:ext cx="895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CAPSTONE 2026 · Ingeniería en Informática · Plaza Oeste</a:t>
            </a:r>
          </a:p>
        </p:txBody>
      </p:sp>
    </p:spTree>
    <p:extLst>
      <p:ext uri="{BB962C8B-B14F-4D97-AF65-F5344CB8AC3E}">
        <p14:creationId xmlns:p14="http://schemas.microsoft.com/office/powerpoint/2010/main" val="5899747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ángulo 31">
            <a:extLst>
              <a:ext uri="{FF2B5EF4-FFF2-40B4-BE49-F238E27FC236}">
                <a16:creationId xmlns:a16="http://schemas.microsoft.com/office/drawing/2014/main" id="{D286AAB0-0BA9-44F9-9E4D-150ADAE1703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D8B74D0A-A67D-4C27-AD97-6A950461BFB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5725"/>
          </a:xfrm>
          <a:prstGeom prst="rect">
            <a:avLst/>
          </a:prstGeom>
          <a:solidFill>
            <a:srgbClr val="1A365D"/>
          </a:solidFill>
          <a:ln w="0">
            <a:noFill/>
            <a:prstDash val="solid"/>
          </a:ln>
        </p:spPr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6178C9FF-AB5D-4DE7-A30F-31899E996A76}"/>
              </a:ext>
            </a:extLst>
          </p:cNvPr>
          <p:cNvSpPr>
            <a:spLocks noGrp="1"/>
          </p:cNvSpPr>
          <p:nvPr/>
        </p:nvSpPr>
        <p:spPr>
          <a:xfrm>
            <a:off x="628650" y="266700"/>
            <a:ext cx="4572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1A365D"/>
                </a:solidFill>
              </a:defRPr>
            </a:pPr>
            <a:r>
              <a:rPr sz="975" b="1">
                <a:solidFill>
                  <a:srgbClr val="1A365D"/>
                </a:solidFill>
              </a:rPr>
              <a:t>EVIDENCIAS DE FASE 1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5D5E04FF-C056-4AEF-AE57-03385754DAF2}"/>
              </a:ext>
            </a:extLst>
          </p:cNvPr>
          <p:cNvSpPr>
            <a:spLocks noGrp="1"/>
          </p:cNvSpPr>
          <p:nvPr/>
        </p:nvSpPr>
        <p:spPr>
          <a:xfrm>
            <a:off x="11277600" y="26670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975" b="1">
                <a:solidFill>
                  <a:srgbClr val="64748B"/>
                </a:solidFill>
              </a:defRPr>
            </a:pPr>
            <a:r>
              <a:rPr sz="975" b="1">
                <a:solidFill>
                  <a:srgbClr val="64748B"/>
                </a:solidFill>
              </a:rPr>
              <a:t>11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28ED420D-D68F-4DC7-AE53-6AE0E716F488}"/>
              </a:ext>
            </a:extLst>
          </p:cNvPr>
          <p:cNvSpPr>
            <a:spLocks noGrp="1"/>
          </p:cNvSpPr>
          <p:nvPr/>
        </p:nvSpPr>
        <p:spPr>
          <a:xfrm>
            <a:off x="628650" y="685800"/>
            <a:ext cx="106680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850" b="1">
                <a:solidFill>
                  <a:srgbClr val="1A365D"/>
                </a:solidFill>
              </a:defRPr>
            </a:pPr>
            <a:r>
              <a:rPr sz="2850" b="1">
                <a:solidFill>
                  <a:srgbClr val="1A365D"/>
                </a:solidFill>
              </a:rPr>
              <a:t>Las evidencias convierten actividades en resultados verificables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35968A4D-66FD-4528-BE36-8D490692BE83}"/>
              </a:ext>
            </a:extLst>
          </p:cNvPr>
          <p:cNvSpPr>
            <a:spLocks noGrp="1"/>
          </p:cNvSpPr>
          <p:nvPr/>
        </p:nvSpPr>
        <p:spPr>
          <a:xfrm>
            <a:off x="647700" y="1381125"/>
            <a:ext cx="10096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64748B"/>
                </a:solidFill>
              </a:defRPr>
            </a:pPr>
            <a:r>
              <a:rPr sz="1275" b="0">
                <a:solidFill>
                  <a:srgbClr val="64748B"/>
                </a:solidFill>
              </a:rPr>
              <a:t>Cada evidencia se justifica por el logro que permite demostrar.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A4429167-DBD6-4B1D-BCD1-9AE55E2BCE65}"/>
              </a:ext>
            </a:extLst>
          </p:cNvPr>
          <p:cNvSpPr>
            <a:spLocks noGrp="1"/>
          </p:cNvSpPr>
          <p:nvPr/>
        </p:nvSpPr>
        <p:spPr>
          <a:xfrm>
            <a:off x="628650" y="2114550"/>
            <a:ext cx="6572250" cy="361950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2FAD5362-E59A-4418-B35B-9E40098506E3}"/>
              </a:ext>
            </a:extLst>
          </p:cNvPr>
          <p:cNvSpPr>
            <a:spLocks noGrp="1"/>
          </p:cNvSpPr>
          <p:nvPr/>
        </p:nvSpPr>
        <p:spPr>
          <a:xfrm>
            <a:off x="971550" y="2381250"/>
            <a:ext cx="3048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1">
                <a:solidFill>
                  <a:srgbClr val="10B981"/>
                </a:solidFill>
              </a:defRPr>
            </a:pPr>
            <a:r>
              <a:rPr sz="1350" b="1">
                <a:solidFill>
                  <a:srgbClr val="10B981"/>
                </a:solidFill>
              </a:rPr>
              <a:t>AVANCE · PROPUESTO</a:t>
            </a:r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387881A5-874A-4337-BB76-5ACCFF854592}"/>
              </a:ext>
            </a:extLst>
          </p:cNvPr>
          <p:cNvSpPr>
            <a:spLocks noGrp="1"/>
          </p:cNvSpPr>
          <p:nvPr/>
        </p:nvSpPr>
        <p:spPr>
          <a:xfrm>
            <a:off x="971550" y="300990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00B04E23-B5B7-4396-8632-78363F168B29}"/>
              </a:ext>
            </a:extLst>
          </p:cNvPr>
          <p:cNvSpPr>
            <a:spLocks noGrp="1"/>
          </p:cNvSpPr>
          <p:nvPr/>
        </p:nvSpPr>
        <p:spPr>
          <a:xfrm>
            <a:off x="1181100" y="2914650"/>
            <a:ext cx="5505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1E293B"/>
                </a:solidFill>
              </a:defRPr>
            </a:pPr>
            <a:r>
              <a:rPr sz="1275" b="0">
                <a:solidFill>
                  <a:srgbClr val="1E293B"/>
                </a:solidFill>
              </a:rPr>
              <a:t>Backlog, requisitos y arquitectura</a:t>
            </a:r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B190298F-DBDB-4790-9C22-66EABA05E04D}"/>
              </a:ext>
            </a:extLst>
          </p:cNvPr>
          <p:cNvSpPr>
            <a:spLocks noGrp="1"/>
          </p:cNvSpPr>
          <p:nvPr/>
        </p:nvSpPr>
        <p:spPr>
          <a:xfrm>
            <a:off x="971550" y="3457575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3AF9133D-E369-45D1-8F00-68C9168B3E29}"/>
              </a:ext>
            </a:extLst>
          </p:cNvPr>
          <p:cNvSpPr>
            <a:spLocks noGrp="1"/>
          </p:cNvSpPr>
          <p:nvPr/>
        </p:nvSpPr>
        <p:spPr>
          <a:xfrm>
            <a:off x="1181100" y="3362325"/>
            <a:ext cx="5505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1E293B"/>
                </a:solidFill>
              </a:defRPr>
            </a:pPr>
            <a:r>
              <a:rPr sz="1275" b="0">
                <a:solidFill>
                  <a:srgbClr val="1E293B"/>
                </a:solidFill>
              </a:rPr>
              <a:t>Prototipo y compilación</a:t>
            </a:r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C64B54CF-B7D4-4249-8212-F3335692617F}"/>
              </a:ext>
            </a:extLst>
          </p:cNvPr>
          <p:cNvSpPr>
            <a:spLocks noGrp="1"/>
          </p:cNvSpPr>
          <p:nvPr/>
        </p:nvSpPr>
        <p:spPr>
          <a:xfrm>
            <a:off x="971550" y="390525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299EC549-BC90-41F4-9162-218EFCE8D5E7}"/>
              </a:ext>
            </a:extLst>
          </p:cNvPr>
          <p:cNvSpPr>
            <a:spLocks noGrp="1"/>
          </p:cNvSpPr>
          <p:nvPr/>
        </p:nvSpPr>
        <p:spPr>
          <a:xfrm>
            <a:off x="1181100" y="3810000"/>
            <a:ext cx="5505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1E293B"/>
                </a:solidFill>
              </a:defRPr>
            </a:pPr>
            <a:r>
              <a:rPr sz="1275" b="0">
                <a:solidFill>
                  <a:srgbClr val="1E293B"/>
                </a:solidFill>
              </a:rPr>
              <a:t>Plan y casos de prueba</a:t>
            </a:r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id="{D199E1F8-8EA1-4D49-888C-EB6E6C928F30}"/>
              </a:ext>
            </a:extLst>
          </p:cNvPr>
          <p:cNvSpPr>
            <a:spLocks noGrp="1"/>
          </p:cNvSpPr>
          <p:nvPr/>
        </p:nvSpPr>
        <p:spPr>
          <a:xfrm>
            <a:off x="971550" y="4352925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4608F1D8-E1D9-4F4C-B4B9-7C323B565B87}"/>
              </a:ext>
            </a:extLst>
          </p:cNvPr>
          <p:cNvSpPr>
            <a:spLocks noGrp="1"/>
          </p:cNvSpPr>
          <p:nvPr/>
        </p:nvSpPr>
        <p:spPr>
          <a:xfrm>
            <a:off x="1181100" y="4257675"/>
            <a:ext cx="5505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1E293B"/>
                </a:solidFill>
              </a:defRPr>
            </a:pPr>
            <a:r>
              <a:rPr sz="1275" b="0" dirty="0">
                <a:solidFill>
                  <a:srgbClr val="1E293B"/>
                </a:solidFill>
              </a:rPr>
              <a:t>Gantt, RACI</a:t>
            </a:r>
          </a:p>
        </p:txBody>
      </p:sp>
      <p:sp>
        <p:nvSpPr>
          <p:cNvPr id="17" name="Elipse 16">
            <a:extLst>
              <a:ext uri="{FF2B5EF4-FFF2-40B4-BE49-F238E27FC236}">
                <a16:creationId xmlns:a16="http://schemas.microsoft.com/office/drawing/2014/main" id="{1CC4F2B6-F19C-4487-80F8-FD38580CF49B}"/>
              </a:ext>
            </a:extLst>
          </p:cNvPr>
          <p:cNvSpPr>
            <a:spLocks noGrp="1"/>
          </p:cNvSpPr>
          <p:nvPr/>
        </p:nvSpPr>
        <p:spPr>
          <a:xfrm>
            <a:off x="971550" y="480060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0D77959D-8752-4B03-89E3-600370298DD6}"/>
              </a:ext>
            </a:extLst>
          </p:cNvPr>
          <p:cNvSpPr>
            <a:spLocks noGrp="1"/>
          </p:cNvSpPr>
          <p:nvPr/>
        </p:nvSpPr>
        <p:spPr>
          <a:xfrm>
            <a:off x="1181100" y="4705350"/>
            <a:ext cx="5505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1E293B"/>
                </a:solidFill>
              </a:defRPr>
            </a:pPr>
            <a:r>
              <a:rPr sz="1275" b="0">
                <a:solidFill>
                  <a:srgbClr val="1E293B"/>
                </a:solidFill>
              </a:rPr>
              <a:t>Justifica definición, diseño y control</a:t>
            </a:r>
          </a:p>
        </p:txBody>
      </p:sp>
      <p:sp>
        <p:nvSpPr>
          <p:cNvPr id="19" name="Elipse 18">
            <a:extLst>
              <a:ext uri="{FF2B5EF4-FFF2-40B4-BE49-F238E27FC236}">
                <a16:creationId xmlns:a16="http://schemas.microsoft.com/office/drawing/2014/main" id="{FB61FBEB-8145-4CBC-B164-C11BD1797FCB}"/>
              </a:ext>
            </a:extLst>
          </p:cNvPr>
          <p:cNvSpPr>
            <a:spLocks noGrp="1"/>
          </p:cNvSpPr>
          <p:nvPr/>
        </p:nvSpPr>
        <p:spPr>
          <a:xfrm>
            <a:off x="971550" y="5248275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4A70F552-4690-4AEF-9E06-EE6F9C67A534}"/>
              </a:ext>
            </a:extLst>
          </p:cNvPr>
          <p:cNvSpPr>
            <a:spLocks noGrp="1"/>
          </p:cNvSpPr>
          <p:nvPr/>
        </p:nvSpPr>
        <p:spPr>
          <a:xfrm>
            <a:off x="1181100" y="5153025"/>
            <a:ext cx="5505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1E293B"/>
                </a:solidFill>
              </a:defRPr>
            </a:pPr>
            <a:r>
              <a:rPr sz="1275" b="0">
                <a:solidFill>
                  <a:srgbClr val="1E293B"/>
                </a:solidFill>
              </a:rPr>
              <a:t>Evidencia trazable del avance</a:t>
            </a: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C504E097-17CA-4378-B197-D995A50DC78D}"/>
              </a:ext>
            </a:extLst>
          </p:cNvPr>
          <p:cNvSpPr>
            <a:spLocks noGrp="1"/>
          </p:cNvSpPr>
          <p:nvPr/>
        </p:nvSpPr>
        <p:spPr>
          <a:xfrm>
            <a:off x="7543800" y="2114550"/>
            <a:ext cx="3752850" cy="3619500"/>
          </a:xfrm>
          <a:prstGeom prst="roundRect">
            <a:avLst>
              <a:gd name="adj" fmla="val 3158"/>
            </a:avLst>
          </a:prstGeom>
          <a:solidFill>
            <a:srgbClr val="1A365D"/>
          </a:solidFill>
          <a:ln w="9525">
            <a:solidFill>
              <a:srgbClr val="1A365D"/>
            </a:solidFill>
            <a:prstDash val="solid"/>
          </a:ln>
        </p:spPr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952A81C9-B768-4FD5-83DC-A737C84F2309}"/>
              </a:ext>
            </a:extLst>
          </p:cNvPr>
          <p:cNvSpPr>
            <a:spLocks noGrp="1"/>
          </p:cNvSpPr>
          <p:nvPr/>
        </p:nvSpPr>
        <p:spPr>
          <a:xfrm>
            <a:off x="7848600" y="2381250"/>
            <a:ext cx="3143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1">
                <a:solidFill>
                  <a:srgbClr val="F5B041"/>
                </a:solidFill>
              </a:defRPr>
            </a:pPr>
            <a:r>
              <a:rPr sz="1350" b="1">
                <a:solidFill>
                  <a:srgbClr val="F5B041"/>
                </a:solidFill>
              </a:rPr>
              <a:t>FINAL · PROPUESTO</a:t>
            </a: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C5C8739D-B88A-4203-A9F7-F418ECC1884C}"/>
              </a:ext>
            </a:extLst>
          </p:cNvPr>
          <p:cNvSpPr>
            <a:spLocks noGrp="1"/>
          </p:cNvSpPr>
          <p:nvPr/>
        </p:nvSpPr>
        <p:spPr>
          <a:xfrm>
            <a:off x="7848600" y="2914650"/>
            <a:ext cx="30670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Producto, repositorio y defensa.</a:t>
            </a:r>
          </a:p>
        </p:txBody>
      </p:sp>
      <p:sp>
        <p:nvSpPr>
          <p:cNvPr id="24" name="Elipse 23">
            <a:extLst>
              <a:ext uri="{FF2B5EF4-FFF2-40B4-BE49-F238E27FC236}">
                <a16:creationId xmlns:a16="http://schemas.microsoft.com/office/drawing/2014/main" id="{DE457D50-AD76-4F11-B36D-07498598F60C}"/>
              </a:ext>
            </a:extLst>
          </p:cNvPr>
          <p:cNvSpPr>
            <a:spLocks noGrp="1"/>
          </p:cNvSpPr>
          <p:nvPr/>
        </p:nvSpPr>
        <p:spPr>
          <a:xfrm>
            <a:off x="7848600" y="377190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3A73D639-3C10-485C-B63B-55D7A6665219}"/>
              </a:ext>
            </a:extLst>
          </p:cNvPr>
          <p:cNvSpPr>
            <a:spLocks noGrp="1"/>
          </p:cNvSpPr>
          <p:nvPr/>
        </p:nvSpPr>
        <p:spPr>
          <a:xfrm>
            <a:off x="8058150" y="3676650"/>
            <a:ext cx="27813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Aplicación y repositorio saneado.</a:t>
            </a:r>
          </a:p>
        </p:txBody>
      </p:sp>
      <p:sp>
        <p:nvSpPr>
          <p:cNvPr id="26" name="Elipse 25">
            <a:extLst>
              <a:ext uri="{FF2B5EF4-FFF2-40B4-BE49-F238E27FC236}">
                <a16:creationId xmlns:a16="http://schemas.microsoft.com/office/drawing/2014/main" id="{5FDE31C9-F188-4A19-A9E4-BA26A7548D4B}"/>
              </a:ext>
            </a:extLst>
          </p:cNvPr>
          <p:cNvSpPr>
            <a:spLocks noGrp="1"/>
          </p:cNvSpPr>
          <p:nvPr/>
        </p:nvSpPr>
        <p:spPr>
          <a:xfrm>
            <a:off x="7848600" y="430530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86128064-3C5E-4ED5-9854-F03A5C44AF7F}"/>
              </a:ext>
            </a:extLst>
          </p:cNvPr>
          <p:cNvSpPr>
            <a:spLocks noGrp="1"/>
          </p:cNvSpPr>
          <p:nvPr/>
        </p:nvSpPr>
        <p:spPr>
          <a:xfrm>
            <a:off x="8058150" y="4210050"/>
            <a:ext cx="27813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README, manuales y resultados.</a:t>
            </a:r>
          </a:p>
        </p:txBody>
      </p:sp>
      <p:sp>
        <p:nvSpPr>
          <p:cNvPr id="28" name="Elipse 27">
            <a:extLst>
              <a:ext uri="{FF2B5EF4-FFF2-40B4-BE49-F238E27FC236}">
                <a16:creationId xmlns:a16="http://schemas.microsoft.com/office/drawing/2014/main" id="{F9559510-4404-4816-B0F9-3803B50BA908}"/>
              </a:ext>
            </a:extLst>
          </p:cNvPr>
          <p:cNvSpPr>
            <a:spLocks noGrp="1"/>
          </p:cNvSpPr>
          <p:nvPr/>
        </p:nvSpPr>
        <p:spPr>
          <a:xfrm>
            <a:off x="7848600" y="483870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F881ACD4-8D7F-43CB-8AD1-40DB5EA6F108}"/>
              </a:ext>
            </a:extLst>
          </p:cNvPr>
          <p:cNvSpPr>
            <a:spLocks noGrp="1"/>
          </p:cNvSpPr>
          <p:nvPr/>
        </p:nvSpPr>
        <p:spPr>
          <a:xfrm>
            <a:off x="8058150" y="4743450"/>
            <a:ext cx="27813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Demostración, defensa y aportes.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2AA95C61-0971-4CD9-886B-49B0E4F47AE6}"/>
              </a:ext>
            </a:extLst>
          </p:cNvPr>
          <p:cNvSpPr>
            <a:spLocks noGrp="1"/>
          </p:cNvSpPr>
          <p:nvPr/>
        </p:nvSpPr>
        <p:spPr>
          <a:xfrm>
            <a:off x="628650" y="6438900"/>
            <a:ext cx="10858500" cy="9525"/>
          </a:xfrm>
          <a:prstGeom prst="rect">
            <a:avLst/>
          </a:prstGeom>
          <a:solidFill>
            <a:srgbClr val="E8EEF5"/>
          </a:solidFill>
          <a:ln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2356433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ángulo 10">
            <a:extLst>
              <a:ext uri="{FF2B5EF4-FFF2-40B4-BE49-F238E27FC236}">
                <a16:creationId xmlns:a16="http://schemas.microsoft.com/office/drawing/2014/main" id="{8FC77864-9417-44F2-BA1D-87BA83C7ACB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D0C66C19-62FF-4DEC-BA1A-269568E0B956}"/>
              </a:ext>
            </a:extLst>
          </p:cNvPr>
          <p:cNvSpPr>
            <a:spLocks noGrp="1"/>
          </p:cNvSpPr>
          <p:nvPr/>
        </p:nvSpPr>
        <p:spPr>
          <a:xfrm>
            <a:off x="628650" y="266700"/>
            <a:ext cx="4572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F5B041"/>
                </a:solidFill>
              </a:defRPr>
            </a:pPr>
            <a:r>
              <a:rPr sz="975" b="1">
                <a:solidFill>
                  <a:srgbClr val="F5B041"/>
                </a:solidFill>
              </a:rPr>
              <a:t>DECISIÓN DE FASE 1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1A06F640-3037-4042-A2DC-5280F28DB1B8}"/>
              </a:ext>
            </a:extLst>
          </p:cNvPr>
          <p:cNvSpPr>
            <a:spLocks noGrp="1"/>
          </p:cNvSpPr>
          <p:nvPr/>
        </p:nvSpPr>
        <p:spPr>
          <a:xfrm>
            <a:off x="11277600" y="26670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975" b="1">
                <a:solidFill>
                  <a:srgbClr val="E8EEF5"/>
                </a:solidFill>
              </a:defRPr>
            </a:pPr>
            <a:r>
              <a:rPr sz="975" b="1">
                <a:solidFill>
                  <a:srgbClr val="E8EEF5"/>
                </a:solidFill>
              </a:rPr>
              <a:t>13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AF27E0FA-5AED-4074-A6DF-7701782648BD}"/>
              </a:ext>
            </a:extLst>
          </p:cNvPr>
          <p:cNvSpPr>
            <a:spLocks noGrp="1"/>
          </p:cNvSpPr>
          <p:nvPr/>
        </p:nvSpPr>
        <p:spPr>
          <a:xfrm>
            <a:off x="628650" y="1257300"/>
            <a:ext cx="7334250" cy="1333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3525" b="1">
                <a:solidFill>
                  <a:srgbClr val="FFFFFF"/>
                </a:solidFill>
              </a:defRPr>
            </a:pPr>
            <a:r>
              <a:rPr sz="3525" b="1">
                <a:solidFill>
                  <a:srgbClr val="FFFFFF"/>
                </a:solidFill>
              </a:rPr>
              <a:t>La definición está lista</a:t>
            </a:r>
          </a:p>
          <a:p>
            <a:pPr algn="l">
              <a:buNone/>
              <a:defRPr sz="3525" b="1">
                <a:solidFill>
                  <a:srgbClr val="FFFFFF"/>
                </a:solidFill>
              </a:defRPr>
            </a:pPr>
            <a:r>
              <a:rPr sz="3525" b="1">
                <a:solidFill>
                  <a:srgbClr val="FFFFFF"/>
                </a:solidFill>
              </a:rPr>
              <a:t>para ser evaluada y ajustada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518304D2-B624-415C-A2A3-932BAFFFFFE4}"/>
              </a:ext>
            </a:extLst>
          </p:cNvPr>
          <p:cNvSpPr>
            <a:spLocks noGrp="1"/>
          </p:cNvSpPr>
          <p:nvPr/>
        </p:nvSpPr>
        <p:spPr>
          <a:xfrm>
            <a:off x="657225" y="2895600"/>
            <a:ext cx="742950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650" b="0">
                <a:solidFill>
                  <a:srgbClr val="E8EEF5"/>
                </a:solidFill>
              </a:defRPr>
            </a:pPr>
            <a:r>
              <a:rPr sz="1650" b="0">
                <a:solidFill>
                  <a:srgbClr val="E8EEF5"/>
                </a:solidFill>
              </a:rPr>
              <a:t>La propuesta cubre problema, relevancia, objetivos, perfil de egreso, intereses, factibilidad, metodología, planificación y evidencias. Las brechas técnicas quedan convertidas en backlog.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3500561C-A634-43F2-B80F-8C23CD43B0FD}"/>
              </a:ext>
            </a:extLst>
          </p:cNvPr>
          <p:cNvSpPr>
            <a:spLocks noGrp="1"/>
          </p:cNvSpPr>
          <p:nvPr/>
        </p:nvSpPr>
        <p:spPr>
          <a:xfrm>
            <a:off x="628650" y="4495800"/>
            <a:ext cx="7429500" cy="58093"/>
          </a:xfrm>
          <a:prstGeom prst="roundRect">
            <a:avLst>
              <a:gd name="adj" fmla="val 13043"/>
            </a:avLst>
          </a:prstGeom>
          <a:solidFill>
            <a:srgbClr val="F5B041"/>
          </a:solidFill>
          <a:ln w="9525">
            <a:solidFill>
              <a:srgbClr val="F5B041"/>
            </a:solidFill>
            <a:prstDash val="solid"/>
          </a:ln>
        </p:spPr>
      </p:sp>
      <p:pic>
        <p:nvPicPr>
          <p:cNvPr id="20" name="Imagen 1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724900" y="1799318"/>
            <a:ext cx="2381250" cy="1582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6278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1532</Words>
  <Application>Microsoft Office PowerPoint</Application>
  <DocSecurity>0</DocSecurity>
  <PresentationFormat>Panorámica</PresentationFormat>
  <Paragraphs>263</Paragraphs>
  <Slides>11</Slides>
  <Notes>11</Notes>
  <HiddenSlides>0</HiddenSlides>
  <MMClips>0</MMClips>
  <ScaleCrop>false</ScaleCrop>
  <HeadingPairs>
    <vt:vector size="6" baseType="variant">
      <vt:variant>
        <vt:lpstr>Fuentes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3" baseType="lpstr">
      <vt:lpstr>Calibri</vt:lpstr>
      <vt:lpstr>ChatGPT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Tsung-Hao Liu</cp:lastModifiedBy>
  <cp:revision>2</cp:revision>
  <dcterms:created xsi:type="dcterms:W3CDTF">2026-08-31T20:58:13Z</dcterms:created>
  <dcterms:modified xsi:type="dcterms:W3CDTF">2026-09-02T14:34:45Z</dcterms:modified>
</cp:coreProperties>
</file>